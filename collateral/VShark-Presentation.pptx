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920cf9e-9ffd-31c6-34cc-4374d502724b}">
          <p14:sldIdLst>
            <p14:sldId id="256"/>
            <p14:sldId id="257"/>
          </p14:sldIdLst>
        </p14:section>
        <p14:section name="Services" id="{c2a68f52-51a9-b290-819c-5e5495e9aee5}">
          <p14:sldIdLst>
            <p14:sldId id="258"/>
            <p14:sldId id="259"/>
            <p14:sldId id="260"/>
            <p14:sldId id="261"/>
            <p14:sldId id="262"/>
            <p14:sldId id="263"/>
            <p14:sldId id="264"/>
            <p14:sldId id="265"/>
            <p14:sldId id="266"/>
          </p14:sldIdLst>
        </p14:section>
        <p14:section name="Portfolio" id="{7b5d4770-9296-79fd-24a6-186a0c1bf9b3}">
          <p14:sldIdLst>
            <p14:sldId id="267"/>
            <p14:sldId id="268"/>
          </p14:sldIdLst>
        </p14:section>
        <p14:section name="Industries &amp; products" id="{4818b3e3-6220-863e-384e-87823f4be7dd}">
          <p14:sldIdLst>
            <p14:sldId id="269"/>
            <p14:sldId id="270"/>
          </p14:sldIdLst>
        </p14:section>
        <p14:section name="Clients &amp; contact" id="{d8fe13dc-6e63-51c9-9a75-6d489d2cc6b7}">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VShark captures physical parts, products and spaces as digital data, then engineers that data into whatever the customer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one partner from the physical object to the finished digital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services. Customers can use one on its own, or hand VShark the whole job from first scan to final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capture, process, engineer,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rebuild physical parts as parametric CAD models — for re-manufacturing legacy parts with no drawings, modifying existing designs, or creating moulds and tooling. You choose how faithful the model should be to the scanned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inspect manufactured parts by scanning them and comparing the result against the nominal CAD. Colour deviation maps, GD&amp;T checks and first-article reports show exactly where a part is in or out of tolerance — fast, and without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print prototypes, fit-check models, jigs, fixtures and short-run end-use parts directly from CAD or scan data. Our team also prepares and repairs files — including sculpted character models — so they print right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turn CAD and design models into photorealistic images and animations for marketing, presentations and design reviews. Materials, lighting and scenes are tuned so your product looks real — and looks its best — before the first unit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parts VShark has captured and rebuilt as editable, manufacturable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Surfacing, sculpting and photoreal rendering — visuals that sell a product before it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sectors, one standard of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Vertex blue-laser and optical-tracking scanners, now available from VShark with set-up and support. Full spec sheet in the scanners brochure.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in US · UK · Germany · Canada · UAE · Saudi Arabia.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ask for a photo, drawing or the part itself, and offer to come back with approach, timeline and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Shark Content">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609905" y="548640"/>
            <a:ext cx="731520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609905" y="822960"/>
            <a:ext cx="7498080" cy="73152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Shark Service">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5806440" y="548640"/>
            <a:ext cx="576072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5806440" y="822960"/>
            <a:ext cx="5760720" cy="64008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Shark Dark">
    <p:bg>
      <p:bgPr>
        <a:solidFill>
          <a:schemeClr val="tx2"/>
        </a:solidFill>
      </p:bgPr>
    </p:bg>
    <p:spTree>
      <p:nvGrpSpPr>
        <p:cNvPr id="1" name=""/>
        <p:cNvGrpSpPr/>
        <p:nvPr/>
      </p:nvGrpSpPr>
      <p:grpSpPr>
        <a:xfrm>
          <a:off x="0" y="0"/>
          <a:ext cx="0" cy="0"/>
          <a:chOff x="0" y="0"/>
          <a:chExt cx="0" cy="0"/>
        </a:xfrm>
      </p:grpSpPr>
      <p:pic>
        <p:nvPicPr>
          <p:cNvPr id="2" name="Image 0" descr="C:\Users\ADMIN\Desktop\TEMP\VSHARK_Website\img\vshark-logo-white.png">    </p:cNvPr>
          <p:cNvPicPr>
            <a:picLocks noChangeAspect="1"/>
          </p:cNvPicPr>
          <p:nvPr/>
        </p:nvPicPr>
        <p:blipFill>
          <a:blip r:embed="rId1"/>
          <a:stretch>
            <a:fillRect/>
          </a:stretch>
        </p:blipFill>
        <p:spPr>
          <a:xfrm>
            <a:off x="609905" y="685800"/>
            <a:ext cx="1981647" cy="420624"/>
          </a:xfrm>
          <a:prstGeom prst="rect">
            <a:avLst/>
          </a:prstGeom>
        </p:spPr>
      </p:pic>
      <p:sp>
        <p:nvSpPr>
          <p:cNvPr id="3" name="Text 0"/>
          <p:cNvSpPr/>
          <p:nvPr>
            <p:ph idx="101" type="body" hasCustomPrompt="1"/>
          </p:nvPr>
        </p:nvSpPr>
        <p:spPr>
          <a:xfrm>
            <a:off x="609905" y="1600200"/>
            <a:ext cx="5486400" cy="274320"/>
          </a:xfrm>
          <a:prstGeom prst="rect">
            <a:avLst/>
          </a:prstGeom>
          <a:noFill/>
          <a:ln/>
        </p:spPr>
        <p:txBody>
          <a:bodyPr wrap="square" rtlCol="0"/>
          <a:lstStyle>
            <a:lvl1pPr indent="0" marL="0">
              <a:buNone/>
              <a:defRPr lang="en-US" sz="1000" dirty="0">
                <a:solidFill>
                  <a:schemeClr val="accent4"/>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4" name="Text 0"/>
          <p:cNvSpPr/>
          <p:nvPr>
            <p:ph idx="102" type="title" hasCustomPrompt="1"/>
          </p:nvPr>
        </p:nvSpPr>
        <p:spPr>
          <a:xfrm>
            <a:off x="609905" y="1920240"/>
            <a:ext cx="5943600" cy="1371600"/>
          </a:xfrm>
          <a:prstGeom prst="rect">
            <a:avLst/>
          </a:prstGeom>
          <a:noFill/>
          <a:ln/>
        </p:spPr>
        <p:txBody>
          <a:bodyPr wrap="square" rtlCol="0"/>
          <a:lstStyle>
            <a:lvl1pPr algn="l" indent="0" marL="0">
              <a:buNone/>
              <a:defRPr lang="en-US" sz="4000"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image" Target="../media/image-12-8.jp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mailto:info@vsharksolutions.com" TargetMode="External"/><Relationship Id="rId2" Type="http://schemas.openxmlformats.org/officeDocument/2006/relationships/hyperlink" Target="tel:+919514248525" TargetMode="External"/><Relationship Id="rId3" Type="http://schemas.openxmlformats.org/officeDocument/2006/relationships/hyperlink" Target="tel:+971522486238" TargetMode="External"/><Relationship Id="rId4" Type="http://schemas.openxmlformats.org/officeDocument/2006/relationships/hyperlink" Target="https://wa.me/919514248525" TargetMode="External"/><Relationship Id="rId5" Type="http://schemas.openxmlformats.org/officeDocument/2006/relationships/hyperlink" Target="https://vsharksolutions.com" TargetMode="External"/><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3D SCANNING &amp; 3D DESIGN SERVICES</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We capture reality.</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Then we engineer it.</a:t>
            </a:r>
            <a:endParaRPr lang="en-US" sz="4000" dirty="0"/>
          </a:p>
        </p:txBody>
      </p:sp>
      <p:sp>
        <p:nvSpPr>
          <p:cNvPr id="5" name="Text 2"/>
          <p:cNvSpPr txBox="1"/>
          <p:nvPr/>
        </p:nvSpPr>
        <p:spPr>
          <a:xfrm>
            <a:off x="609905" y="3611880"/>
            <a:ext cx="5669280" cy="822960"/>
          </a:xfrm>
          <a:prstGeom prst="rect">
            <a:avLst/>
          </a:prstGeom>
          <a:noFill/>
          <a:ln/>
        </p:spPr>
        <p:txBody>
          <a:bodyPr wrap="square" lIns="0" tIns="0" rIns="0" bIns="0" rtlCol="0" anchor="t"/>
          <a:lstStyle/>
          <a:p>
            <a:pPr indent="0" marL="0">
              <a:buNone/>
            </a:pPr>
            <a:r>
              <a:rPr lang="en-US" sz="1400" dirty="0">
                <a:solidFill>
                  <a:schemeClr val="accent2"/>
                </a:solidFill>
              </a:rPr>
              <a:t>Precise 3D scanning and innovative 3D design that transform physical parts, products and spaces into digital models — and back into physical prototypes.</a:t>
            </a:r>
            <a:endParaRPr lang="en-US" sz="1400" dirty="0"/>
          </a:p>
        </p:txBody>
      </p:sp>
      <p:sp>
        <p:nvSpPr>
          <p:cNvPr id="6" name="Text 3"/>
          <p:cNvSpPr txBox="1"/>
          <p:nvPr/>
        </p:nvSpPr>
        <p:spPr>
          <a:xfrm>
            <a:off x="60990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7" name="Text 4"/>
          <p:cNvSpPr txBox="1"/>
          <p:nvPr/>
        </p:nvSpPr>
        <p:spPr>
          <a:xfrm>
            <a:off x="60990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info@vsharksolutions.com</a:t>
            </a:r>
            <a:endParaRPr lang="en-US" sz="1300" dirty="0"/>
          </a:p>
        </p:txBody>
      </p:sp>
      <p:sp>
        <p:nvSpPr>
          <p:cNvPr id="8" name="Text 5"/>
          <p:cNvSpPr txBox="1"/>
          <p:nvPr/>
        </p:nvSpPr>
        <p:spPr>
          <a:xfrm>
            <a:off x="29416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9" name="Text 6"/>
          <p:cNvSpPr txBox="1"/>
          <p:nvPr/>
        </p:nvSpPr>
        <p:spPr>
          <a:xfrm>
            <a:off x="29416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+91 95142 48525</a:t>
            </a:r>
            <a:endParaRPr lang="en-US" sz="1300" dirty="0"/>
          </a:p>
        </p:txBody>
      </p:sp>
      <p:sp>
        <p:nvSpPr>
          <p:cNvPr id="10" name="Text 7"/>
          <p:cNvSpPr txBox="1"/>
          <p:nvPr/>
        </p:nvSpPr>
        <p:spPr>
          <a:xfrm>
            <a:off x="45418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1" name="Text 8"/>
          <p:cNvSpPr txBox="1"/>
          <p:nvPr/>
        </p:nvSpPr>
        <p:spPr>
          <a:xfrm>
            <a:off x="45418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+971 52 248 6238</a:t>
            </a:r>
            <a:endParaRPr lang="en-US" sz="1300" dirty="0"/>
          </a:p>
        </p:txBody>
      </p:sp>
      <p:pic>
        <p:nvPicPr>
          <p:cNvPr id="12" name="Cover scan" descr="C:\Users\ADMIN\Desktop\TEMP\VSHARK_Website\collateral\assets\cylinder-head-scan.jpg">    </p:cNvPr>
          <p:cNvPicPr>
            <a:picLocks noChangeAspect="1"/>
          </p:cNvPicPr>
          <p:nvPr/>
        </p:nvPicPr>
        <p:blipFill>
          <a:blip r:embed="rId1"/>
          <a:srcRect l="0" r="0" t="9175" b="9175"/>
          <a:stretch/>
        </p:blipFill>
        <p:spPr>
          <a:xfrm>
            <a:off x="6702552" y="685800"/>
            <a:ext cx="4873752" cy="2651760"/>
          </a:xfrm>
          <a:prstGeom prst="rect">
            <a:avLst/>
          </a:prstGeom>
        </p:spPr>
      </p:pic>
      <p:pic>
        <p:nvPicPr>
          <p:cNvPr id="13" name="Cover CAD" descr="C:\Users\ADMIN\Desktop\TEMP\VSHARK_Website\collateral\assets\cylinder-head-cad.jpg">    </p:cNvPr>
          <p:cNvPicPr>
            <a:picLocks noChangeAspect="1"/>
          </p:cNvPicPr>
          <p:nvPr/>
        </p:nvPicPr>
        <p:blipFill>
          <a:blip r:embed="rId2"/>
          <a:srcRect l="0" r="0" t="9175" b="9175"/>
          <a:stretch/>
        </p:blipFill>
        <p:spPr>
          <a:xfrm>
            <a:off x="6702552" y="3474720"/>
            <a:ext cx="4873752" cy="2651760"/>
          </a:xfrm>
          <a:prstGeom prst="rect">
            <a:avLst/>
          </a:prstGeom>
        </p:spPr>
      </p:pic>
      <p:sp>
        <p:nvSpPr>
          <p:cNvPr id="14" name="Shape 9"/>
          <p:cNvSpPr/>
          <p:nvPr/>
        </p:nvSpPr>
        <p:spPr>
          <a:xfrm>
            <a:off x="6839712" y="822960"/>
            <a:ext cx="800100" cy="237744"/>
          </a:xfrm>
          <a:prstGeom prst="rect">
            <a:avLst/>
          </a:prstGeom>
          <a:solidFill>
            <a:schemeClr val="tx2">
              <a:alpha val="85000"/>
            </a:schemeClr>
          </a:solidFill>
          <a:ln/>
        </p:spPr>
      </p:sp>
      <p:sp>
        <p:nvSpPr>
          <p:cNvPr id="15" name="Text 10"/>
          <p:cNvSpPr txBox="1"/>
          <p:nvPr/>
        </p:nvSpPr>
        <p:spPr>
          <a:xfrm>
            <a:off x="6839712" y="822960"/>
            <a:ext cx="8001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01 · SCAN</a:t>
            </a:r>
            <a:endParaRPr lang="en-US" sz="900" dirty="0"/>
          </a:p>
        </p:txBody>
      </p:sp>
      <p:sp>
        <p:nvSpPr>
          <p:cNvPr id="16" name="Shape 11"/>
          <p:cNvSpPr/>
          <p:nvPr/>
        </p:nvSpPr>
        <p:spPr>
          <a:xfrm>
            <a:off x="6839712" y="3611880"/>
            <a:ext cx="731520" cy="237744"/>
          </a:xfrm>
          <a:prstGeom prst="rect">
            <a:avLst/>
          </a:prstGeom>
          <a:solidFill>
            <a:schemeClr val="accent1"/>
          </a:solidFill>
          <a:ln/>
        </p:spPr>
      </p:sp>
      <p:sp>
        <p:nvSpPr>
          <p:cNvPr id="17" name="Text 12"/>
          <p:cNvSpPr txBox="1"/>
          <p:nvPr/>
        </p:nvSpPr>
        <p:spPr>
          <a:xfrm>
            <a:off x="6839712" y="3611880"/>
            <a:ext cx="7315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02 · CAD</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( 01 ) — WHO WE ARE</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From physical to digital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and back</a:t>
            </a:r>
            <a:endParaRPr lang="en-US" sz="3200" dirty="0"/>
          </a:p>
        </p:txBody>
      </p:sp>
      <p:sp>
        <p:nvSpPr>
          <p:cNvPr id="5" name="Text 2"/>
          <p:cNvSpPr txBox="1"/>
          <p:nvPr/>
        </p:nvSpPr>
        <p:spPr>
          <a:xfrm>
            <a:off x="609905" y="2011680"/>
            <a:ext cx="5577840" cy="2926080"/>
          </a:xfrm>
          <a:prstGeom prst="rect">
            <a:avLst/>
          </a:prstGeom>
          <a:noFill/>
          <a:ln/>
        </p:spPr>
        <p:txBody>
          <a:bodyPr wrap="square" lIns="0" tIns="0" rIns="0" bIns="0" rtlCol="0" anchor="t"/>
          <a:lstStyle/>
          <a:p>
            <a:pPr indent="0" marL="0">
              <a:lnSpc>
                <a:spcPct val="115000"/>
              </a:lnSpc>
              <a:spcAft>
                <a:spcPts val="1000"/>
              </a:spcAft>
              <a:buNone/>
            </a:pPr>
            <a:r>
              <a:rPr lang="en-US" sz="1600" dirty="0">
                <a:solidFill>
                  <a:schemeClr val="accent6"/>
                </a:solidFill>
              </a:rPr>
              <a:t>VShark Solutions provides state-of-the-art 3D scanning and 3D design services for businesses and individuals.</a:t>
            </a:r>
            <a:endParaRPr lang="en-US" sz="1600" dirty="0"/>
          </a:p>
          <a:p>
            <a:pPr indent="0" marL="0">
              <a:lnSpc>
                <a:spcPct val="115000"/>
              </a:lnSpc>
              <a:spcAft>
                <a:spcPts val="1000"/>
              </a:spcAft>
              <a:buNone/>
            </a:pPr>
            <a:r>
              <a:rPr lang="en-US" sz="1600" dirty="0">
                <a:solidFill>
                  <a:schemeClr val="accent6"/>
                </a:solidFill>
              </a:rPr>
              <a:t>We capture parts, products and spaces as accurate digital data — then engineer that data into editable CAD, flawless surfaces, BIM models, inspection reports, prototypes and photoreal visuals. One partner, from the physical object to the finished digital deliverable and back again.</a:t>
            </a:r>
            <a:endParaRPr lang="en-US" sz="1600" dirty="0"/>
          </a:p>
        </p:txBody>
      </p:sp>
      <p:sp>
        <p:nvSpPr>
          <p:cNvPr id="6" name="Stat Scan accuracy"/>
          <p:cNvSpPr/>
          <p:nvPr/>
        </p:nvSpPr>
        <p:spPr>
          <a:xfrm>
            <a:off x="6702552" y="1828800"/>
            <a:ext cx="2377440" cy="1737360"/>
          </a:xfrm>
          <a:prstGeom prst="roundRect">
            <a:avLst>
              <a:gd name="adj" fmla="val 4211"/>
            </a:avLst>
          </a:prstGeom>
          <a:solidFill>
            <a:schemeClr val="bg1"/>
          </a:solidFill>
          <a:ln w="9525">
            <a:solidFill>
              <a:schemeClr val="accent5"/>
            </a:solidFill>
            <a:prstDash val="solid"/>
          </a:ln>
        </p:spPr>
      </p:sp>
      <p:sp>
        <p:nvSpPr>
          <p:cNvPr id="7" name="Text 4"/>
          <p:cNvSpPr txBox="1"/>
          <p:nvPr/>
        </p:nvSpPr>
        <p:spPr>
          <a:xfrm>
            <a:off x="693115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0.02</a:t>
            </a:r>
            <a:pPr indent="0" marL="0">
              <a:buNone/>
            </a:pPr>
            <a:r>
              <a:rPr lang="en-US" sz="2000" dirty="0">
                <a:solidFill>
                  <a:schemeClr val="accent1"/>
                </a:solidFill>
                <a:latin typeface="Century Gothic" pitchFamily="34" charset="0"/>
                <a:ea typeface="Century Gothic" pitchFamily="34" charset="-122"/>
                <a:cs typeface="Century Gothic" pitchFamily="34" charset="-120"/>
              </a:rPr>
              <a:t> mm</a:t>
            </a:r>
            <a:endParaRPr lang="en-US" sz="4400" dirty="0"/>
          </a:p>
        </p:txBody>
      </p:sp>
      <p:sp>
        <p:nvSpPr>
          <p:cNvPr id="8" name="Text 5"/>
          <p:cNvSpPr txBox="1"/>
          <p:nvPr/>
        </p:nvSpPr>
        <p:spPr>
          <a:xfrm>
            <a:off x="693115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SCAN ACCURACY</a:t>
            </a:r>
            <a:endParaRPr lang="en-US" sz="1000" dirty="0"/>
          </a:p>
        </p:txBody>
      </p:sp>
      <p:sp>
        <p:nvSpPr>
          <p:cNvPr id="9" name="Stat Core services"/>
          <p:cNvSpPr/>
          <p:nvPr/>
        </p:nvSpPr>
        <p:spPr>
          <a:xfrm>
            <a:off x="9171432" y="1828800"/>
            <a:ext cx="2377440" cy="1737360"/>
          </a:xfrm>
          <a:prstGeom prst="roundRect">
            <a:avLst>
              <a:gd name="adj" fmla="val 4211"/>
            </a:avLst>
          </a:prstGeom>
          <a:solidFill>
            <a:schemeClr val="bg1"/>
          </a:solidFill>
          <a:ln w="9525">
            <a:solidFill>
              <a:schemeClr val="accent5"/>
            </a:solidFill>
            <a:prstDash val="solid"/>
          </a:ln>
        </p:spPr>
      </p:sp>
      <p:sp>
        <p:nvSpPr>
          <p:cNvPr id="10" name="Text 7"/>
          <p:cNvSpPr txBox="1"/>
          <p:nvPr/>
        </p:nvSpPr>
        <p:spPr>
          <a:xfrm>
            <a:off x="940003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7</a:t>
            </a:r>
            <a:pPr indent="0" marL="0">
              <a:buNone/>
            </a:pPr>
            <a:endParaRPr lang="en-US" sz="4400" dirty="0"/>
          </a:p>
        </p:txBody>
      </p:sp>
      <p:sp>
        <p:nvSpPr>
          <p:cNvPr id="11" name="Text 8"/>
          <p:cNvSpPr txBox="1"/>
          <p:nvPr/>
        </p:nvSpPr>
        <p:spPr>
          <a:xfrm>
            <a:off x="940003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CORE SERVICES</a:t>
            </a:r>
            <a:endParaRPr lang="en-US" sz="1000" dirty="0"/>
          </a:p>
        </p:txBody>
      </p:sp>
      <p:sp>
        <p:nvSpPr>
          <p:cNvPr id="12" name="Stat Industries served"/>
          <p:cNvSpPr/>
          <p:nvPr/>
        </p:nvSpPr>
        <p:spPr>
          <a:xfrm>
            <a:off x="6702552" y="3703320"/>
            <a:ext cx="2377440" cy="1737360"/>
          </a:xfrm>
          <a:prstGeom prst="roundRect">
            <a:avLst>
              <a:gd name="adj" fmla="val 4211"/>
            </a:avLst>
          </a:prstGeom>
          <a:solidFill>
            <a:schemeClr val="bg1"/>
          </a:solidFill>
          <a:ln w="9525">
            <a:solidFill>
              <a:schemeClr val="accent5"/>
            </a:solidFill>
            <a:prstDash val="solid"/>
          </a:ln>
        </p:spPr>
      </p:sp>
      <p:sp>
        <p:nvSpPr>
          <p:cNvPr id="13" name="Text 10"/>
          <p:cNvSpPr txBox="1"/>
          <p:nvPr/>
        </p:nvSpPr>
        <p:spPr>
          <a:xfrm>
            <a:off x="693115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endParaRPr lang="en-US" sz="4400" dirty="0"/>
          </a:p>
        </p:txBody>
      </p:sp>
      <p:sp>
        <p:nvSpPr>
          <p:cNvPr id="14" name="Text 11"/>
          <p:cNvSpPr txBox="1"/>
          <p:nvPr/>
        </p:nvSpPr>
        <p:spPr>
          <a:xfrm>
            <a:off x="693115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INDUSTRIES SERVED</a:t>
            </a:r>
            <a:endParaRPr lang="en-US" sz="1000" dirty="0"/>
          </a:p>
        </p:txBody>
      </p:sp>
      <p:sp>
        <p:nvSpPr>
          <p:cNvPr id="15" name="Stat Countries with repeat clients"/>
          <p:cNvSpPr/>
          <p:nvPr/>
        </p:nvSpPr>
        <p:spPr>
          <a:xfrm>
            <a:off x="9171432" y="3703320"/>
            <a:ext cx="2377440" cy="1737360"/>
          </a:xfrm>
          <a:prstGeom prst="roundRect">
            <a:avLst>
              <a:gd name="adj" fmla="val 4211"/>
            </a:avLst>
          </a:prstGeom>
          <a:solidFill>
            <a:schemeClr val="bg1"/>
          </a:solidFill>
          <a:ln w="9525">
            <a:solidFill>
              <a:schemeClr val="accent5"/>
            </a:solidFill>
            <a:prstDash val="solid"/>
          </a:ln>
        </p:spPr>
      </p:sp>
      <p:sp>
        <p:nvSpPr>
          <p:cNvPr id="16" name="Text 13"/>
          <p:cNvSpPr txBox="1"/>
          <p:nvPr/>
        </p:nvSpPr>
        <p:spPr>
          <a:xfrm>
            <a:off x="940003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r>
              <a:rPr lang="en-US" sz="2000" dirty="0">
                <a:solidFill>
                  <a:schemeClr val="accent1"/>
                </a:solidFill>
                <a:latin typeface="Century Gothic" pitchFamily="34" charset="0"/>
                <a:ea typeface="Century Gothic" pitchFamily="34" charset="-122"/>
                <a:cs typeface="Century Gothic" pitchFamily="34" charset="-120"/>
              </a:rPr>
              <a:t>+</a:t>
            </a:r>
            <a:endParaRPr lang="en-US" sz="4400" dirty="0"/>
          </a:p>
        </p:txBody>
      </p:sp>
      <p:sp>
        <p:nvSpPr>
          <p:cNvPr id="17" name="Text 14"/>
          <p:cNvSpPr txBox="1"/>
          <p:nvPr/>
        </p:nvSpPr>
        <p:spPr>
          <a:xfrm>
            <a:off x="940003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COUNTRIES WITH REPEAT CLIENTS</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( 02 ) — SERVICES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Seven services,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one partner</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Use one service on its own, or hand us the whole job — from first scan to final file.</a:t>
            </a:r>
            <a:endParaRPr lang="en-US" sz="1200" dirty="0"/>
          </a:p>
        </p:txBody>
      </p:sp>
      <p:sp>
        <p:nvSpPr>
          <p:cNvPr id="6" name="Service card 3D Scanning"/>
          <p:cNvSpPr/>
          <p:nvPr/>
        </p:nvSpPr>
        <p:spPr>
          <a:xfrm>
            <a:off x="609905" y="1783080"/>
            <a:ext cx="2605811" cy="2148840"/>
          </a:xfrm>
          <a:prstGeom prst="roundRect">
            <a:avLst>
              <a:gd name="adj" fmla="val 3404"/>
            </a:avLst>
          </a:prstGeom>
          <a:solidFill>
            <a:schemeClr val="bg1"/>
          </a:solidFill>
          <a:ln w="9525">
            <a:solidFill>
              <a:schemeClr val="accent5"/>
            </a:solidFill>
            <a:prstDash val="solid"/>
          </a:ln>
        </p:spPr>
      </p:sp>
      <p:pic>
        <p:nvPicPr>
          <p:cNvPr id="7" name="3D Scanning" descr="C:\Users\ADMIN\Desktop\TEMP\VSHARK_Website\collateral\assets\01-scanning.jpg">    </p:cNvPr>
          <p:cNvPicPr>
            <a:picLocks noChangeAspect="1"/>
          </p:cNvPicPr>
          <p:nvPr/>
        </p:nvPicPr>
        <p:blipFill>
          <a:blip r:embed="rId1"/>
          <a:srcRect l="0" r="0" t="31577" b="31577"/>
          <a:stretch/>
        </p:blipFill>
        <p:spPr>
          <a:xfrm>
            <a:off x="609905" y="1783080"/>
            <a:ext cx="2605811" cy="960120"/>
          </a:xfrm>
          <a:prstGeom prst="rect">
            <a:avLst/>
          </a:prstGeom>
        </p:spPr>
      </p:pic>
      <p:sp>
        <p:nvSpPr>
          <p:cNvPr id="8" name="Text 4"/>
          <p:cNvSpPr txBox="1"/>
          <p:nvPr/>
        </p:nvSpPr>
        <p:spPr>
          <a:xfrm>
            <a:off x="774497"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74497"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Scanning</a:t>
            </a:r>
            <a:endParaRPr lang="en-US" sz="1400" dirty="0"/>
          </a:p>
        </p:txBody>
      </p:sp>
      <p:sp>
        <p:nvSpPr>
          <p:cNvPr id="10" name="Text 6"/>
          <p:cNvSpPr txBox="1"/>
          <p:nvPr/>
        </p:nvSpPr>
        <p:spPr>
          <a:xfrm>
            <a:off x="774497"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Capture any part, product or space as an accurate digital model.</a:t>
            </a:r>
            <a:endParaRPr lang="en-US" sz="1100" dirty="0"/>
          </a:p>
        </p:txBody>
      </p:sp>
      <p:sp>
        <p:nvSpPr>
          <p:cNvPr id="11" name="Service card Reverse Engineering"/>
          <p:cNvSpPr/>
          <p:nvPr/>
        </p:nvSpPr>
        <p:spPr>
          <a:xfrm>
            <a:off x="3398596" y="1783080"/>
            <a:ext cx="2605811" cy="2148840"/>
          </a:xfrm>
          <a:prstGeom prst="roundRect">
            <a:avLst>
              <a:gd name="adj" fmla="val 3404"/>
            </a:avLst>
          </a:prstGeom>
          <a:solidFill>
            <a:schemeClr val="bg1"/>
          </a:solidFill>
          <a:ln w="9525">
            <a:solidFill>
              <a:schemeClr val="accent5"/>
            </a:solidFill>
            <a:prstDash val="solid"/>
          </a:ln>
        </p:spPr>
      </p:sp>
      <p:pic>
        <p:nvPicPr>
          <p:cNvPr id="12" name="Reverse Engineering" descr="C:\Users\ADMIN\Desktop\TEMP\VSHARK_Website\collateral\assets\02-reverse-engineering.jpg">    </p:cNvPr>
          <p:cNvPicPr>
            <a:picLocks noChangeAspect="1"/>
          </p:cNvPicPr>
          <p:nvPr/>
        </p:nvPicPr>
        <p:blipFill>
          <a:blip r:embed="rId2"/>
          <a:srcRect l="0" r="0" t="31577" b="31577"/>
          <a:stretch/>
        </p:blipFill>
        <p:spPr>
          <a:xfrm>
            <a:off x="3398596" y="1783080"/>
            <a:ext cx="2605811" cy="960120"/>
          </a:xfrm>
          <a:prstGeom prst="rect">
            <a:avLst/>
          </a:prstGeom>
        </p:spPr>
      </p:pic>
      <p:sp>
        <p:nvSpPr>
          <p:cNvPr id="13" name="Text 8"/>
          <p:cNvSpPr txBox="1"/>
          <p:nvPr/>
        </p:nvSpPr>
        <p:spPr>
          <a:xfrm>
            <a:off x="3563188"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3563188"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Reverse Engineering</a:t>
            </a:r>
            <a:endParaRPr lang="en-US" sz="1400" dirty="0"/>
          </a:p>
        </p:txBody>
      </p:sp>
      <p:sp>
        <p:nvSpPr>
          <p:cNvPr id="15" name="Text 10"/>
          <p:cNvSpPr txBox="1"/>
          <p:nvPr/>
        </p:nvSpPr>
        <p:spPr>
          <a:xfrm>
            <a:off x="3563188"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Turn scan data into fully editable, manufacturable CAD.</a:t>
            </a:r>
            <a:endParaRPr lang="en-US" sz="1100" dirty="0"/>
          </a:p>
        </p:txBody>
      </p:sp>
      <p:sp>
        <p:nvSpPr>
          <p:cNvPr id="16" name="Service card Scan to BIM"/>
          <p:cNvSpPr/>
          <p:nvPr/>
        </p:nvSpPr>
        <p:spPr>
          <a:xfrm>
            <a:off x="6187288" y="1783080"/>
            <a:ext cx="2605811" cy="2148840"/>
          </a:xfrm>
          <a:prstGeom prst="roundRect">
            <a:avLst>
              <a:gd name="adj" fmla="val 3404"/>
            </a:avLst>
          </a:prstGeom>
          <a:solidFill>
            <a:schemeClr val="bg1"/>
          </a:solidFill>
          <a:ln w="9525">
            <a:solidFill>
              <a:schemeClr val="accent5"/>
            </a:solidFill>
            <a:prstDash val="solid"/>
          </a:ln>
        </p:spPr>
      </p:sp>
      <p:pic>
        <p:nvPicPr>
          <p:cNvPr id="17" name="Scan to BIM" descr="C:\Users\ADMIN\Desktop\TEMP\VSHARK_Website\collateral\assets\bim.jpg">    </p:cNvPr>
          <p:cNvPicPr>
            <a:picLocks noChangeAspect="1"/>
          </p:cNvPicPr>
          <p:nvPr/>
        </p:nvPicPr>
        <p:blipFill>
          <a:blip r:embed="rId3"/>
          <a:srcRect l="0" r="0" t="31577" b="31577"/>
          <a:stretch/>
        </p:blipFill>
        <p:spPr>
          <a:xfrm>
            <a:off x="6187288" y="1783080"/>
            <a:ext cx="2605811" cy="960120"/>
          </a:xfrm>
          <a:prstGeom prst="rect">
            <a:avLst/>
          </a:prstGeom>
        </p:spPr>
      </p:pic>
      <p:sp>
        <p:nvSpPr>
          <p:cNvPr id="18" name="Text 12"/>
          <p:cNvSpPr txBox="1"/>
          <p:nvPr/>
        </p:nvSpPr>
        <p:spPr>
          <a:xfrm>
            <a:off x="6351880"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6351880"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Scan to BIM</a:t>
            </a:r>
            <a:endParaRPr lang="en-US" sz="1400" dirty="0"/>
          </a:p>
        </p:txBody>
      </p:sp>
      <p:sp>
        <p:nvSpPr>
          <p:cNvPr id="20" name="Text 14"/>
          <p:cNvSpPr txBox="1"/>
          <p:nvPr/>
        </p:nvSpPr>
        <p:spPr>
          <a:xfrm>
            <a:off x="6351880"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Existing buildings captured as accurate, intelligent BIM models.</a:t>
            </a:r>
            <a:endParaRPr lang="en-US" sz="1100" dirty="0"/>
          </a:p>
        </p:txBody>
      </p:sp>
      <p:sp>
        <p:nvSpPr>
          <p:cNvPr id="21" name="Service card Class A Surfacing"/>
          <p:cNvSpPr/>
          <p:nvPr/>
        </p:nvSpPr>
        <p:spPr>
          <a:xfrm>
            <a:off x="8975979" y="1783080"/>
            <a:ext cx="2605811" cy="2148840"/>
          </a:xfrm>
          <a:prstGeom prst="roundRect">
            <a:avLst>
              <a:gd name="adj" fmla="val 3404"/>
            </a:avLst>
          </a:prstGeom>
          <a:solidFill>
            <a:schemeClr val="bg1"/>
          </a:solidFill>
          <a:ln w="9525">
            <a:solidFill>
              <a:schemeClr val="accent5"/>
            </a:solidFill>
            <a:prstDash val="solid"/>
          </a:ln>
        </p:spPr>
      </p:sp>
      <p:pic>
        <p:nvPicPr>
          <p:cNvPr id="22" name="Class A Surfacing" descr="C:\Users\ADMIN\Desktop\TEMP\VSHARK_Website\collateral\assets\class-a.jpg">    </p:cNvPr>
          <p:cNvPicPr>
            <a:picLocks noChangeAspect="1"/>
          </p:cNvPicPr>
          <p:nvPr/>
        </p:nvPicPr>
        <p:blipFill>
          <a:blip r:embed="rId4"/>
          <a:srcRect l="0" r="0" t="31577" b="31577"/>
          <a:stretch/>
        </p:blipFill>
        <p:spPr>
          <a:xfrm>
            <a:off x="8975979" y="1783080"/>
            <a:ext cx="2605811" cy="960120"/>
          </a:xfrm>
          <a:prstGeom prst="rect">
            <a:avLst/>
          </a:prstGeom>
        </p:spPr>
      </p:pic>
      <p:sp>
        <p:nvSpPr>
          <p:cNvPr id="23" name="Text 16"/>
          <p:cNvSpPr txBox="1"/>
          <p:nvPr/>
        </p:nvSpPr>
        <p:spPr>
          <a:xfrm>
            <a:off x="9140571"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9140571"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Class A Surfacing</a:t>
            </a:r>
            <a:endParaRPr lang="en-US" sz="1400" dirty="0"/>
          </a:p>
        </p:txBody>
      </p:sp>
      <p:sp>
        <p:nvSpPr>
          <p:cNvPr id="25" name="Text 18"/>
          <p:cNvSpPr txBox="1"/>
          <p:nvPr/>
        </p:nvSpPr>
        <p:spPr>
          <a:xfrm>
            <a:off x="9140571"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Flawless, curvature-continuous surfaces for visible parts.</a:t>
            </a:r>
            <a:endParaRPr lang="en-US" sz="1100" dirty="0"/>
          </a:p>
        </p:txBody>
      </p:sp>
      <p:sp>
        <p:nvSpPr>
          <p:cNvPr id="26" name="Service card Digital Metrology"/>
          <p:cNvSpPr/>
          <p:nvPr/>
        </p:nvSpPr>
        <p:spPr>
          <a:xfrm>
            <a:off x="609905" y="4114800"/>
            <a:ext cx="2605811" cy="2148840"/>
          </a:xfrm>
          <a:prstGeom prst="roundRect">
            <a:avLst>
              <a:gd name="adj" fmla="val 3404"/>
            </a:avLst>
          </a:prstGeom>
          <a:solidFill>
            <a:schemeClr val="bg1"/>
          </a:solidFill>
          <a:ln w="9525">
            <a:solidFill>
              <a:schemeClr val="accent5"/>
            </a:solidFill>
            <a:prstDash val="solid"/>
          </a:ln>
        </p:spPr>
      </p:sp>
      <p:pic>
        <p:nvPicPr>
          <p:cNvPr id="27" name="Digital Metrology" descr="C:\Users\ADMIN\Desktop\TEMP\VSHARK_Website\collateral\assets\digital.jpg">    </p:cNvPr>
          <p:cNvPicPr>
            <a:picLocks noChangeAspect="1"/>
          </p:cNvPicPr>
          <p:nvPr/>
        </p:nvPicPr>
        <p:blipFill>
          <a:blip r:embed="rId5"/>
          <a:srcRect l="0" r="0" t="31577" b="31577"/>
          <a:stretch/>
        </p:blipFill>
        <p:spPr>
          <a:xfrm>
            <a:off x="609905" y="4114800"/>
            <a:ext cx="2605811" cy="960120"/>
          </a:xfrm>
          <a:prstGeom prst="rect">
            <a:avLst/>
          </a:prstGeom>
        </p:spPr>
      </p:pic>
      <p:sp>
        <p:nvSpPr>
          <p:cNvPr id="28" name="Text 20"/>
          <p:cNvSpPr txBox="1"/>
          <p:nvPr/>
        </p:nvSpPr>
        <p:spPr>
          <a:xfrm>
            <a:off x="774497"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774497"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Digital Metrology</a:t>
            </a:r>
            <a:endParaRPr lang="en-US" sz="1400" dirty="0"/>
          </a:p>
        </p:txBody>
      </p:sp>
      <p:sp>
        <p:nvSpPr>
          <p:cNvPr id="30" name="Text 22"/>
          <p:cNvSpPr txBox="1"/>
          <p:nvPr/>
        </p:nvSpPr>
        <p:spPr>
          <a:xfrm>
            <a:off x="774497"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Compare manufactured parts to their CAD — to the micron.</a:t>
            </a:r>
            <a:endParaRPr lang="en-US" sz="1100" dirty="0"/>
          </a:p>
        </p:txBody>
      </p:sp>
      <p:sp>
        <p:nvSpPr>
          <p:cNvPr id="31" name="Service card 3D Printing"/>
          <p:cNvSpPr/>
          <p:nvPr/>
        </p:nvSpPr>
        <p:spPr>
          <a:xfrm>
            <a:off x="3398596" y="4114800"/>
            <a:ext cx="2605811" cy="2148840"/>
          </a:xfrm>
          <a:prstGeom prst="roundRect">
            <a:avLst>
              <a:gd name="adj" fmla="val 3404"/>
            </a:avLst>
          </a:prstGeom>
          <a:solidFill>
            <a:schemeClr val="bg1"/>
          </a:solidFill>
          <a:ln w="9525">
            <a:solidFill>
              <a:schemeClr val="accent5"/>
            </a:solidFill>
            <a:prstDash val="solid"/>
          </a:ln>
        </p:spPr>
      </p:sp>
      <p:pic>
        <p:nvPicPr>
          <p:cNvPr id="32" name="3D Printing" descr="C:\Users\ADMIN\Desktop\TEMP\VSHARK_Website\collateral\assets\printing.jpg">    </p:cNvPr>
          <p:cNvPicPr>
            <a:picLocks noChangeAspect="1"/>
          </p:cNvPicPr>
          <p:nvPr/>
        </p:nvPicPr>
        <p:blipFill>
          <a:blip r:embed="rId6"/>
          <a:srcRect l="0" r="0" t="31577" b="31577"/>
          <a:stretch/>
        </p:blipFill>
        <p:spPr>
          <a:xfrm>
            <a:off x="3398596" y="4114800"/>
            <a:ext cx="2605811" cy="960120"/>
          </a:xfrm>
          <a:prstGeom prst="rect">
            <a:avLst/>
          </a:prstGeom>
        </p:spPr>
      </p:pic>
      <p:sp>
        <p:nvSpPr>
          <p:cNvPr id="33" name="Text 24"/>
          <p:cNvSpPr txBox="1"/>
          <p:nvPr/>
        </p:nvSpPr>
        <p:spPr>
          <a:xfrm>
            <a:off x="3563188"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3563188"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Printing</a:t>
            </a:r>
            <a:endParaRPr lang="en-US" sz="1400" dirty="0"/>
          </a:p>
        </p:txBody>
      </p:sp>
      <p:sp>
        <p:nvSpPr>
          <p:cNvPr id="35" name="Text 26"/>
          <p:cNvSpPr txBox="1"/>
          <p:nvPr/>
        </p:nvSpPr>
        <p:spPr>
          <a:xfrm>
            <a:off x="3563188"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Rapid prototypes and functional parts, straight from your model.</a:t>
            </a:r>
            <a:endParaRPr lang="en-US" sz="1100" dirty="0"/>
          </a:p>
        </p:txBody>
      </p:sp>
      <p:sp>
        <p:nvSpPr>
          <p:cNvPr id="36" name="Service card Product Rendering"/>
          <p:cNvSpPr/>
          <p:nvPr/>
        </p:nvSpPr>
        <p:spPr>
          <a:xfrm>
            <a:off x="6187288" y="4114800"/>
            <a:ext cx="2605811" cy="2148840"/>
          </a:xfrm>
          <a:prstGeom prst="roundRect">
            <a:avLst>
              <a:gd name="adj" fmla="val 3404"/>
            </a:avLst>
          </a:prstGeom>
          <a:solidFill>
            <a:schemeClr val="bg1"/>
          </a:solidFill>
          <a:ln w="9525">
            <a:solidFill>
              <a:schemeClr val="accent5"/>
            </a:solidFill>
            <a:prstDash val="solid"/>
          </a:ln>
        </p:spPr>
      </p:sp>
      <p:pic>
        <p:nvPicPr>
          <p:cNvPr id="37" name="Product Rendering" descr="C:\Users\ADMIN\Desktop\TEMP\VSHARK_Website\collateral\assets\product-rendering.jpg">    </p:cNvPr>
          <p:cNvPicPr>
            <a:picLocks noChangeAspect="1"/>
          </p:cNvPicPr>
          <p:nvPr/>
        </p:nvPicPr>
        <p:blipFill>
          <a:blip r:embed="rId7"/>
          <a:srcRect l="0" r="0" t="31577" b="31577"/>
          <a:stretch/>
        </p:blipFill>
        <p:spPr>
          <a:xfrm>
            <a:off x="6187288" y="4114800"/>
            <a:ext cx="2605811" cy="960120"/>
          </a:xfrm>
          <a:prstGeom prst="rect">
            <a:avLst/>
          </a:prstGeom>
        </p:spPr>
      </p:pic>
      <p:sp>
        <p:nvSpPr>
          <p:cNvPr id="38" name="Text 28"/>
          <p:cNvSpPr txBox="1"/>
          <p:nvPr/>
        </p:nvSpPr>
        <p:spPr>
          <a:xfrm>
            <a:off x="6351880"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07</a:t>
            </a:r>
            <a:endParaRPr lang="en-US" sz="900" dirty="0"/>
          </a:p>
        </p:txBody>
      </p:sp>
      <p:sp>
        <p:nvSpPr>
          <p:cNvPr id="39" name="Text 29"/>
          <p:cNvSpPr txBox="1"/>
          <p:nvPr/>
        </p:nvSpPr>
        <p:spPr>
          <a:xfrm>
            <a:off x="6351880"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Product Rendering</a:t>
            </a:r>
            <a:endParaRPr lang="en-US" sz="1400" dirty="0"/>
          </a:p>
        </p:txBody>
      </p:sp>
      <p:sp>
        <p:nvSpPr>
          <p:cNvPr id="40" name="Text 30"/>
          <p:cNvSpPr txBox="1"/>
          <p:nvPr/>
        </p:nvSpPr>
        <p:spPr>
          <a:xfrm>
            <a:off x="6351880"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Photoreal visuals that sell a product before it is ever made.</a:t>
            </a:r>
            <a:endParaRPr lang="en-US" sz="1100" dirty="0"/>
          </a:p>
        </p:txBody>
      </p:sp>
      <p:sp>
        <p:nvSpPr>
          <p:cNvPr id="41" name="End-to-end card"/>
          <p:cNvSpPr/>
          <p:nvPr/>
        </p:nvSpPr>
        <p:spPr>
          <a:xfrm>
            <a:off x="8975979" y="4114800"/>
            <a:ext cx="2605811" cy="2148840"/>
          </a:xfrm>
          <a:prstGeom prst="roundRect">
            <a:avLst>
              <a:gd name="adj" fmla="val 3404"/>
            </a:avLst>
          </a:prstGeom>
          <a:solidFill>
            <a:schemeClr val="accent1"/>
          </a:solidFill>
          <a:ln/>
        </p:spPr>
      </p:sp>
      <p:sp>
        <p:nvSpPr>
          <p:cNvPr id="42" name="Text 32"/>
          <p:cNvSpPr txBox="1"/>
          <p:nvPr/>
        </p:nvSpPr>
        <p:spPr>
          <a:xfrm>
            <a:off x="9177147" y="5074920"/>
            <a:ext cx="2203475" cy="365760"/>
          </a:xfrm>
          <a:prstGeom prst="rect">
            <a:avLst/>
          </a:prstGeom>
          <a:noFill/>
          <a:ln/>
        </p:spPr>
        <p:txBody>
          <a:bodyPr wrap="square" lIns="0" tIns="0" rIns="0" bIns="0" rtlCol="0" anchor="t"/>
          <a:lstStyle/>
          <a:p>
            <a:pPr indent="0" marL="0">
              <a:buNone/>
            </a:pPr>
            <a:r>
              <a:rPr lang="en-US" sz="1700" b="1" dirty="0">
                <a:solidFill>
                  <a:schemeClr val="bg1"/>
                </a:solidFill>
                <a:latin typeface="Century Gothic" pitchFamily="34" charset="0"/>
                <a:ea typeface="Century Gothic" pitchFamily="34" charset="-122"/>
                <a:cs typeface="Century Gothic" pitchFamily="34" charset="-120"/>
              </a:rPr>
              <a:t>End-to-end delivery</a:t>
            </a:r>
            <a:endParaRPr lang="en-US" sz="1700" dirty="0"/>
          </a:p>
        </p:txBody>
      </p:sp>
      <p:sp>
        <p:nvSpPr>
          <p:cNvPr id="43" name="Text 33"/>
          <p:cNvSpPr txBox="1"/>
          <p:nvPr/>
        </p:nvSpPr>
        <p:spPr>
          <a:xfrm>
            <a:off x="9177147" y="5486400"/>
            <a:ext cx="2203475" cy="640080"/>
          </a:xfrm>
          <a:prstGeom prst="rect">
            <a:avLst/>
          </a:prstGeom>
          <a:noFill/>
          <a:ln/>
        </p:spPr>
        <p:txBody>
          <a:bodyPr wrap="square" lIns="0" tIns="0" rIns="0" bIns="0" rtlCol="0" anchor="t"/>
          <a:lstStyle/>
          <a:p>
            <a:pPr indent="0" marL="0">
              <a:buNone/>
            </a:pPr>
            <a:r>
              <a:rPr lang="en-US" sz="1100" dirty="0">
                <a:solidFill>
                  <a:schemeClr val="bg1"/>
                </a:solidFill>
              </a:rPr>
              <a:t>Scan, engineer, inspect, print and render — under one roof, with one point of contact.</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( 03 ) — HOW WE WORK</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Four steps —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scan to solution</a:t>
            </a:r>
            <a:endParaRPr lang="en-US" sz="3200" dirty="0"/>
          </a:p>
        </p:txBody>
      </p:sp>
      <p:pic>
        <p:nvPicPr>
          <p:cNvPr id="5" name="Step Capture" descr="C:\Users\ADMIN\Desktop\TEMP\VSHARK_Website\collateral\assets\01-scanning.jpg">    </p:cNvPr>
          <p:cNvPicPr>
            <a:picLocks noChangeAspect="1"/>
          </p:cNvPicPr>
          <p:nvPr/>
        </p:nvPicPr>
        <p:blipFill>
          <a:blip r:embed="rId1"/>
          <a:srcRect l="0" r="0" t="11607" b="11607"/>
          <a:stretch/>
        </p:blipFill>
        <p:spPr>
          <a:xfrm>
            <a:off x="609905" y="1828800"/>
            <a:ext cx="2560320" cy="1965960"/>
          </a:xfrm>
          <a:prstGeom prst="rect">
            <a:avLst/>
          </a:prstGeom>
        </p:spPr>
      </p:pic>
      <p:sp>
        <p:nvSpPr>
          <p:cNvPr id="6" name="Text 2"/>
          <p:cNvSpPr txBox="1"/>
          <p:nvPr/>
        </p:nvSpPr>
        <p:spPr>
          <a:xfrm>
            <a:off x="609905"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01</a:t>
            </a:r>
            <a:endParaRPr lang="en-US" sz="3600" dirty="0"/>
          </a:p>
        </p:txBody>
      </p:sp>
      <p:sp>
        <p:nvSpPr>
          <p:cNvPr id="7" name="Text 3"/>
          <p:cNvSpPr txBox="1"/>
          <p:nvPr/>
        </p:nvSpPr>
        <p:spPr>
          <a:xfrm>
            <a:off x="609905"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Capture</a:t>
            </a:r>
            <a:endParaRPr lang="en-US" sz="2000" dirty="0"/>
          </a:p>
        </p:txBody>
      </p:sp>
      <p:sp>
        <p:nvSpPr>
          <p:cNvPr id="8" name="Text 4"/>
          <p:cNvSpPr txBox="1"/>
          <p:nvPr/>
        </p:nvSpPr>
        <p:spPr>
          <a:xfrm>
            <a:off x="609905"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We scan the part, product or site — in our lab or on location.</a:t>
            </a:r>
            <a:endParaRPr lang="en-US" sz="1300" dirty="0"/>
          </a:p>
        </p:txBody>
      </p:sp>
      <p:pic>
        <p:nvPicPr>
          <p:cNvPr id="9" name="Step Process" descr="C:\Users\ADMIN\Desktop\TEMP\VSHARK_Website\collateral\assets\scan-impeller.jpg">    </p:cNvPr>
          <p:cNvPicPr>
            <a:picLocks noChangeAspect="1"/>
          </p:cNvPicPr>
          <p:nvPr/>
        </p:nvPicPr>
        <p:blipFill>
          <a:blip r:embed="rId2"/>
          <a:srcRect l="6609" r="6609" t="0" b="0"/>
          <a:stretch/>
        </p:blipFill>
        <p:spPr>
          <a:xfrm>
            <a:off x="3417113" y="1828800"/>
            <a:ext cx="2560320" cy="1965960"/>
          </a:xfrm>
          <a:prstGeom prst="rect">
            <a:avLst/>
          </a:prstGeom>
        </p:spPr>
      </p:pic>
      <p:sp>
        <p:nvSpPr>
          <p:cNvPr id="10" name="Text 5"/>
          <p:cNvSpPr txBox="1"/>
          <p:nvPr/>
        </p:nvSpPr>
        <p:spPr>
          <a:xfrm>
            <a:off x="3417113"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02</a:t>
            </a:r>
            <a:endParaRPr lang="en-US" sz="3600" dirty="0"/>
          </a:p>
        </p:txBody>
      </p:sp>
      <p:sp>
        <p:nvSpPr>
          <p:cNvPr id="11" name="Text 6"/>
          <p:cNvSpPr txBox="1"/>
          <p:nvPr/>
        </p:nvSpPr>
        <p:spPr>
          <a:xfrm>
            <a:off x="3417113"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Process</a:t>
            </a:r>
            <a:endParaRPr lang="en-US" sz="2000" dirty="0"/>
          </a:p>
        </p:txBody>
      </p:sp>
      <p:sp>
        <p:nvSpPr>
          <p:cNvPr id="12" name="Text 7"/>
          <p:cNvSpPr txBox="1"/>
          <p:nvPr/>
        </p:nvSpPr>
        <p:spPr>
          <a:xfrm>
            <a:off x="3417113"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Scans are aligned, cleaned and merged into usable, watertight data.</a:t>
            </a:r>
            <a:endParaRPr lang="en-US" sz="1300" dirty="0"/>
          </a:p>
        </p:txBody>
      </p:sp>
      <p:pic>
        <p:nvPicPr>
          <p:cNvPr id="13" name="Step Engineer" descr="C:\Users\ADMIN\Desktop\TEMP\VSHARK_Website\collateral\assets\cad-impeller.jpg">    </p:cNvPr>
          <p:cNvPicPr>
            <a:picLocks noChangeAspect="1"/>
          </p:cNvPicPr>
          <p:nvPr/>
        </p:nvPicPr>
        <p:blipFill>
          <a:blip r:embed="rId3"/>
          <a:srcRect l="6609" r="6609" t="0" b="0"/>
          <a:stretch/>
        </p:blipFill>
        <p:spPr>
          <a:xfrm>
            <a:off x="6224321" y="1828800"/>
            <a:ext cx="2560320" cy="1965960"/>
          </a:xfrm>
          <a:prstGeom prst="rect">
            <a:avLst/>
          </a:prstGeom>
        </p:spPr>
      </p:pic>
      <p:sp>
        <p:nvSpPr>
          <p:cNvPr id="14" name="Text 8"/>
          <p:cNvSpPr txBox="1"/>
          <p:nvPr/>
        </p:nvSpPr>
        <p:spPr>
          <a:xfrm>
            <a:off x="6224321"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03</a:t>
            </a:r>
            <a:endParaRPr lang="en-US" sz="3600" dirty="0"/>
          </a:p>
        </p:txBody>
      </p:sp>
      <p:sp>
        <p:nvSpPr>
          <p:cNvPr id="15" name="Text 9"/>
          <p:cNvSpPr txBox="1"/>
          <p:nvPr/>
        </p:nvSpPr>
        <p:spPr>
          <a:xfrm>
            <a:off x="6224321"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Engineer</a:t>
            </a:r>
            <a:endParaRPr lang="en-US" sz="2000" dirty="0"/>
          </a:p>
        </p:txBody>
      </p:sp>
      <p:sp>
        <p:nvSpPr>
          <p:cNvPr id="16" name="Text 10"/>
          <p:cNvSpPr txBox="1"/>
          <p:nvPr/>
        </p:nvSpPr>
        <p:spPr>
          <a:xfrm>
            <a:off x="6224321"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CAD, Class A surfaces, BIM or inspection built from that data.</a:t>
            </a:r>
            <a:endParaRPr lang="en-US" sz="1300" dirty="0"/>
          </a:p>
        </p:txBody>
      </p:sp>
      <p:pic>
        <p:nvPicPr>
          <p:cNvPr id="17" name="Step Deliver" descr="C:\Users\ADMIN\Desktop\TEMP\VSHARK_Website\collateral\assets\printing.jpg">    </p:cNvPr>
          <p:cNvPicPr>
            <a:picLocks noChangeAspect="1"/>
          </p:cNvPicPr>
          <p:nvPr/>
        </p:nvPicPr>
        <p:blipFill>
          <a:blip r:embed="rId4"/>
          <a:srcRect l="0" r="0" t="11607" b="11607"/>
          <a:stretch/>
        </p:blipFill>
        <p:spPr>
          <a:xfrm>
            <a:off x="9031529" y="1828800"/>
            <a:ext cx="2560320" cy="1965960"/>
          </a:xfrm>
          <a:prstGeom prst="rect">
            <a:avLst/>
          </a:prstGeom>
        </p:spPr>
      </p:pic>
      <p:sp>
        <p:nvSpPr>
          <p:cNvPr id="18" name="Text 11"/>
          <p:cNvSpPr txBox="1"/>
          <p:nvPr/>
        </p:nvSpPr>
        <p:spPr>
          <a:xfrm>
            <a:off x="9031529"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04</a:t>
            </a:r>
            <a:endParaRPr lang="en-US" sz="3600" dirty="0"/>
          </a:p>
        </p:txBody>
      </p:sp>
      <p:sp>
        <p:nvSpPr>
          <p:cNvPr id="19" name="Text 12"/>
          <p:cNvSpPr txBox="1"/>
          <p:nvPr/>
        </p:nvSpPr>
        <p:spPr>
          <a:xfrm>
            <a:off x="9031529"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Deliver</a:t>
            </a:r>
            <a:endParaRPr lang="en-US" sz="2000" dirty="0"/>
          </a:p>
        </p:txBody>
      </p:sp>
      <p:sp>
        <p:nvSpPr>
          <p:cNvPr id="20" name="Text 13"/>
          <p:cNvSpPr txBox="1"/>
          <p:nvPr/>
        </p:nvSpPr>
        <p:spPr>
          <a:xfrm>
            <a:off x="9031529"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CAD files, drawings and reports in the formats your team uses.</a:t>
            </a:r>
            <a:endParaRPr lang="en-US" sz="13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( 02.1 )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Scanning</a:t>
            </a:r>
            <a:endParaRPr lang="en-US" sz="3200" dirty="0"/>
          </a:p>
        </p:txBody>
      </p:sp>
      <p:pic>
        <p:nvPicPr>
          <p:cNvPr id="5" name="3D Scanning" descr="C:\Users\ADMIN\Desktop\TEMP\VSHARK_Website\collateral\assets\01-scann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01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Capture any part, product or space as an accurate digital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High-accuracy capture</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Blue-laser and structured-light scanners record detail down to hundredths of a millimetre.</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Any size, on site or in-house</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From jewellery to vehicles and plant rooms — we bring the scanner to you when the part can't travel.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Clean, usable data</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Scans are aligned, cleaned and merged into watertight meshes, not raw point dumps.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Ready for the next step</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Data is prepared for reverse engineering, inspection, printing or visualisation.</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Point cloud (.PLY, .TXT)</a:t>
            </a:r>
            <a:endParaRPr lang="en-US" sz="1000" dirty="0"/>
          </a:p>
        </p:txBody>
      </p:sp>
      <p:sp>
        <p:nvSpPr>
          <p:cNvPr id="21" name="Shape 17"/>
          <p:cNvSpPr/>
          <p:nvPr/>
        </p:nvSpPr>
        <p:spPr>
          <a:xfrm>
            <a:off x="7715707" y="512064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7715707" y="512064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Mesh (.STL, .OBJ)</a:t>
            </a:r>
            <a:endParaRPr lang="en-US" sz="1000" dirty="0"/>
          </a:p>
        </p:txBody>
      </p:sp>
      <p:sp>
        <p:nvSpPr>
          <p:cNvPr id="23" name="Shape 19"/>
          <p:cNvSpPr/>
          <p:nvPr/>
        </p:nvSpPr>
        <p:spPr>
          <a:xfrm>
            <a:off x="9164117" y="5120640"/>
            <a:ext cx="1572768"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164117" y="5120640"/>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Colour/texture scans</a:t>
            </a:r>
            <a:endParaRPr lang="en-US" sz="1000" dirty="0"/>
          </a:p>
        </p:txBody>
      </p:sp>
      <p:sp>
        <p:nvSpPr>
          <p:cNvPr id="25" name="Shape 21"/>
          <p:cNvSpPr/>
          <p:nvPr/>
        </p:nvSpPr>
        <p:spPr>
          <a:xfrm>
            <a:off x="5806440" y="5468112"/>
            <a:ext cx="980237"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980237" cy="274320"/>
          </a:xfrm>
          <a:prstGeom prst="rect">
            <a:avLst/>
          </a:prstGeom>
          <a:noFill/>
          <a:ln/>
        </p:spPr>
        <p:txBody>
          <a:bodyPr wrap="square" lIns="0" tIns="0" rIns="0" bIns="0" rtlCol="0" anchor="ctr"/>
          <a:lstStyle/>
          <a:p>
            <a:pPr algn="ctr" indent="0" marL="0">
              <a:buNone/>
            </a:pPr>
            <a:r>
              <a:rPr lang="en-US" sz="1000" dirty="0">
                <a:solidFill>
                  <a:schemeClr val="accent6"/>
                </a:solidFill>
              </a:rPr>
              <a:t>Scan report</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4" name="Shape 30"/>
          <p:cNvSpPr/>
          <p:nvPr/>
        </p:nvSpPr>
        <p:spPr>
          <a:xfrm>
            <a:off x="8703259" y="6080760"/>
            <a:ext cx="848563"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8703259"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6" name="Shape 32"/>
          <p:cNvSpPr/>
          <p:nvPr/>
        </p:nvSpPr>
        <p:spPr>
          <a:xfrm>
            <a:off x="9624974" y="6080760"/>
            <a:ext cx="848563" cy="274320"/>
          </a:xfrm>
          <a:prstGeom prst="roundRect">
            <a:avLst>
              <a:gd name="adj" fmla="val 50000"/>
            </a:avLst>
          </a:prstGeom>
          <a:solidFill>
            <a:schemeClr val="bg2"/>
          </a:solidFill>
          <a:ln w="9525">
            <a:solidFill>
              <a:schemeClr val="accent2"/>
            </a:solidFill>
            <a:prstDash val="solid"/>
          </a:ln>
        </p:spPr>
      </p:sp>
      <p:sp>
        <p:nvSpPr>
          <p:cNvPr id="37" name="Text 33"/>
          <p:cNvSpPr txBox="1"/>
          <p:nvPr/>
        </p:nvSpPr>
        <p:spPr>
          <a:xfrm>
            <a:off x="9624974"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( 02.2 )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Reverse Engineering</a:t>
            </a:r>
            <a:endParaRPr lang="en-US" sz="3200" dirty="0"/>
          </a:p>
        </p:txBody>
      </p:sp>
      <p:pic>
        <p:nvPicPr>
          <p:cNvPr id="5" name="Reverse Engineering" descr="C:\Users\ADMIN\Desktop\TEMP\VSHARK_Website\collateral\assets\02-reverse-engineer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02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Turn scan data into fully editable, manufacturable CAD.</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rebuild physical parts as parametric CAD models — for re-manufacturing legacy parts with no drawings, modifying existing designs, or creating moulds and tooling. You choose how faithful the model should be to the scanned part.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Design-intent modelling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A clean CAD model with manufacturing imperfections removed — ideal for re-manufacture from 3D models or 2D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NURBS surface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Precise freeform surfaces fitted over scan data where an exact as-is representation matters.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Hybrid modelling</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Prismatic features modelled to design intent, freeform areas surfaced to the scan — the best of both.</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on request</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2D manufacturing drawings with GD&amp;T generated from the final model.</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Parametric CAD (.STEP, .IGES, .X_T)</a:t>
            </a:r>
            <a:endParaRPr lang="en-US" sz="1000" dirty="0"/>
          </a:p>
        </p:txBody>
      </p:sp>
      <p:sp>
        <p:nvSpPr>
          <p:cNvPr id="21" name="Shape 17"/>
          <p:cNvSpPr/>
          <p:nvPr/>
        </p:nvSpPr>
        <p:spPr>
          <a:xfrm>
            <a:off x="8439912" y="5120640"/>
            <a:ext cx="1309421"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439912" y="5120640"/>
            <a:ext cx="1309421" cy="274320"/>
          </a:xfrm>
          <a:prstGeom prst="rect">
            <a:avLst/>
          </a:prstGeom>
          <a:noFill/>
          <a:ln/>
        </p:spPr>
        <p:txBody>
          <a:bodyPr wrap="square" lIns="0" tIns="0" rIns="0" bIns="0" rtlCol="0" anchor="ctr"/>
          <a:lstStyle/>
          <a:p>
            <a:pPr algn="ctr" indent="0" marL="0">
              <a:buNone/>
            </a:pPr>
            <a:r>
              <a:rPr lang="en-US" sz="1000" dirty="0">
                <a:solidFill>
                  <a:schemeClr val="accent6"/>
                </a:solidFill>
              </a:rPr>
              <a:t>Scan data (.STL)</a:t>
            </a:r>
            <a:endParaRPr lang="en-US" sz="1000" dirty="0"/>
          </a:p>
        </p:txBody>
      </p:sp>
      <p:sp>
        <p:nvSpPr>
          <p:cNvPr id="23" name="Shape 19"/>
          <p:cNvSpPr/>
          <p:nvPr/>
        </p:nvSpPr>
        <p:spPr>
          <a:xfrm>
            <a:off x="5806440" y="5468112"/>
            <a:ext cx="1836115"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2D drawings (.PDF, .DWG)</a:t>
            </a:r>
            <a:endParaRPr lang="en-US" sz="1000" dirty="0"/>
          </a:p>
        </p:txBody>
      </p:sp>
      <p:sp>
        <p:nvSpPr>
          <p:cNvPr id="25" name="Shape 21"/>
          <p:cNvSpPr/>
          <p:nvPr/>
        </p:nvSpPr>
        <p:spPr>
          <a:xfrm>
            <a:off x="7715707" y="5468112"/>
            <a:ext cx="1901952"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7715707" y="5468112"/>
            <a:ext cx="1901952" cy="274320"/>
          </a:xfrm>
          <a:prstGeom prst="rect">
            <a:avLst/>
          </a:prstGeom>
          <a:noFill/>
          <a:ln/>
        </p:spPr>
        <p:txBody>
          <a:bodyPr wrap="square" lIns="0" tIns="0" rIns="0" bIns="0" rtlCol="0" anchor="ctr"/>
          <a:lstStyle/>
          <a:p>
            <a:pPr algn="ctr" indent="0" marL="0">
              <a:buNone/>
            </a:pPr>
            <a:r>
              <a:rPr lang="en-US" sz="1000" dirty="0">
                <a:solidFill>
                  <a:schemeClr val="accent6"/>
                </a:solidFill>
              </a:rPr>
              <a:t>Deviation report vs. scan</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914400"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0" name="Shape 26"/>
          <p:cNvSpPr/>
          <p:nvPr/>
        </p:nvSpPr>
        <p:spPr>
          <a:xfrm>
            <a:off x="6793992"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93992"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( 02.3 )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to BIM</a:t>
            </a:r>
            <a:endParaRPr lang="en-US" sz="3200" dirty="0"/>
          </a:p>
        </p:txBody>
      </p:sp>
      <p:pic>
        <p:nvPicPr>
          <p:cNvPr id="5" name="Scan to BIM" descr="C:\Users\ADMIN\Desktop\TEMP\VSHARK_Website\collateral\assets\bim.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03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Existing buildings captured as accurate, intelligent BIM models.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As-built accuracy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Terrestrial laser scanning records the true geometry of the building, not the original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LOD 200–400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Walls, floors, structure and MEP modelled to the level of detail your project needs.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Clash-ready coordination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Models are set up for coordination with new design work in Revit and Navisworks.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from the model</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Floor plans, sections and elevations exported straight from the BIM.</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Registered point cloud (.E57, .RCP)</a:t>
            </a:r>
            <a:endParaRPr lang="en-US" sz="1000" dirty="0"/>
          </a:p>
        </p:txBody>
      </p:sp>
      <p:sp>
        <p:nvSpPr>
          <p:cNvPr id="21" name="Shape 17"/>
          <p:cNvSpPr/>
          <p:nvPr/>
        </p:nvSpPr>
        <p:spPr>
          <a:xfrm>
            <a:off x="8439912" y="5120640"/>
            <a:ext cx="1441094"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439912" y="5120640"/>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Revit model (.RVT)</a:t>
            </a:r>
            <a:endParaRPr lang="en-US" sz="1000" dirty="0"/>
          </a:p>
        </p:txBody>
      </p:sp>
      <p:sp>
        <p:nvSpPr>
          <p:cNvPr id="23" name="Shape 19"/>
          <p:cNvSpPr/>
          <p:nvPr/>
        </p:nvSpPr>
        <p:spPr>
          <a:xfrm>
            <a:off x="9954158" y="5120640"/>
            <a:ext cx="914400"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954158" y="5120640"/>
            <a:ext cx="914400" cy="274320"/>
          </a:xfrm>
          <a:prstGeom prst="rect">
            <a:avLst/>
          </a:prstGeom>
          <a:noFill/>
          <a:ln/>
        </p:spPr>
        <p:txBody>
          <a:bodyPr wrap="square" lIns="0" tIns="0" rIns="0" bIns="0" rtlCol="0" anchor="ctr"/>
          <a:lstStyle/>
          <a:p>
            <a:pPr algn="ctr" indent="0" marL="0">
              <a:buNone/>
            </a:pPr>
            <a:r>
              <a:rPr lang="en-US" sz="1000" dirty="0">
                <a:solidFill>
                  <a:schemeClr val="accent6"/>
                </a:solidFill>
              </a:rPr>
              <a:t>IFC export</a:t>
            </a:r>
            <a:endParaRPr lang="en-US" sz="1000" dirty="0"/>
          </a:p>
        </p:txBody>
      </p:sp>
      <p:sp>
        <p:nvSpPr>
          <p:cNvPr id="25" name="Shape 21"/>
          <p:cNvSpPr/>
          <p:nvPr/>
        </p:nvSpPr>
        <p:spPr>
          <a:xfrm>
            <a:off x="5806440" y="5468112"/>
            <a:ext cx="2231136"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2D plans, sections, elevations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1046074"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0" name="Shape 26"/>
          <p:cNvSpPr/>
          <p:nvPr/>
        </p:nvSpPr>
        <p:spPr>
          <a:xfrm>
            <a:off x="6925666"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925666"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2" name="Shape 28"/>
          <p:cNvSpPr/>
          <p:nvPr/>
        </p:nvSpPr>
        <p:spPr>
          <a:xfrm>
            <a:off x="7847381"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847381"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( 02.4 )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Class A Surfacing</a:t>
            </a:r>
            <a:endParaRPr lang="en-US" sz="3200" dirty="0"/>
          </a:p>
        </p:txBody>
      </p:sp>
      <p:pic>
        <p:nvPicPr>
          <p:cNvPr id="5" name="Class A Surfacing" descr="C:\Users\ADMIN\Desktop\TEMP\VSHARK_Website\collateral\assets\class-a.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04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Flawless, curvature-continuous surfaces for visible parts.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G2 / G3 continuity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Curvature-continuous transitions between every patch for perfect reflections.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Analysis-verified</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Zebra stripes, highlight lines and curvature combs checked on every surface.</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From scan or sketch</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Start from a clay-model scan, a reference surface or concept sketches.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Tooling-ready</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Surfaces handed over with draft, flanges and offsets ready for engineering.</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296973"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Class A surfaces (.IGES, .STEP)</a:t>
            </a:r>
            <a:endParaRPr lang="en-US" sz="1000" dirty="0"/>
          </a:p>
        </p:txBody>
      </p:sp>
      <p:sp>
        <p:nvSpPr>
          <p:cNvPr id="21" name="Shape 17"/>
          <p:cNvSpPr/>
          <p:nvPr/>
        </p:nvSpPr>
        <p:spPr>
          <a:xfrm>
            <a:off x="8176565" y="5120640"/>
            <a:ext cx="1836115"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176565"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Surface-analysis reports</a:t>
            </a:r>
            <a:endParaRPr lang="en-US" sz="1000" dirty="0"/>
          </a:p>
        </p:txBody>
      </p:sp>
      <p:sp>
        <p:nvSpPr>
          <p:cNvPr id="23" name="Shape 19"/>
          <p:cNvSpPr/>
          <p:nvPr/>
        </p:nvSpPr>
        <p:spPr>
          <a:xfrm>
            <a:off x="10085832" y="5120640"/>
            <a:ext cx="1441094"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10085832" y="5120640"/>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Render-ready model</a:t>
            </a:r>
            <a:endParaRPr lang="en-US" sz="1000" dirty="0"/>
          </a:p>
        </p:txBody>
      </p:sp>
      <p:sp>
        <p:nvSpPr>
          <p:cNvPr id="25" name="Text 21"/>
          <p:cNvSpPr txBox="1"/>
          <p:nvPr/>
        </p:nvSpPr>
        <p:spPr>
          <a:xfrm>
            <a:off x="5806440" y="5504688"/>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6" name="Shape 22"/>
          <p:cNvSpPr/>
          <p:nvPr/>
        </p:nvSpPr>
        <p:spPr>
          <a:xfrm>
            <a:off x="5806440" y="5733288"/>
            <a:ext cx="914400" cy="274320"/>
          </a:xfrm>
          <a:prstGeom prst="roundRect">
            <a:avLst>
              <a:gd name="adj" fmla="val 50000"/>
            </a:avLst>
          </a:prstGeom>
          <a:solidFill>
            <a:schemeClr val="bg2"/>
          </a:solidFill>
          <a:ln w="9525">
            <a:solidFill>
              <a:schemeClr val="accent2"/>
            </a:solidFill>
            <a:prstDash val="solid"/>
          </a:ln>
        </p:spPr>
      </p:sp>
      <p:sp>
        <p:nvSpPr>
          <p:cNvPr id="27" name="Text 23"/>
          <p:cNvSpPr txBox="1"/>
          <p:nvPr/>
        </p:nvSpPr>
        <p:spPr>
          <a:xfrm>
            <a:off x="5806440" y="5733288"/>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8" name="Shape 24"/>
          <p:cNvSpPr/>
          <p:nvPr/>
        </p:nvSpPr>
        <p:spPr>
          <a:xfrm>
            <a:off x="6793992" y="5733288"/>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6793992" y="5733288"/>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( 02.5 )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Digital Metrology</a:t>
            </a:r>
            <a:endParaRPr lang="en-US" sz="3200" dirty="0"/>
          </a:p>
        </p:txBody>
      </p:sp>
      <p:pic>
        <p:nvPicPr>
          <p:cNvPr id="5" name="Digital Metrology" descr="C:\Users\ADMIN\Desktop\TEMP\VSHARK_Website\collateral\assets\digital.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05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Compare manufactured parts to their CAD — to the micron.</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inspect manufactured parts by scanning them and comparing the result against the nominal CAD. Colour deviation maps, GD&amp;T checks and first-article reports show exactly where a part is in or out of tolerance — fast, and without contact.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Colour deviation maps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Full-surface comparison against CAD, instantly showing where material is over or under.</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GD&amp;T inspection</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Flatness, position, profile and more, measured and reported against the drawing.</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First-article inspection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Complete FAI reports for new parts, tools and suppliers.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Trend analysis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Repeated inspections track tool wear and process drift over time.</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Inspection report (.PDF)</a:t>
            </a:r>
            <a:endParaRPr lang="en-US" sz="1000" dirty="0"/>
          </a:p>
        </p:txBody>
      </p:sp>
      <p:sp>
        <p:nvSpPr>
          <p:cNvPr id="21" name="Shape 17"/>
          <p:cNvSpPr/>
          <p:nvPr/>
        </p:nvSpPr>
        <p:spPr>
          <a:xfrm>
            <a:off x="7715707" y="5120640"/>
            <a:ext cx="1638605"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7715707" y="5120640"/>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 deviation maps</a:t>
            </a:r>
            <a:endParaRPr lang="en-US" sz="1000" dirty="0"/>
          </a:p>
        </p:txBody>
      </p:sp>
      <p:sp>
        <p:nvSpPr>
          <p:cNvPr id="23" name="Shape 19"/>
          <p:cNvSpPr/>
          <p:nvPr/>
        </p:nvSpPr>
        <p:spPr>
          <a:xfrm>
            <a:off x="9427464" y="5120640"/>
            <a:ext cx="1506931"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427464" y="5120640"/>
            <a:ext cx="1506931" cy="274320"/>
          </a:xfrm>
          <a:prstGeom prst="rect">
            <a:avLst/>
          </a:prstGeom>
          <a:noFill/>
          <a:ln/>
        </p:spPr>
        <p:txBody>
          <a:bodyPr wrap="square" lIns="0" tIns="0" rIns="0" bIns="0" rtlCol="0" anchor="ctr"/>
          <a:lstStyle/>
          <a:p>
            <a:pPr algn="ctr" indent="0" marL="0">
              <a:buNone/>
            </a:pPr>
            <a:r>
              <a:rPr lang="en-US" sz="1000" dirty="0">
                <a:solidFill>
                  <a:schemeClr val="accent6"/>
                </a:solidFill>
              </a:rPr>
              <a:t>GD&amp;T results tables</a:t>
            </a:r>
            <a:endParaRPr lang="en-US" sz="1000" dirty="0"/>
          </a:p>
        </p:txBody>
      </p:sp>
      <p:sp>
        <p:nvSpPr>
          <p:cNvPr id="25" name="Shape 21"/>
          <p:cNvSpPr/>
          <p:nvPr/>
        </p:nvSpPr>
        <p:spPr>
          <a:xfrm>
            <a:off x="5806440" y="5468112"/>
            <a:ext cx="163860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Scan data for records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( 02.6 )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Printing</a:t>
            </a:r>
            <a:endParaRPr lang="en-US" sz="3200" dirty="0"/>
          </a:p>
        </p:txBody>
      </p:sp>
      <p:pic>
        <p:nvPicPr>
          <p:cNvPr id="5" name="3D Printing" descr="C:\Users\ADMIN\Desktop\TEMP\VSHARK_Website\collateral\assets\print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06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Rapid prototypes and functional parts, straight from your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print prototypes, fit-check models, jigs, fixtures and short-run end-use parts directly from CAD or scan data. Our team also prepares and repairs files — including sculpted character models — so they print right the first time.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Rapid prototyping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Physical parts in days to check form, fit and function before tooling.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FDM and SLA printing</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FDM engineering plastics for strong parts, SLA resins for fine detail.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Print-ready preparation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Mesh repair, hollowing, supports and orientation handled for you.</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Character &amp; figure models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Digitally sculpted busts and figures prepared for high-detail resin printing.</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11191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111910" cy="274320"/>
          </a:xfrm>
          <a:prstGeom prst="rect">
            <a:avLst/>
          </a:prstGeom>
          <a:noFill/>
          <a:ln/>
        </p:spPr>
        <p:txBody>
          <a:bodyPr wrap="square" lIns="0" tIns="0" rIns="0" bIns="0" rtlCol="0" anchor="ctr"/>
          <a:lstStyle/>
          <a:p>
            <a:pPr algn="ctr" indent="0" marL="0">
              <a:buNone/>
            </a:pPr>
            <a:r>
              <a:rPr lang="en-US" sz="1000" dirty="0">
                <a:solidFill>
                  <a:schemeClr val="accent6"/>
                </a:solidFill>
              </a:rPr>
              <a:t>Printed parts</a:t>
            </a:r>
            <a:endParaRPr lang="en-US" sz="1000" dirty="0"/>
          </a:p>
        </p:txBody>
      </p:sp>
      <p:sp>
        <p:nvSpPr>
          <p:cNvPr id="21" name="Shape 17"/>
          <p:cNvSpPr/>
          <p:nvPr/>
        </p:nvSpPr>
        <p:spPr>
          <a:xfrm>
            <a:off x="6991502" y="5120640"/>
            <a:ext cx="2231136"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6991502" y="5120640"/>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Print-ready files (.STL, .3MF)</a:t>
            </a:r>
            <a:endParaRPr lang="en-US" sz="1000" dirty="0"/>
          </a:p>
        </p:txBody>
      </p:sp>
      <p:sp>
        <p:nvSpPr>
          <p:cNvPr id="23" name="Shape 19"/>
          <p:cNvSpPr/>
          <p:nvPr/>
        </p:nvSpPr>
        <p:spPr>
          <a:xfrm>
            <a:off x="5806440" y="5468112"/>
            <a:ext cx="2296973"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Finishing / painting on request</a:t>
            </a:r>
            <a:endParaRPr lang="en-US" sz="1000" dirty="0"/>
          </a:p>
        </p:txBody>
      </p:sp>
      <p:sp>
        <p:nvSpPr>
          <p:cNvPr id="25" name="Shape 21"/>
          <p:cNvSpPr/>
          <p:nvPr/>
        </p:nvSpPr>
        <p:spPr>
          <a:xfrm>
            <a:off x="8176565" y="5468112"/>
            <a:ext cx="183611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8176565"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Small production batches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2" name="Shape 28"/>
          <p:cNvSpPr/>
          <p:nvPr/>
        </p:nvSpPr>
        <p:spPr>
          <a:xfrm>
            <a:off x="7715707" y="6080760"/>
            <a:ext cx="848563"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4" name="Shape 30"/>
          <p:cNvSpPr/>
          <p:nvPr/>
        </p:nvSpPr>
        <p:spPr>
          <a:xfrm>
            <a:off x="8637422" y="6080760"/>
            <a:ext cx="914400"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8637422"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( 02.7 )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Product Rendering</a:t>
            </a:r>
            <a:endParaRPr lang="en-US" sz="3200" dirty="0"/>
          </a:p>
        </p:txBody>
      </p:sp>
      <p:pic>
        <p:nvPicPr>
          <p:cNvPr id="5" name="Product Rendering" descr="C:\Users\ADMIN\Desktop\TEMP\VSHARK_Website\collateral\assets\product-render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07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Photoreal visuals that sell a product before it is ever made.</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turn CAD and design models into photorealistic images and animations for marketing, presentations and design reviews. Materials, lighting and scenes are tuned so your product looks real — and looks its best — before the first unit is built.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Photoreal stills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Studio and lifestyle shots with accurate materials, finishes and lighting.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Animations &amp; turntables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Exploded views, assembly sequences and 360° spins.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Interiors &amp; exhibitions</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Spaces, stands and environments visualised before construction.</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Jewellery visualisation</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Metals and gemstones rendered with true reflections and sparkle.</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165299"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165299" cy="274320"/>
          </a:xfrm>
          <a:prstGeom prst="rect">
            <a:avLst/>
          </a:prstGeom>
          <a:noFill/>
          <a:ln/>
        </p:spPr>
        <p:txBody>
          <a:bodyPr wrap="square" lIns="0" tIns="0" rIns="0" bIns="0" rtlCol="0" anchor="ctr"/>
          <a:lstStyle/>
          <a:p>
            <a:pPr algn="ctr" indent="0" marL="0">
              <a:buNone/>
            </a:pPr>
            <a:r>
              <a:rPr lang="en-US" sz="1000" dirty="0">
                <a:solidFill>
                  <a:schemeClr val="accent6"/>
                </a:solidFill>
              </a:rPr>
              <a:t>High-res stills (.PNG, .TIFF)</a:t>
            </a:r>
            <a:endParaRPr lang="en-US" sz="1000" dirty="0"/>
          </a:p>
        </p:txBody>
      </p:sp>
      <p:sp>
        <p:nvSpPr>
          <p:cNvPr id="21" name="Shape 17"/>
          <p:cNvSpPr/>
          <p:nvPr/>
        </p:nvSpPr>
        <p:spPr>
          <a:xfrm>
            <a:off x="8044891" y="512064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044891" y="512064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Animations (.MP4)</a:t>
            </a:r>
            <a:endParaRPr lang="en-US" sz="1000" dirty="0"/>
          </a:p>
        </p:txBody>
      </p:sp>
      <p:sp>
        <p:nvSpPr>
          <p:cNvPr id="23" name="Shape 19"/>
          <p:cNvSpPr/>
          <p:nvPr/>
        </p:nvSpPr>
        <p:spPr>
          <a:xfrm>
            <a:off x="9493301" y="5120640"/>
            <a:ext cx="1243584"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493301" y="5120640"/>
            <a:ext cx="1243584" cy="274320"/>
          </a:xfrm>
          <a:prstGeom prst="rect">
            <a:avLst/>
          </a:prstGeom>
          <a:noFill/>
          <a:ln/>
        </p:spPr>
        <p:txBody>
          <a:bodyPr wrap="square" lIns="0" tIns="0" rIns="0" bIns="0" rtlCol="0" anchor="ctr"/>
          <a:lstStyle/>
          <a:p>
            <a:pPr algn="ctr" indent="0" marL="0">
              <a:buNone/>
            </a:pPr>
            <a:r>
              <a:rPr lang="en-US" sz="1000" dirty="0">
                <a:solidFill>
                  <a:schemeClr val="accent6"/>
                </a:solidFill>
              </a:rPr>
              <a:t>360° turntables</a:t>
            </a:r>
            <a:endParaRPr lang="en-US" sz="1000" dirty="0"/>
          </a:p>
        </p:txBody>
      </p:sp>
      <p:sp>
        <p:nvSpPr>
          <p:cNvPr id="25" name="Shape 21"/>
          <p:cNvSpPr/>
          <p:nvPr/>
        </p:nvSpPr>
        <p:spPr>
          <a:xfrm>
            <a:off x="5806440" y="5468112"/>
            <a:ext cx="1572768"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Web-ready image sets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0" name="Shape 26"/>
          <p:cNvSpPr/>
          <p:nvPr/>
        </p:nvSpPr>
        <p:spPr>
          <a:xfrm>
            <a:off x="6728155" y="6080760"/>
            <a:ext cx="1046074"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2" name="Shape 28"/>
          <p:cNvSpPr/>
          <p:nvPr/>
        </p:nvSpPr>
        <p:spPr>
          <a:xfrm>
            <a:off x="7847381"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847381"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in.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CAD out.</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Real parts we have captured and rebuilt as editable, manufacturable CAD.</a:t>
            </a:r>
            <a:endParaRPr lang="en-US" sz="1200" dirty="0"/>
          </a:p>
        </p:txBody>
      </p:sp>
      <p:pic>
        <p:nvPicPr>
          <p:cNvPr id="6" name="Engine Cylinder Head scan" descr="C:\Users\ADMIN\Desktop\TEMP\VSHARK_Website\collateral\assets\cylinder-head-scan.jpg">    </p:cNvPr>
          <p:cNvPicPr>
            <a:picLocks noChangeAspect="1"/>
          </p:cNvPicPr>
          <p:nvPr/>
        </p:nvPicPr>
        <p:blipFill>
          <a:blip r:embed="rId1"/>
          <a:srcRect l="0" r="0" t="2133" b="2133"/>
          <a:stretch/>
        </p:blipFill>
        <p:spPr>
          <a:xfrm>
            <a:off x="609905" y="1783080"/>
            <a:ext cx="2651760" cy="1691640"/>
          </a:xfrm>
          <a:prstGeom prst="rect">
            <a:avLst/>
          </a:prstGeom>
        </p:spPr>
      </p:pic>
      <p:pic>
        <p:nvPicPr>
          <p:cNvPr id="7" name="Engine Cylinder Head CAD" descr="C:\Users\ADMIN\Desktop\TEMP\VSHARK_Website\collateral\assets\cylinder-head-cad.jpg">    </p:cNvPr>
          <p:cNvPicPr>
            <a:picLocks noChangeAspect="1"/>
          </p:cNvPicPr>
          <p:nvPr/>
        </p:nvPicPr>
        <p:blipFill>
          <a:blip r:embed="rId2"/>
          <a:srcRect l="0" r="0" t="2133" b="2133"/>
          <a:stretch/>
        </p:blipFill>
        <p:spPr>
          <a:xfrm>
            <a:off x="3353105" y="1783080"/>
            <a:ext cx="2651760" cy="1691640"/>
          </a:xfrm>
          <a:prstGeom prst="rect">
            <a:avLst/>
          </a:prstGeom>
        </p:spPr>
      </p:pic>
      <p:sp>
        <p:nvSpPr>
          <p:cNvPr id="8" name="Shape 3"/>
          <p:cNvSpPr/>
          <p:nvPr/>
        </p:nvSpPr>
        <p:spPr>
          <a:xfrm>
            <a:off x="701345" y="1874520"/>
            <a:ext cx="457200" cy="237744"/>
          </a:xfrm>
          <a:prstGeom prst="rect">
            <a:avLst/>
          </a:prstGeom>
          <a:solidFill>
            <a:schemeClr val="tx2">
              <a:alpha val="85000"/>
            </a:schemeClr>
          </a:solidFill>
          <a:ln/>
        </p:spPr>
      </p:sp>
      <p:sp>
        <p:nvSpPr>
          <p:cNvPr id="9" name="Text 4"/>
          <p:cNvSpPr txBox="1"/>
          <p:nvPr/>
        </p:nvSpPr>
        <p:spPr>
          <a:xfrm>
            <a:off x="70134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0" name="Shape 5"/>
          <p:cNvSpPr/>
          <p:nvPr/>
        </p:nvSpPr>
        <p:spPr>
          <a:xfrm>
            <a:off x="3444545" y="1874520"/>
            <a:ext cx="388620" cy="237744"/>
          </a:xfrm>
          <a:prstGeom prst="rect">
            <a:avLst/>
          </a:prstGeom>
          <a:solidFill>
            <a:schemeClr val="accent1"/>
          </a:solidFill>
          <a:ln/>
        </p:spPr>
      </p:sp>
      <p:sp>
        <p:nvSpPr>
          <p:cNvPr id="11" name="Text 6"/>
          <p:cNvSpPr txBox="1"/>
          <p:nvPr/>
        </p:nvSpPr>
        <p:spPr>
          <a:xfrm>
            <a:off x="344454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2" name="Text 7"/>
          <p:cNvSpPr txBox="1"/>
          <p:nvPr/>
        </p:nvSpPr>
        <p:spPr>
          <a:xfrm>
            <a:off x="60990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Engine Cylinder Head  </a:t>
            </a:r>
            <a:pPr indent="0" marL="0">
              <a:buNone/>
            </a:pPr>
            <a:r>
              <a:rPr lang="en-US" sz="1100" dirty="0">
                <a:solidFill>
                  <a:schemeClr val="accent3"/>
                </a:solidFill>
              </a:rPr>
              <a:t>Engine cylinder head scanned and rebuilt as parametric CAD.</a:t>
            </a:r>
            <a:endParaRPr lang="en-US" sz="1100" dirty="0"/>
          </a:p>
        </p:txBody>
      </p:sp>
      <p:pic>
        <p:nvPicPr>
          <p:cNvPr id="13" name="Impeller scan" descr="C:\Users\ADMIN\Desktop\TEMP\VSHARK_Website\collateral\assets\scan-impeller.jpg">    </p:cNvPr>
          <p:cNvPicPr>
            <a:picLocks noChangeAspect="1"/>
          </p:cNvPicPr>
          <p:nvPr/>
        </p:nvPicPr>
        <p:blipFill>
          <a:blip r:embed="rId3"/>
          <a:srcRect l="0" r="0" t="2133" b="2133"/>
          <a:stretch/>
        </p:blipFill>
        <p:spPr>
          <a:xfrm>
            <a:off x="6187745" y="1783080"/>
            <a:ext cx="2651760" cy="1691640"/>
          </a:xfrm>
          <a:prstGeom prst="rect">
            <a:avLst/>
          </a:prstGeom>
        </p:spPr>
      </p:pic>
      <p:pic>
        <p:nvPicPr>
          <p:cNvPr id="14" name="Impeller CAD" descr="C:\Users\ADMIN\Desktop\TEMP\VSHARK_Website\collateral\assets\cad-impeller.jpg">    </p:cNvPr>
          <p:cNvPicPr>
            <a:picLocks noChangeAspect="1"/>
          </p:cNvPicPr>
          <p:nvPr/>
        </p:nvPicPr>
        <p:blipFill>
          <a:blip r:embed="rId4"/>
          <a:srcRect l="0" r="0" t="2133" b="2133"/>
          <a:stretch/>
        </p:blipFill>
        <p:spPr>
          <a:xfrm>
            <a:off x="8930945" y="1783080"/>
            <a:ext cx="2651760" cy="1691640"/>
          </a:xfrm>
          <a:prstGeom prst="rect">
            <a:avLst/>
          </a:prstGeom>
        </p:spPr>
      </p:pic>
      <p:sp>
        <p:nvSpPr>
          <p:cNvPr id="15" name="Shape 8"/>
          <p:cNvSpPr/>
          <p:nvPr/>
        </p:nvSpPr>
        <p:spPr>
          <a:xfrm>
            <a:off x="6279185" y="1874520"/>
            <a:ext cx="457200" cy="237744"/>
          </a:xfrm>
          <a:prstGeom prst="rect">
            <a:avLst/>
          </a:prstGeom>
          <a:solidFill>
            <a:schemeClr val="tx2">
              <a:alpha val="85000"/>
            </a:schemeClr>
          </a:solidFill>
          <a:ln/>
        </p:spPr>
      </p:sp>
      <p:sp>
        <p:nvSpPr>
          <p:cNvPr id="16" name="Text 9"/>
          <p:cNvSpPr txBox="1"/>
          <p:nvPr/>
        </p:nvSpPr>
        <p:spPr>
          <a:xfrm>
            <a:off x="627918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7" name="Shape 10"/>
          <p:cNvSpPr/>
          <p:nvPr/>
        </p:nvSpPr>
        <p:spPr>
          <a:xfrm>
            <a:off x="9022385" y="1874520"/>
            <a:ext cx="388620" cy="237744"/>
          </a:xfrm>
          <a:prstGeom prst="rect">
            <a:avLst/>
          </a:prstGeom>
          <a:solidFill>
            <a:schemeClr val="accent1"/>
          </a:solidFill>
          <a:ln/>
        </p:spPr>
      </p:sp>
      <p:sp>
        <p:nvSpPr>
          <p:cNvPr id="18" name="Text 11"/>
          <p:cNvSpPr txBox="1"/>
          <p:nvPr/>
        </p:nvSpPr>
        <p:spPr>
          <a:xfrm>
            <a:off x="902238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9" name="Text 12"/>
          <p:cNvSpPr txBox="1"/>
          <p:nvPr/>
        </p:nvSpPr>
        <p:spPr>
          <a:xfrm>
            <a:off x="618774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Impeller  </a:t>
            </a:r>
            <a:pPr indent="0" marL="0">
              <a:buNone/>
            </a:pPr>
            <a:r>
              <a:rPr lang="en-US" sz="1100" dirty="0">
                <a:solidFill>
                  <a:schemeClr val="accent3"/>
                </a:solidFill>
              </a:rPr>
              <a:t>Bladed impeller captured and modelled with precise freeform blade surfaces.</a:t>
            </a:r>
            <a:endParaRPr lang="en-US" sz="1100" dirty="0"/>
          </a:p>
        </p:txBody>
      </p:sp>
      <p:pic>
        <p:nvPicPr>
          <p:cNvPr id="20" name="Motorcycle Frame scan" descr="C:\Users\ADMIN\Desktop\TEMP\VSHARK_Website\collateral\assets\bike-scan.jpg">    </p:cNvPr>
          <p:cNvPicPr>
            <a:picLocks noChangeAspect="1"/>
          </p:cNvPicPr>
          <p:nvPr/>
        </p:nvPicPr>
        <p:blipFill>
          <a:blip r:embed="rId5"/>
          <a:srcRect l="0" r="0" t="2133" b="2133"/>
          <a:stretch/>
        </p:blipFill>
        <p:spPr>
          <a:xfrm>
            <a:off x="609905" y="4023360"/>
            <a:ext cx="2651760" cy="1691640"/>
          </a:xfrm>
          <a:prstGeom prst="rect">
            <a:avLst/>
          </a:prstGeom>
        </p:spPr>
      </p:pic>
      <p:pic>
        <p:nvPicPr>
          <p:cNvPr id="21" name="Motorcycle Frame CAD" descr="C:\Users\ADMIN\Desktop\TEMP\VSHARK_Website\collateral\assets\bike-cad.jpg">    </p:cNvPr>
          <p:cNvPicPr>
            <a:picLocks noChangeAspect="1"/>
          </p:cNvPicPr>
          <p:nvPr/>
        </p:nvPicPr>
        <p:blipFill>
          <a:blip r:embed="rId6"/>
          <a:srcRect l="0" r="0" t="2133" b="2133"/>
          <a:stretch/>
        </p:blipFill>
        <p:spPr>
          <a:xfrm>
            <a:off x="3353105" y="4023360"/>
            <a:ext cx="2651760" cy="1691640"/>
          </a:xfrm>
          <a:prstGeom prst="rect">
            <a:avLst/>
          </a:prstGeom>
        </p:spPr>
      </p:pic>
      <p:sp>
        <p:nvSpPr>
          <p:cNvPr id="22" name="Shape 13"/>
          <p:cNvSpPr/>
          <p:nvPr/>
        </p:nvSpPr>
        <p:spPr>
          <a:xfrm>
            <a:off x="701345" y="4114800"/>
            <a:ext cx="457200" cy="237744"/>
          </a:xfrm>
          <a:prstGeom prst="rect">
            <a:avLst/>
          </a:prstGeom>
          <a:solidFill>
            <a:schemeClr val="tx2">
              <a:alpha val="85000"/>
            </a:schemeClr>
          </a:solidFill>
          <a:ln/>
        </p:spPr>
      </p:sp>
      <p:sp>
        <p:nvSpPr>
          <p:cNvPr id="23" name="Text 14"/>
          <p:cNvSpPr txBox="1"/>
          <p:nvPr/>
        </p:nvSpPr>
        <p:spPr>
          <a:xfrm>
            <a:off x="70134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24" name="Shape 15"/>
          <p:cNvSpPr/>
          <p:nvPr/>
        </p:nvSpPr>
        <p:spPr>
          <a:xfrm>
            <a:off x="3444545" y="4114800"/>
            <a:ext cx="388620" cy="237744"/>
          </a:xfrm>
          <a:prstGeom prst="rect">
            <a:avLst/>
          </a:prstGeom>
          <a:solidFill>
            <a:schemeClr val="accent1"/>
          </a:solidFill>
          <a:ln/>
        </p:spPr>
      </p:sp>
      <p:sp>
        <p:nvSpPr>
          <p:cNvPr id="25" name="Text 16"/>
          <p:cNvSpPr txBox="1"/>
          <p:nvPr/>
        </p:nvSpPr>
        <p:spPr>
          <a:xfrm>
            <a:off x="344454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26" name="Text 17"/>
          <p:cNvSpPr txBox="1"/>
          <p:nvPr/>
        </p:nvSpPr>
        <p:spPr>
          <a:xfrm>
            <a:off x="60990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Motorcycle Frame  </a:t>
            </a:r>
            <a:pPr indent="0" marL="0">
              <a:buNone/>
            </a:pPr>
            <a:r>
              <a:rPr lang="en-US" sz="1100" dirty="0">
                <a:solidFill>
                  <a:schemeClr val="accent3"/>
                </a:solidFill>
              </a:rPr>
              <a:t>Motorcycle frame digitised and converted into an editable CAD assembly.</a:t>
            </a:r>
            <a:endParaRPr lang="en-US" sz="1100" dirty="0"/>
          </a:p>
        </p:txBody>
      </p:sp>
      <p:pic>
        <p:nvPicPr>
          <p:cNvPr id="27" name="Bumper scan" descr="C:\Users\ADMIN\Desktop\TEMP\VSHARK_Website\collateral\assets\bumper-scan.jpg">    </p:cNvPr>
          <p:cNvPicPr>
            <a:picLocks noChangeAspect="1"/>
          </p:cNvPicPr>
          <p:nvPr/>
        </p:nvPicPr>
        <p:blipFill>
          <a:blip r:embed="rId7"/>
          <a:srcRect l="0" r="0" t="2133" b="2133"/>
          <a:stretch/>
        </p:blipFill>
        <p:spPr>
          <a:xfrm>
            <a:off x="6187745" y="4023360"/>
            <a:ext cx="2651760" cy="1691640"/>
          </a:xfrm>
          <a:prstGeom prst="rect">
            <a:avLst/>
          </a:prstGeom>
        </p:spPr>
      </p:pic>
      <p:pic>
        <p:nvPicPr>
          <p:cNvPr id="28" name="Bumper CAD" descr="C:\Users\ADMIN\Desktop\TEMP\VSHARK_Website\collateral\assets\bumper-cad.jpg">    </p:cNvPr>
          <p:cNvPicPr>
            <a:picLocks noChangeAspect="1"/>
          </p:cNvPicPr>
          <p:nvPr/>
        </p:nvPicPr>
        <p:blipFill>
          <a:blip r:embed="rId8"/>
          <a:srcRect l="0" r="0" t="2133" b="2133"/>
          <a:stretch/>
        </p:blipFill>
        <p:spPr>
          <a:xfrm>
            <a:off x="8930945" y="4023360"/>
            <a:ext cx="2651760" cy="1691640"/>
          </a:xfrm>
          <a:prstGeom prst="rect">
            <a:avLst/>
          </a:prstGeom>
        </p:spPr>
      </p:pic>
      <p:sp>
        <p:nvSpPr>
          <p:cNvPr id="29" name="Shape 18"/>
          <p:cNvSpPr/>
          <p:nvPr/>
        </p:nvSpPr>
        <p:spPr>
          <a:xfrm>
            <a:off x="6279185" y="4114800"/>
            <a:ext cx="457200" cy="237744"/>
          </a:xfrm>
          <a:prstGeom prst="rect">
            <a:avLst/>
          </a:prstGeom>
          <a:solidFill>
            <a:schemeClr val="tx2">
              <a:alpha val="85000"/>
            </a:schemeClr>
          </a:solidFill>
          <a:ln/>
        </p:spPr>
      </p:sp>
      <p:sp>
        <p:nvSpPr>
          <p:cNvPr id="30" name="Text 19"/>
          <p:cNvSpPr txBox="1"/>
          <p:nvPr/>
        </p:nvSpPr>
        <p:spPr>
          <a:xfrm>
            <a:off x="627918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31" name="Shape 20"/>
          <p:cNvSpPr/>
          <p:nvPr/>
        </p:nvSpPr>
        <p:spPr>
          <a:xfrm>
            <a:off x="9022385" y="4114800"/>
            <a:ext cx="388620" cy="237744"/>
          </a:xfrm>
          <a:prstGeom prst="rect">
            <a:avLst/>
          </a:prstGeom>
          <a:solidFill>
            <a:schemeClr val="accent1"/>
          </a:solidFill>
          <a:ln/>
        </p:spPr>
      </p:sp>
      <p:sp>
        <p:nvSpPr>
          <p:cNvPr id="32" name="Text 21"/>
          <p:cNvSpPr txBox="1"/>
          <p:nvPr/>
        </p:nvSpPr>
        <p:spPr>
          <a:xfrm>
            <a:off x="902238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33" name="Text 22"/>
          <p:cNvSpPr txBox="1"/>
          <p:nvPr/>
        </p:nvSpPr>
        <p:spPr>
          <a:xfrm>
            <a:off x="618774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Bumper  </a:t>
            </a:r>
            <a:pPr indent="0" marL="0">
              <a:buNone/>
            </a:pPr>
            <a:r>
              <a:rPr lang="en-US" sz="1100" dirty="0">
                <a:solidFill>
                  <a:schemeClr val="accent3"/>
                </a:solidFill>
              </a:rPr>
              <a:t>Vehicle bumper scanned and resurfaced for tooling.</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Design &amp;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visualisation</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Surfacing, sculpting and photoreal rendering — visuals that sell a product before it is made.</a:t>
            </a:r>
            <a:endParaRPr lang="en-US" sz="1200" dirty="0"/>
          </a:p>
        </p:txBody>
      </p:sp>
      <p:pic>
        <p:nvPicPr>
          <p:cNvPr id="6" name="Product rendering" descr="C:\Users\ADMIN\Desktop\TEMP\VSHARK_Website\collateral\assets\rendeing2.jpg">    </p:cNvPr>
          <p:cNvPicPr>
            <a:picLocks noChangeAspect="1"/>
          </p:cNvPicPr>
          <p:nvPr/>
        </p:nvPicPr>
        <p:blipFill>
          <a:blip r:embed="rId1"/>
          <a:srcRect l="8265" r="8265" t="0" b="0"/>
          <a:stretch/>
        </p:blipFill>
        <p:spPr>
          <a:xfrm>
            <a:off x="609905" y="1783080"/>
            <a:ext cx="5440680" cy="4343400"/>
          </a:xfrm>
          <a:prstGeom prst="rect">
            <a:avLst/>
          </a:prstGeom>
        </p:spPr>
      </p:pic>
      <p:sp>
        <p:nvSpPr>
          <p:cNvPr id="7" name="Shape 3"/>
          <p:cNvSpPr/>
          <p:nvPr/>
        </p:nvSpPr>
        <p:spPr>
          <a:xfrm>
            <a:off x="609905" y="5440680"/>
            <a:ext cx="5440680" cy="685800"/>
          </a:xfrm>
          <a:prstGeom prst="rect">
            <a:avLst/>
          </a:prstGeom>
          <a:solidFill>
            <a:schemeClr val="tx2">
              <a:alpha val="80000"/>
            </a:schemeClr>
          </a:solidFill>
          <a:ln/>
        </p:spPr>
      </p:sp>
      <p:sp>
        <p:nvSpPr>
          <p:cNvPr id="8" name="Text 4"/>
          <p:cNvSpPr txBox="1"/>
          <p:nvPr/>
        </p:nvSpPr>
        <p:spPr>
          <a:xfrm>
            <a:off x="747065" y="5504688"/>
            <a:ext cx="516636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Product rendering</a:t>
            </a:r>
            <a:endParaRPr lang="en-US" sz="1200" dirty="0"/>
          </a:p>
        </p:txBody>
      </p:sp>
      <p:sp>
        <p:nvSpPr>
          <p:cNvPr id="9" name="Text 5"/>
          <p:cNvSpPr txBox="1"/>
          <p:nvPr/>
        </p:nvSpPr>
        <p:spPr>
          <a:xfrm>
            <a:off x="747065" y="5742432"/>
            <a:ext cx="5166360" cy="329184"/>
          </a:xfrm>
          <a:prstGeom prst="rect">
            <a:avLst/>
          </a:prstGeom>
          <a:noFill/>
          <a:ln/>
        </p:spPr>
        <p:txBody>
          <a:bodyPr wrap="square" lIns="0" tIns="0" rIns="0" bIns="0" rtlCol="0" anchor="t"/>
          <a:lstStyle/>
          <a:p>
            <a:pPr indent="0" marL="0">
              <a:buNone/>
            </a:pPr>
            <a:r>
              <a:rPr lang="en-US" sz="950" dirty="0">
                <a:solidFill>
                  <a:schemeClr val="accent5"/>
                </a:solidFill>
              </a:rPr>
              <a:t>Photoreal product visuals: footwear, electronics and props.</a:t>
            </a:r>
            <a:endParaRPr lang="en-US" sz="950" dirty="0"/>
          </a:p>
        </p:txBody>
      </p:sp>
      <p:pic>
        <p:nvPicPr>
          <p:cNvPr id="10" name="Eyewear surfacing" descr="C:\Users\ADMIN\Desktop\TEMP\VSHARK_Website\collateral\assets\eye-wear1.jpg">    </p:cNvPr>
          <p:cNvPicPr>
            <a:picLocks noChangeAspect="1"/>
          </p:cNvPicPr>
          <p:nvPr/>
        </p:nvPicPr>
        <p:blipFill>
          <a:blip r:embed="rId2"/>
          <a:srcRect l="8884" r="8884" t="0" b="0"/>
          <a:stretch/>
        </p:blipFill>
        <p:spPr>
          <a:xfrm>
            <a:off x="6187745" y="1783080"/>
            <a:ext cx="2651760" cy="2148840"/>
          </a:xfrm>
          <a:prstGeom prst="rect">
            <a:avLst/>
          </a:prstGeom>
        </p:spPr>
      </p:pic>
      <p:sp>
        <p:nvSpPr>
          <p:cNvPr id="11" name="Shape 6"/>
          <p:cNvSpPr/>
          <p:nvPr/>
        </p:nvSpPr>
        <p:spPr>
          <a:xfrm>
            <a:off x="6187745" y="3246120"/>
            <a:ext cx="2651760" cy="685800"/>
          </a:xfrm>
          <a:prstGeom prst="rect">
            <a:avLst/>
          </a:prstGeom>
          <a:solidFill>
            <a:schemeClr val="tx2">
              <a:alpha val="80000"/>
            </a:schemeClr>
          </a:solidFill>
          <a:ln/>
        </p:spPr>
      </p:sp>
      <p:sp>
        <p:nvSpPr>
          <p:cNvPr id="12" name="Text 7"/>
          <p:cNvSpPr txBox="1"/>
          <p:nvPr/>
        </p:nvSpPr>
        <p:spPr>
          <a:xfrm>
            <a:off x="63249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Eyewear surfacing</a:t>
            </a:r>
            <a:endParaRPr lang="en-US" sz="1200" dirty="0"/>
          </a:p>
        </p:txBody>
      </p:sp>
      <p:sp>
        <p:nvSpPr>
          <p:cNvPr id="13" name="Text 8"/>
          <p:cNvSpPr txBox="1"/>
          <p:nvPr/>
        </p:nvSpPr>
        <p:spPr>
          <a:xfrm>
            <a:off x="63249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Eyewear frame surfaced over scan data for a custom-fit product.</a:t>
            </a:r>
            <a:endParaRPr lang="en-US" sz="950" dirty="0"/>
          </a:p>
        </p:txBody>
      </p:sp>
      <p:pic>
        <p:nvPicPr>
          <p:cNvPr id="14" name="Jewellery rendering" descr="C:\Users\ADMIN\Desktop\TEMP\VSHARK_Website\collateral\assets\render-ram-ring.jpg">    </p:cNvPr>
          <p:cNvPicPr>
            <a:picLocks noChangeAspect="1"/>
          </p:cNvPicPr>
          <p:nvPr/>
        </p:nvPicPr>
        <p:blipFill>
          <a:blip r:embed="rId3"/>
          <a:srcRect l="0" r="0" t="9483" b="9483"/>
          <a:stretch/>
        </p:blipFill>
        <p:spPr>
          <a:xfrm>
            <a:off x="8930945" y="1783080"/>
            <a:ext cx="2651760" cy="2148840"/>
          </a:xfrm>
          <a:prstGeom prst="rect">
            <a:avLst/>
          </a:prstGeom>
        </p:spPr>
      </p:pic>
      <p:sp>
        <p:nvSpPr>
          <p:cNvPr id="15" name="Shape 9"/>
          <p:cNvSpPr/>
          <p:nvPr/>
        </p:nvSpPr>
        <p:spPr>
          <a:xfrm>
            <a:off x="8930945" y="3246120"/>
            <a:ext cx="2651760" cy="685800"/>
          </a:xfrm>
          <a:prstGeom prst="rect">
            <a:avLst/>
          </a:prstGeom>
          <a:solidFill>
            <a:schemeClr val="tx2">
              <a:alpha val="80000"/>
            </a:schemeClr>
          </a:solidFill>
          <a:ln/>
        </p:spPr>
      </p:sp>
      <p:sp>
        <p:nvSpPr>
          <p:cNvPr id="16" name="Text 10"/>
          <p:cNvSpPr txBox="1"/>
          <p:nvPr/>
        </p:nvSpPr>
        <p:spPr>
          <a:xfrm>
            <a:off x="90681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Jewellery rendering</a:t>
            </a:r>
            <a:endParaRPr lang="en-US" sz="1200" dirty="0"/>
          </a:p>
        </p:txBody>
      </p:sp>
      <p:sp>
        <p:nvSpPr>
          <p:cNvPr id="17" name="Text 11"/>
          <p:cNvSpPr txBox="1"/>
          <p:nvPr/>
        </p:nvSpPr>
        <p:spPr>
          <a:xfrm>
            <a:off x="90681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Rings rendered with true metal reflections and gemstone sparkle.</a:t>
            </a:r>
            <a:endParaRPr lang="en-US" sz="950" dirty="0"/>
          </a:p>
        </p:txBody>
      </p:sp>
      <p:pic>
        <p:nvPicPr>
          <p:cNvPr id="18" name="Character sculpts" descr="C:\Users\ADMIN\Desktop\TEMP\VSHARK_Website\collateral\assets\rendeing5.jpg">    </p:cNvPr>
          <p:cNvPicPr>
            <a:picLocks noChangeAspect="1"/>
          </p:cNvPicPr>
          <p:nvPr/>
        </p:nvPicPr>
        <p:blipFill>
          <a:blip r:embed="rId4"/>
          <a:srcRect l="8884" r="8884" t="0" b="0"/>
          <a:stretch/>
        </p:blipFill>
        <p:spPr>
          <a:xfrm>
            <a:off x="6187745" y="3977640"/>
            <a:ext cx="2651760" cy="2148840"/>
          </a:xfrm>
          <a:prstGeom prst="rect">
            <a:avLst/>
          </a:prstGeom>
        </p:spPr>
      </p:pic>
      <p:sp>
        <p:nvSpPr>
          <p:cNvPr id="19" name="Shape 12"/>
          <p:cNvSpPr/>
          <p:nvPr/>
        </p:nvSpPr>
        <p:spPr>
          <a:xfrm>
            <a:off x="6187745" y="5440680"/>
            <a:ext cx="2651760" cy="685800"/>
          </a:xfrm>
          <a:prstGeom prst="rect">
            <a:avLst/>
          </a:prstGeom>
          <a:solidFill>
            <a:schemeClr val="tx2">
              <a:alpha val="80000"/>
            </a:schemeClr>
          </a:solidFill>
          <a:ln/>
        </p:spPr>
      </p:sp>
      <p:sp>
        <p:nvSpPr>
          <p:cNvPr id="20" name="Text 13"/>
          <p:cNvSpPr txBox="1"/>
          <p:nvPr/>
        </p:nvSpPr>
        <p:spPr>
          <a:xfrm>
            <a:off x="63249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Character sculpts</a:t>
            </a:r>
            <a:endParaRPr lang="en-US" sz="1200" dirty="0"/>
          </a:p>
        </p:txBody>
      </p:sp>
      <p:sp>
        <p:nvSpPr>
          <p:cNvPr id="21" name="Text 14"/>
          <p:cNvSpPr txBox="1"/>
          <p:nvPr/>
        </p:nvSpPr>
        <p:spPr>
          <a:xfrm>
            <a:off x="63249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Figures, reliefs and characters sculpted digitally for high-detail resin printing.</a:t>
            </a:r>
            <a:endParaRPr lang="en-US" sz="950" dirty="0"/>
          </a:p>
        </p:txBody>
      </p:sp>
      <p:pic>
        <p:nvPicPr>
          <p:cNvPr id="22" name="Exhibition stands" descr="C:\Users\ADMIN\Desktop\TEMP\VSHARK_Website\collateral\assets\render-exhibition.jpg">    </p:cNvPr>
          <p:cNvPicPr>
            <a:picLocks noChangeAspect="1"/>
          </p:cNvPicPr>
          <p:nvPr/>
        </p:nvPicPr>
        <p:blipFill>
          <a:blip r:embed="rId5"/>
          <a:srcRect l="15279" r="15279" t="0" b="0"/>
          <a:stretch/>
        </p:blipFill>
        <p:spPr>
          <a:xfrm>
            <a:off x="8930945" y="3977640"/>
            <a:ext cx="2651760" cy="2148840"/>
          </a:xfrm>
          <a:prstGeom prst="rect">
            <a:avLst/>
          </a:prstGeom>
        </p:spPr>
      </p:pic>
      <p:sp>
        <p:nvSpPr>
          <p:cNvPr id="23" name="Shape 15"/>
          <p:cNvSpPr/>
          <p:nvPr/>
        </p:nvSpPr>
        <p:spPr>
          <a:xfrm>
            <a:off x="8930945" y="5440680"/>
            <a:ext cx="2651760" cy="685800"/>
          </a:xfrm>
          <a:prstGeom prst="rect">
            <a:avLst/>
          </a:prstGeom>
          <a:solidFill>
            <a:schemeClr val="tx2">
              <a:alpha val="80000"/>
            </a:schemeClr>
          </a:solidFill>
          <a:ln/>
        </p:spPr>
      </p:sp>
      <p:sp>
        <p:nvSpPr>
          <p:cNvPr id="24" name="Text 16"/>
          <p:cNvSpPr txBox="1"/>
          <p:nvPr/>
        </p:nvSpPr>
        <p:spPr>
          <a:xfrm>
            <a:off x="90681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Exhibition stands</a:t>
            </a:r>
            <a:endParaRPr lang="en-US" sz="1200" dirty="0"/>
          </a:p>
        </p:txBody>
      </p:sp>
      <p:sp>
        <p:nvSpPr>
          <p:cNvPr id="25" name="Text 17"/>
          <p:cNvSpPr txBox="1"/>
          <p:nvPr/>
        </p:nvSpPr>
        <p:spPr>
          <a:xfrm>
            <a:off x="90681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Exhibition stands and interiors visualised before they are built.</a:t>
            </a:r>
            <a:endParaRPr lang="en-US" sz="9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( 05 ) — INDUSTRIES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Industries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we serve</a:t>
            </a:r>
            <a:endParaRPr lang="en-US" sz="3200" dirty="0"/>
          </a:p>
        </p:txBody>
      </p:sp>
      <p:sp>
        <p:nvSpPr>
          <p:cNvPr id="5" name="Text 2"/>
          <p:cNvSpPr txBox="1"/>
          <p:nvPr/>
        </p:nvSpPr>
        <p:spPr>
          <a:xfrm>
            <a:off x="8138160" y="1188720"/>
            <a:ext cx="3447288" cy="274320"/>
          </a:xfrm>
          <a:prstGeom prst="rect">
            <a:avLst/>
          </a:prstGeom>
          <a:noFill/>
          <a:ln/>
        </p:spPr>
        <p:txBody>
          <a:bodyPr wrap="square" lIns="0" tIns="0" rIns="0" bIns="0" rtlCol="0" anchor="t"/>
          <a:lstStyle/>
          <a:p>
            <a:pPr algn="r" indent="0" marL="0">
              <a:buNone/>
            </a:pPr>
            <a:r>
              <a:rPr lang="en-US" sz="1200" dirty="0">
                <a:solidFill>
                  <a:schemeClr val="accent6"/>
                </a:solidFill>
              </a:rPr>
              <a:t>Six sectors, one standard of precision.</a:t>
            </a:r>
            <a:endParaRPr lang="en-US" sz="1200" dirty="0"/>
          </a:p>
        </p:txBody>
      </p:sp>
      <p:pic>
        <p:nvPicPr>
          <p:cNvPr id="6" name="Aerospace" descr="C:\Users\ADMIN\Desktop\TEMP\VSHARK_Website\collateral\assets\aerospace.jpg">    </p:cNvPr>
          <p:cNvPicPr>
            <a:picLocks noChangeAspect="1"/>
          </p:cNvPicPr>
          <p:nvPr/>
        </p:nvPicPr>
        <p:blipFill>
          <a:blip r:embed="rId1"/>
          <a:srcRect l="27446" r="27446" t="0" b="0"/>
          <a:stretch/>
        </p:blipFill>
        <p:spPr>
          <a:xfrm>
            <a:off x="609905" y="1783080"/>
            <a:ext cx="1714348" cy="4343400"/>
          </a:xfrm>
          <a:prstGeom prst="rect">
            <a:avLst/>
          </a:prstGeom>
        </p:spPr>
      </p:pic>
      <p:sp>
        <p:nvSpPr>
          <p:cNvPr id="7" name="Shape 3"/>
          <p:cNvSpPr/>
          <p:nvPr/>
        </p:nvSpPr>
        <p:spPr>
          <a:xfrm>
            <a:off x="609905" y="4526280"/>
            <a:ext cx="1714348" cy="1600200"/>
          </a:xfrm>
          <a:prstGeom prst="rect">
            <a:avLst/>
          </a:prstGeom>
          <a:solidFill>
            <a:schemeClr val="tx2">
              <a:alpha val="88000"/>
            </a:schemeClr>
          </a:solidFill>
          <a:ln/>
        </p:spPr>
      </p:sp>
      <p:sp>
        <p:nvSpPr>
          <p:cNvPr id="8" name="Text 4"/>
          <p:cNvSpPr txBox="1"/>
          <p:nvPr/>
        </p:nvSpPr>
        <p:spPr>
          <a:xfrm>
            <a:off x="74706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4706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Aerospace</a:t>
            </a:r>
            <a:endParaRPr lang="en-US" sz="1400" dirty="0"/>
          </a:p>
        </p:txBody>
      </p:sp>
      <p:sp>
        <p:nvSpPr>
          <p:cNvPr id="10" name="Text 6"/>
          <p:cNvSpPr txBox="1"/>
          <p:nvPr/>
        </p:nvSpPr>
        <p:spPr>
          <a:xfrm>
            <a:off x="74706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Inspection and reverse engineering of high-precision aircraft components.</a:t>
            </a:r>
            <a:endParaRPr lang="en-US" sz="1050" dirty="0"/>
          </a:p>
        </p:txBody>
      </p:sp>
      <p:pic>
        <p:nvPicPr>
          <p:cNvPr id="11" name="Automobile" descr="C:\Users\ADMIN\Desktop\TEMP\VSHARK_Website\collateral\assets\auto.jpg">    </p:cNvPr>
          <p:cNvPicPr>
            <a:picLocks noChangeAspect="1"/>
          </p:cNvPicPr>
          <p:nvPr/>
        </p:nvPicPr>
        <p:blipFill>
          <a:blip r:embed="rId2"/>
          <a:srcRect l="27446" r="27446" t="0" b="0"/>
          <a:stretch/>
        </p:blipFill>
        <p:spPr>
          <a:xfrm>
            <a:off x="2461412" y="1783080"/>
            <a:ext cx="1714348" cy="4343400"/>
          </a:xfrm>
          <a:prstGeom prst="rect">
            <a:avLst/>
          </a:prstGeom>
        </p:spPr>
      </p:pic>
      <p:sp>
        <p:nvSpPr>
          <p:cNvPr id="12" name="Shape 7"/>
          <p:cNvSpPr/>
          <p:nvPr/>
        </p:nvSpPr>
        <p:spPr>
          <a:xfrm>
            <a:off x="2461412" y="4526280"/>
            <a:ext cx="1714348" cy="1600200"/>
          </a:xfrm>
          <a:prstGeom prst="rect">
            <a:avLst/>
          </a:prstGeom>
          <a:solidFill>
            <a:schemeClr val="tx2">
              <a:alpha val="88000"/>
            </a:schemeClr>
          </a:solidFill>
          <a:ln/>
        </p:spPr>
      </p:sp>
      <p:sp>
        <p:nvSpPr>
          <p:cNvPr id="13" name="Text 8"/>
          <p:cNvSpPr txBox="1"/>
          <p:nvPr/>
        </p:nvSpPr>
        <p:spPr>
          <a:xfrm>
            <a:off x="2598572"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2598572"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Automobile</a:t>
            </a:r>
            <a:endParaRPr lang="en-US" sz="1400" dirty="0"/>
          </a:p>
        </p:txBody>
      </p:sp>
      <p:sp>
        <p:nvSpPr>
          <p:cNvPr id="15" name="Text 10"/>
          <p:cNvSpPr txBox="1"/>
          <p:nvPr/>
        </p:nvSpPr>
        <p:spPr>
          <a:xfrm>
            <a:off x="2598572"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Body surfacing, part digitising and fixture design for vehicles.</a:t>
            </a:r>
            <a:endParaRPr lang="en-US" sz="1050" dirty="0"/>
          </a:p>
        </p:txBody>
      </p:sp>
      <p:pic>
        <p:nvPicPr>
          <p:cNvPr id="16" name="Construction" descr="C:\Users\ADMIN\Desktop\TEMP\VSHARK_Website\collateral\assets\construction.jpg">    </p:cNvPr>
          <p:cNvPicPr>
            <a:picLocks noChangeAspect="1"/>
          </p:cNvPicPr>
          <p:nvPr/>
        </p:nvPicPr>
        <p:blipFill>
          <a:blip r:embed="rId3"/>
          <a:srcRect l="27446" r="27446" t="0" b="0"/>
          <a:stretch/>
        </p:blipFill>
        <p:spPr>
          <a:xfrm>
            <a:off x="4312920" y="1783080"/>
            <a:ext cx="1714348" cy="4343400"/>
          </a:xfrm>
          <a:prstGeom prst="rect">
            <a:avLst/>
          </a:prstGeom>
        </p:spPr>
      </p:pic>
      <p:sp>
        <p:nvSpPr>
          <p:cNvPr id="17" name="Shape 11"/>
          <p:cNvSpPr/>
          <p:nvPr/>
        </p:nvSpPr>
        <p:spPr>
          <a:xfrm>
            <a:off x="4312920" y="4526280"/>
            <a:ext cx="1714348" cy="1600200"/>
          </a:xfrm>
          <a:prstGeom prst="rect">
            <a:avLst/>
          </a:prstGeom>
          <a:solidFill>
            <a:schemeClr val="tx2">
              <a:alpha val="88000"/>
            </a:schemeClr>
          </a:solidFill>
          <a:ln/>
        </p:spPr>
      </p:sp>
      <p:sp>
        <p:nvSpPr>
          <p:cNvPr id="18" name="Text 12"/>
          <p:cNvSpPr txBox="1"/>
          <p:nvPr/>
        </p:nvSpPr>
        <p:spPr>
          <a:xfrm>
            <a:off x="4450080"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4450080"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Construction</a:t>
            </a:r>
            <a:endParaRPr lang="en-US" sz="1400" dirty="0"/>
          </a:p>
        </p:txBody>
      </p:sp>
      <p:sp>
        <p:nvSpPr>
          <p:cNvPr id="20" name="Text 14"/>
          <p:cNvSpPr txBox="1"/>
          <p:nvPr/>
        </p:nvSpPr>
        <p:spPr>
          <a:xfrm>
            <a:off x="4450080"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As-built scanning and BIM models for buildings and sites.</a:t>
            </a:r>
            <a:endParaRPr lang="en-US" sz="1050" dirty="0"/>
          </a:p>
        </p:txBody>
      </p:sp>
      <p:pic>
        <p:nvPicPr>
          <p:cNvPr id="21" name="Healthcare" descr="C:\Users\ADMIN\Desktop\TEMP\VSHARK_Website\collateral\assets\hospital.jpg">    </p:cNvPr>
          <p:cNvPicPr>
            <a:picLocks noChangeAspect="1"/>
          </p:cNvPicPr>
          <p:nvPr/>
        </p:nvPicPr>
        <p:blipFill>
          <a:blip r:embed="rId4"/>
          <a:srcRect l="27446" r="27446" t="0" b="0"/>
          <a:stretch/>
        </p:blipFill>
        <p:spPr>
          <a:xfrm>
            <a:off x="6164428" y="1783080"/>
            <a:ext cx="1714348" cy="4343400"/>
          </a:xfrm>
          <a:prstGeom prst="rect">
            <a:avLst/>
          </a:prstGeom>
        </p:spPr>
      </p:pic>
      <p:sp>
        <p:nvSpPr>
          <p:cNvPr id="22" name="Shape 15"/>
          <p:cNvSpPr/>
          <p:nvPr/>
        </p:nvSpPr>
        <p:spPr>
          <a:xfrm>
            <a:off x="6164428" y="4526280"/>
            <a:ext cx="1714348" cy="1600200"/>
          </a:xfrm>
          <a:prstGeom prst="rect">
            <a:avLst/>
          </a:prstGeom>
          <a:solidFill>
            <a:schemeClr val="tx2">
              <a:alpha val="88000"/>
            </a:schemeClr>
          </a:solidFill>
          <a:ln/>
        </p:spPr>
      </p:sp>
      <p:sp>
        <p:nvSpPr>
          <p:cNvPr id="23" name="Text 16"/>
          <p:cNvSpPr txBox="1"/>
          <p:nvPr/>
        </p:nvSpPr>
        <p:spPr>
          <a:xfrm>
            <a:off x="6301588"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6301588"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Healthcare</a:t>
            </a:r>
            <a:endParaRPr lang="en-US" sz="1400" dirty="0"/>
          </a:p>
        </p:txBody>
      </p:sp>
      <p:sp>
        <p:nvSpPr>
          <p:cNvPr id="25" name="Text 18"/>
          <p:cNvSpPr txBox="1"/>
          <p:nvPr/>
        </p:nvSpPr>
        <p:spPr>
          <a:xfrm>
            <a:off x="6301588"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Medical devices and custom-fit parts captured and modelled in 3D.</a:t>
            </a:r>
            <a:endParaRPr lang="en-US" sz="1050" dirty="0"/>
          </a:p>
        </p:txBody>
      </p:sp>
      <p:pic>
        <p:nvPicPr>
          <p:cNvPr id="26" name="Education" descr="C:\Users\ADMIN\Desktop\TEMP\VSHARK_Website\collateral\assets\institute.jpg">    </p:cNvPr>
          <p:cNvPicPr>
            <a:picLocks noChangeAspect="1"/>
          </p:cNvPicPr>
          <p:nvPr/>
        </p:nvPicPr>
        <p:blipFill>
          <a:blip r:embed="rId5"/>
          <a:srcRect l="27446" r="27446" t="0" b="0"/>
          <a:stretch/>
        </p:blipFill>
        <p:spPr>
          <a:xfrm>
            <a:off x="8015935" y="1783080"/>
            <a:ext cx="1714348" cy="4343400"/>
          </a:xfrm>
          <a:prstGeom prst="rect">
            <a:avLst/>
          </a:prstGeom>
        </p:spPr>
      </p:pic>
      <p:sp>
        <p:nvSpPr>
          <p:cNvPr id="27" name="Shape 19"/>
          <p:cNvSpPr/>
          <p:nvPr/>
        </p:nvSpPr>
        <p:spPr>
          <a:xfrm>
            <a:off x="8015935" y="4526280"/>
            <a:ext cx="1714348" cy="1600200"/>
          </a:xfrm>
          <a:prstGeom prst="rect">
            <a:avLst/>
          </a:prstGeom>
          <a:solidFill>
            <a:schemeClr val="tx2">
              <a:alpha val="88000"/>
            </a:schemeClr>
          </a:solidFill>
          <a:ln/>
        </p:spPr>
      </p:sp>
      <p:sp>
        <p:nvSpPr>
          <p:cNvPr id="28" name="Text 20"/>
          <p:cNvSpPr txBox="1"/>
          <p:nvPr/>
        </p:nvSpPr>
        <p:spPr>
          <a:xfrm>
            <a:off x="815309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815309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Education</a:t>
            </a:r>
            <a:endParaRPr lang="en-US" sz="1400" dirty="0"/>
          </a:p>
        </p:txBody>
      </p:sp>
      <p:sp>
        <p:nvSpPr>
          <p:cNvPr id="30" name="Text 22"/>
          <p:cNvSpPr txBox="1"/>
          <p:nvPr/>
        </p:nvSpPr>
        <p:spPr>
          <a:xfrm>
            <a:off x="815309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Scanning and 3D printing support for labs, research and teaching.</a:t>
            </a:r>
            <a:endParaRPr lang="en-US" sz="1050" dirty="0"/>
          </a:p>
        </p:txBody>
      </p:sp>
      <p:pic>
        <p:nvPicPr>
          <p:cNvPr id="31" name="Jewellery" descr="C:\Users\ADMIN\Desktop\TEMP\VSHARK_Website\collateral\assets\jewelery.jpg">    </p:cNvPr>
          <p:cNvPicPr>
            <a:picLocks noChangeAspect="1"/>
          </p:cNvPicPr>
          <p:nvPr/>
        </p:nvPicPr>
        <p:blipFill>
          <a:blip r:embed="rId6"/>
          <a:srcRect l="27446" r="27446" t="0" b="0"/>
          <a:stretch/>
        </p:blipFill>
        <p:spPr>
          <a:xfrm>
            <a:off x="9867443" y="1783080"/>
            <a:ext cx="1714348" cy="4343400"/>
          </a:xfrm>
          <a:prstGeom prst="rect">
            <a:avLst/>
          </a:prstGeom>
        </p:spPr>
      </p:pic>
      <p:sp>
        <p:nvSpPr>
          <p:cNvPr id="32" name="Shape 23"/>
          <p:cNvSpPr/>
          <p:nvPr/>
        </p:nvSpPr>
        <p:spPr>
          <a:xfrm>
            <a:off x="9867443" y="4526280"/>
            <a:ext cx="1714348" cy="1600200"/>
          </a:xfrm>
          <a:prstGeom prst="rect">
            <a:avLst/>
          </a:prstGeom>
          <a:solidFill>
            <a:schemeClr val="tx2">
              <a:alpha val="88000"/>
            </a:schemeClr>
          </a:solidFill>
          <a:ln/>
        </p:spPr>
      </p:sp>
      <p:sp>
        <p:nvSpPr>
          <p:cNvPr id="33" name="Text 24"/>
          <p:cNvSpPr txBox="1"/>
          <p:nvPr/>
        </p:nvSpPr>
        <p:spPr>
          <a:xfrm>
            <a:off x="10004603"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10004603"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Jewellery</a:t>
            </a:r>
            <a:endParaRPr lang="en-US" sz="1400" dirty="0"/>
          </a:p>
        </p:txBody>
      </p:sp>
      <p:sp>
        <p:nvSpPr>
          <p:cNvPr id="35" name="Text 26"/>
          <p:cNvSpPr txBox="1"/>
          <p:nvPr/>
        </p:nvSpPr>
        <p:spPr>
          <a:xfrm>
            <a:off x="10004603"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Fine-detail scanning and printing for jewellery design and casting.</a:t>
            </a:r>
            <a:endParaRPr lang="en-US" sz="10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( 06 ) — PRODUCTS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Professional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3D scanners</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Vertex blue-laser and optical-tracking scanners — sold, set up and supported by VShark.</a:t>
            </a:r>
            <a:endParaRPr lang="en-US" sz="1200" dirty="0"/>
          </a:p>
        </p:txBody>
      </p:sp>
      <p:sp>
        <p:nvSpPr>
          <p:cNvPr id="6" name="Product Vertex3D"/>
          <p:cNvSpPr/>
          <p:nvPr/>
        </p:nvSpPr>
        <p:spPr>
          <a:xfrm>
            <a:off x="609905" y="1783080"/>
            <a:ext cx="3538728" cy="1417320"/>
          </a:xfrm>
          <a:prstGeom prst="roundRect">
            <a:avLst>
              <a:gd name="adj" fmla="val 5161"/>
            </a:avLst>
          </a:prstGeom>
          <a:solidFill>
            <a:schemeClr val="bg1"/>
          </a:solidFill>
          <a:ln w="9525">
            <a:solidFill>
              <a:schemeClr val="accent5"/>
            </a:solidFill>
            <a:prstDash val="solid"/>
          </a:ln>
        </p:spPr>
      </p:sp>
      <p:pic>
        <p:nvPicPr>
          <p:cNvPr id="7" name="Vertex3D" descr="C:\Users\ADMIN\Desktop\TEMP\VSHARK_Website\img\products\vertex3d.png">    </p:cNvPr>
          <p:cNvPicPr>
            <a:picLocks noChangeAspect="1"/>
          </p:cNvPicPr>
          <p:nvPr/>
        </p:nvPicPr>
        <p:blipFill>
          <a:blip r:embed="rId1"/>
          <a:stretch>
            <a:fillRect/>
          </a:stretch>
        </p:blipFill>
        <p:spPr>
          <a:xfrm>
            <a:off x="747065" y="1892808"/>
            <a:ext cx="1188720" cy="1188720"/>
          </a:xfrm>
          <a:prstGeom prst="rect">
            <a:avLst/>
          </a:prstGeom>
        </p:spPr>
      </p:pic>
      <p:sp>
        <p:nvSpPr>
          <p:cNvPr id="8" name="Text 4"/>
          <p:cNvSpPr txBox="1"/>
          <p:nvPr/>
        </p:nvSpPr>
        <p:spPr>
          <a:xfrm>
            <a:off x="2072945"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a:t>
            </a:r>
            <a:endParaRPr lang="en-US" sz="1500" dirty="0"/>
          </a:p>
        </p:txBody>
      </p:sp>
      <p:sp>
        <p:nvSpPr>
          <p:cNvPr id="9" name="Text 5"/>
          <p:cNvSpPr txBox="1"/>
          <p:nvPr/>
        </p:nvSpPr>
        <p:spPr>
          <a:xfrm>
            <a:off x="2072945"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0" name="Text 6"/>
          <p:cNvSpPr txBox="1"/>
          <p:nvPr/>
        </p:nvSpPr>
        <p:spPr>
          <a:xfrm>
            <a:off x="2072945"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1" name="Product Vertex3D Pro"/>
          <p:cNvSpPr/>
          <p:nvPr/>
        </p:nvSpPr>
        <p:spPr>
          <a:xfrm>
            <a:off x="4331513" y="1783080"/>
            <a:ext cx="3538728" cy="1417320"/>
          </a:xfrm>
          <a:prstGeom prst="roundRect">
            <a:avLst>
              <a:gd name="adj" fmla="val 5161"/>
            </a:avLst>
          </a:prstGeom>
          <a:solidFill>
            <a:schemeClr val="bg1"/>
          </a:solidFill>
          <a:ln w="9525">
            <a:solidFill>
              <a:schemeClr val="accent5"/>
            </a:solidFill>
            <a:prstDash val="solid"/>
          </a:ln>
        </p:spPr>
      </p:sp>
      <p:pic>
        <p:nvPicPr>
          <p:cNvPr id="12" name="Vertex3D Pro" descr="C:\Users\ADMIN\Desktop\TEMP\VSHARK_Website\img\products\vertex3d-pro.png">    </p:cNvPr>
          <p:cNvPicPr>
            <a:picLocks noChangeAspect="1"/>
          </p:cNvPicPr>
          <p:nvPr/>
        </p:nvPicPr>
        <p:blipFill>
          <a:blip r:embed="rId2"/>
          <a:stretch>
            <a:fillRect/>
          </a:stretch>
        </p:blipFill>
        <p:spPr>
          <a:xfrm>
            <a:off x="4468673" y="1892808"/>
            <a:ext cx="1188720" cy="1188720"/>
          </a:xfrm>
          <a:prstGeom prst="rect">
            <a:avLst/>
          </a:prstGeom>
        </p:spPr>
      </p:pic>
      <p:sp>
        <p:nvSpPr>
          <p:cNvPr id="13" name="Text 8"/>
          <p:cNvSpPr txBox="1"/>
          <p:nvPr/>
        </p:nvSpPr>
        <p:spPr>
          <a:xfrm>
            <a:off x="5794553"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 Pro</a:t>
            </a:r>
            <a:endParaRPr lang="en-US" sz="1500" dirty="0"/>
          </a:p>
        </p:txBody>
      </p:sp>
      <p:sp>
        <p:nvSpPr>
          <p:cNvPr id="14" name="Text 9"/>
          <p:cNvSpPr txBox="1"/>
          <p:nvPr/>
        </p:nvSpPr>
        <p:spPr>
          <a:xfrm>
            <a:off x="5794553"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5" name="Text 10"/>
          <p:cNvSpPr txBox="1"/>
          <p:nvPr/>
        </p:nvSpPr>
        <p:spPr>
          <a:xfrm>
            <a:off x="5794553"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6" name="Product Vertex Tracker"/>
          <p:cNvSpPr/>
          <p:nvPr/>
        </p:nvSpPr>
        <p:spPr>
          <a:xfrm>
            <a:off x="8053121" y="1783080"/>
            <a:ext cx="3538728" cy="1417320"/>
          </a:xfrm>
          <a:prstGeom prst="roundRect">
            <a:avLst>
              <a:gd name="adj" fmla="val 5161"/>
            </a:avLst>
          </a:prstGeom>
          <a:solidFill>
            <a:schemeClr val="bg1"/>
          </a:solidFill>
          <a:ln w="9525">
            <a:solidFill>
              <a:schemeClr val="accent5"/>
            </a:solidFill>
            <a:prstDash val="solid"/>
          </a:ln>
        </p:spPr>
      </p:sp>
      <p:pic>
        <p:nvPicPr>
          <p:cNvPr id="17" name="Vertex Tracker" descr="C:\Users\ADMIN\Desktop\TEMP\VSHARK_Website\img\products\vertex-tracker.png">    </p:cNvPr>
          <p:cNvPicPr>
            <a:picLocks noChangeAspect="1"/>
          </p:cNvPicPr>
          <p:nvPr/>
        </p:nvPicPr>
        <p:blipFill>
          <a:blip r:embed="rId3"/>
          <a:stretch>
            <a:fillRect/>
          </a:stretch>
        </p:blipFill>
        <p:spPr>
          <a:xfrm>
            <a:off x="8190281" y="1892808"/>
            <a:ext cx="1188720" cy="1188720"/>
          </a:xfrm>
          <a:prstGeom prst="rect">
            <a:avLst/>
          </a:prstGeom>
        </p:spPr>
      </p:pic>
      <p:sp>
        <p:nvSpPr>
          <p:cNvPr id="18" name="Text 12"/>
          <p:cNvSpPr txBox="1"/>
          <p:nvPr/>
        </p:nvSpPr>
        <p:spPr>
          <a:xfrm>
            <a:off x="9516161"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 Tracker</a:t>
            </a:r>
            <a:endParaRPr lang="en-US" sz="1500" dirty="0"/>
          </a:p>
        </p:txBody>
      </p:sp>
      <p:sp>
        <p:nvSpPr>
          <p:cNvPr id="19" name="Text 13"/>
          <p:cNvSpPr txBox="1"/>
          <p:nvPr/>
        </p:nvSpPr>
        <p:spPr>
          <a:xfrm>
            <a:off x="9516161"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Optical-tracking 3D scanning system</a:t>
            </a:r>
            <a:endParaRPr lang="en-US" sz="1000" dirty="0"/>
          </a:p>
        </p:txBody>
      </p:sp>
      <p:sp>
        <p:nvSpPr>
          <p:cNvPr id="20" name="Text 14"/>
          <p:cNvSpPr txBox="1"/>
          <p:nvPr/>
        </p:nvSpPr>
        <p:spPr>
          <a:xfrm>
            <a:off x="9516161"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0.025</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graphicFrame>
        <p:nvGraphicFramePr>
          <p:cNvPr id="16" name="Specifications"/>
          <p:cNvGraphicFramePr>
            <a:graphicFrameLocks noGrp="1"/>
          </p:cNvGraphicFramePr>
          <p:nvPr>
            <p:extLst>
              <p:ext uri="{D42A27DB-BD31-4B8C-83A1-F6EECF244321}">
                <p14:modId xmlns:p14="http://schemas.microsoft.com/office/powerpoint/2010/main" val="1579011935"/>
              </p:ext>
            </p:extLst>
          </p:nvPr>
        </p:nvGraphicFramePr>
        <p:xfrm>
          <a:off x="609905" y="3383280"/>
          <a:ext cx="10971886" cy="914400"/>
        </p:xfrm>
        <a:graphic>
          <a:graphicData uri="http://schemas.openxmlformats.org/drawingml/2006/table">
            <a:tbl>
              <a:tblPr/>
              <a:tblGrid>
                <a:gridCol w="2743200"/>
                <a:gridCol w="2743200"/>
                <a:gridCol w="2743200"/>
                <a:gridCol w="2743200"/>
              </a:tblGrid>
              <a:tr h="274320">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SPECIFICATION</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 PRO</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 TRACKER</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High-speed scanning</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26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speed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5,400,000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field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1100 × 800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resolution</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Volume accuracy</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10.0 m³: 0.060 mm · 25.0 m³: 0.083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Recommended sample size</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 mm – 8000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Output formats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bl>
          </a:graphicData>
        </a:graphic>
      </p:graphicFrame>
      <p:sp>
        <p:nvSpPr>
          <p:cNvPr id="22" name="Text 15"/>
          <p:cNvSpPr txBox="1"/>
          <p:nvPr/>
        </p:nvSpPr>
        <p:spPr>
          <a:xfrm>
            <a:off x="609905" y="5715000"/>
            <a:ext cx="10971886" cy="365760"/>
          </a:xfrm>
          <a:prstGeom prst="rect">
            <a:avLst/>
          </a:prstGeom>
          <a:noFill/>
          <a:ln/>
        </p:spPr>
        <p:txBody>
          <a:bodyPr wrap="square" lIns="0" tIns="0" rIns="0" bIns="0" rtlCol="0" anchor="t"/>
          <a:lstStyle/>
          <a:p>
            <a:pPr indent="0" marL="0">
              <a:buNone/>
            </a:pPr>
            <a:r>
              <a:rPr lang="en-US" sz="900" dirty="0">
                <a:solidFill>
                  <a:schemeClr val="accent1"/>
                </a:solidFill>
                <a:latin typeface="Consolas" pitchFamily="34" charset="0"/>
                <a:ea typeface="Consolas" pitchFamily="34" charset="-122"/>
                <a:cs typeface="Consolas" pitchFamily="34" charset="-120"/>
              </a:rPr>
              <a:t>RECOMMENDED PC   </a:t>
            </a:r>
            <a:pPr indent="0" marL="0">
              <a:buNone/>
            </a:pPr>
            <a:r>
              <a:rPr lang="en-US" sz="1000" dirty="0">
                <a:solidFill>
                  <a:schemeClr val="accent3"/>
                </a:solidFill>
              </a:rPr>
              <a:t>Windows 10 or later (64-bit) · NVIDIA GTX/RTX GPU (e.g. RTX 4060 or higher), 8 GB+ VRAM · Intel Core i7-13700H or better · 32 GB RAM or more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( 07 ) — WHAT CLIENTS SAY</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Trusted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worldwide</a:t>
            </a:r>
            <a:endParaRPr lang="en-US" sz="3200" dirty="0"/>
          </a:p>
        </p:txBody>
      </p:sp>
      <p:sp>
        <p:nvSpPr>
          <p:cNvPr id="5" name="Text 2"/>
          <p:cNvSpPr txBox="1"/>
          <p:nvPr/>
        </p:nvSpPr>
        <p:spPr>
          <a:xfrm>
            <a:off x="6309360" y="1188720"/>
            <a:ext cx="5276088" cy="274320"/>
          </a:xfrm>
          <a:prstGeom prst="rect">
            <a:avLst/>
          </a:prstGeom>
          <a:noFill/>
          <a:ln/>
        </p:spPr>
        <p:txBody>
          <a:bodyPr wrap="square" lIns="0" tIns="0" rIns="0" bIns="0" rtlCol="0" anchor="t"/>
          <a:lstStyle/>
          <a:p>
            <a:pPr algn="r" indent="0" marL="0">
              <a:buNone/>
            </a:pPr>
            <a:r>
              <a:rPr lang="en-US" sz="1100" spc="100" kern="0" dirty="0">
                <a:solidFill>
                  <a:schemeClr val="accent3"/>
                </a:solidFill>
                <a:latin typeface="Consolas" pitchFamily="34" charset="0"/>
                <a:ea typeface="Consolas" pitchFamily="34" charset="-122"/>
                <a:cs typeface="Consolas" pitchFamily="34" charset="-120"/>
              </a:rPr>
              <a:t>US · UK · GERMANY · CANADA · UAE · SAUDI ARABIA</a:t>
            </a:r>
            <a:endParaRPr lang="en-US" sz="1100" dirty="0"/>
          </a:p>
        </p:txBody>
      </p:sp>
      <p:sp>
        <p:nvSpPr>
          <p:cNvPr id="6" name="Quote Rachel Labonte"/>
          <p:cNvSpPr/>
          <p:nvPr/>
        </p:nvSpPr>
        <p:spPr>
          <a:xfrm>
            <a:off x="609905" y="1783080"/>
            <a:ext cx="3538728" cy="2103120"/>
          </a:xfrm>
          <a:prstGeom prst="roundRect">
            <a:avLst>
              <a:gd name="adj" fmla="val 3478"/>
            </a:avLst>
          </a:prstGeom>
          <a:solidFill>
            <a:schemeClr val="bg1"/>
          </a:solidFill>
          <a:ln w="9525">
            <a:solidFill>
              <a:schemeClr val="accent5"/>
            </a:solidFill>
            <a:prstDash val="solid"/>
          </a:ln>
        </p:spPr>
      </p:sp>
      <p:sp>
        <p:nvSpPr>
          <p:cNvPr id="7" name="Text 4"/>
          <p:cNvSpPr txBox="1"/>
          <p:nvPr/>
        </p:nvSpPr>
        <p:spPr>
          <a:xfrm>
            <a:off x="811073"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8" name="Text 5"/>
          <p:cNvSpPr txBox="1"/>
          <p:nvPr/>
        </p:nvSpPr>
        <p:spPr>
          <a:xfrm>
            <a:off x="811073"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was able to take a relatively poorly scanned object and convert it to a solid model with very accurate dimensions. Their surfacing skills are amazing, and the accuracy is perfect for our needs.</a:t>
            </a:r>
            <a:endParaRPr lang="en-US" sz="1150" dirty="0"/>
          </a:p>
        </p:txBody>
      </p:sp>
      <p:sp>
        <p:nvSpPr>
          <p:cNvPr id="9" name="Text 6"/>
          <p:cNvSpPr txBox="1"/>
          <p:nvPr/>
        </p:nvSpPr>
        <p:spPr>
          <a:xfrm>
            <a:off x="811073"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Rachel Labonte</a:t>
            </a:r>
            <a:endParaRPr lang="en-US" sz="1200" dirty="0"/>
          </a:p>
        </p:txBody>
      </p:sp>
      <p:sp>
        <p:nvSpPr>
          <p:cNvPr id="10" name="Text 7"/>
          <p:cNvSpPr txBox="1"/>
          <p:nvPr/>
        </p:nvSpPr>
        <p:spPr>
          <a:xfrm>
            <a:off x="811073"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CANADA</a:t>
            </a:r>
            <a:endParaRPr lang="en-US" sz="900" dirty="0"/>
          </a:p>
        </p:txBody>
      </p:sp>
      <p:sp>
        <p:nvSpPr>
          <p:cNvPr id="11" name="Quote Mace Roper"/>
          <p:cNvSpPr/>
          <p:nvPr/>
        </p:nvSpPr>
        <p:spPr>
          <a:xfrm>
            <a:off x="4331513" y="1783080"/>
            <a:ext cx="3538728" cy="2103120"/>
          </a:xfrm>
          <a:prstGeom prst="roundRect">
            <a:avLst>
              <a:gd name="adj" fmla="val 3478"/>
            </a:avLst>
          </a:prstGeom>
          <a:solidFill>
            <a:schemeClr val="bg1"/>
          </a:solidFill>
          <a:ln w="9525">
            <a:solidFill>
              <a:schemeClr val="accent5"/>
            </a:solidFill>
            <a:prstDash val="solid"/>
          </a:ln>
        </p:spPr>
      </p:sp>
      <p:sp>
        <p:nvSpPr>
          <p:cNvPr id="12" name="Text 9"/>
          <p:cNvSpPr txBox="1"/>
          <p:nvPr/>
        </p:nvSpPr>
        <p:spPr>
          <a:xfrm>
            <a:off x="4532681"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3" name="Text 10"/>
          <p:cNvSpPr txBox="1"/>
          <p:nvPr/>
        </p:nvSpPr>
        <p:spPr>
          <a:xfrm>
            <a:off x="4532681"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provided the best engineering service we've ever experienced. Their attention to detail and quick responsiveness made working with them a pleasure. We've collaborated with them many times and will continue to do so.</a:t>
            </a:r>
            <a:endParaRPr lang="en-US" sz="1150" dirty="0"/>
          </a:p>
        </p:txBody>
      </p:sp>
      <p:sp>
        <p:nvSpPr>
          <p:cNvPr id="14" name="Text 11"/>
          <p:cNvSpPr txBox="1"/>
          <p:nvPr/>
        </p:nvSpPr>
        <p:spPr>
          <a:xfrm>
            <a:off x="4532681"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Mace Roper</a:t>
            </a:r>
            <a:endParaRPr lang="en-US" sz="1200" dirty="0"/>
          </a:p>
        </p:txBody>
      </p:sp>
      <p:sp>
        <p:nvSpPr>
          <p:cNvPr id="15" name="Text 12"/>
          <p:cNvSpPr txBox="1"/>
          <p:nvPr/>
        </p:nvSpPr>
        <p:spPr>
          <a:xfrm>
            <a:off x="4532681"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STATES</a:t>
            </a:r>
            <a:endParaRPr lang="en-US" sz="900" dirty="0"/>
          </a:p>
        </p:txBody>
      </p:sp>
      <p:sp>
        <p:nvSpPr>
          <p:cNvPr id="16" name="Quote Benedikt Klein"/>
          <p:cNvSpPr/>
          <p:nvPr/>
        </p:nvSpPr>
        <p:spPr>
          <a:xfrm>
            <a:off x="8053121" y="1783080"/>
            <a:ext cx="3538728" cy="2103120"/>
          </a:xfrm>
          <a:prstGeom prst="roundRect">
            <a:avLst>
              <a:gd name="adj" fmla="val 3478"/>
            </a:avLst>
          </a:prstGeom>
          <a:solidFill>
            <a:schemeClr val="bg1"/>
          </a:solidFill>
          <a:ln w="9525">
            <a:solidFill>
              <a:schemeClr val="accent5"/>
            </a:solidFill>
            <a:prstDash val="solid"/>
          </a:ln>
        </p:spPr>
      </p:sp>
      <p:sp>
        <p:nvSpPr>
          <p:cNvPr id="17" name="Text 14"/>
          <p:cNvSpPr txBox="1"/>
          <p:nvPr/>
        </p:nvSpPr>
        <p:spPr>
          <a:xfrm>
            <a:off x="8254289"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8" name="Text 15"/>
          <p:cNvSpPr txBox="1"/>
          <p:nvPr/>
        </p:nvSpPr>
        <p:spPr>
          <a:xfrm>
            <a:off x="8254289"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on a reverse engineering and 3D modelling project was impressive; their professionalism, clear communication, and dedication to quality made the entire process smooth and efficient.</a:t>
            </a:r>
            <a:endParaRPr lang="en-US" sz="1150" dirty="0"/>
          </a:p>
        </p:txBody>
      </p:sp>
      <p:sp>
        <p:nvSpPr>
          <p:cNvPr id="19" name="Text 16"/>
          <p:cNvSpPr txBox="1"/>
          <p:nvPr/>
        </p:nvSpPr>
        <p:spPr>
          <a:xfrm>
            <a:off x="8254289"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Benedikt Klein</a:t>
            </a:r>
            <a:endParaRPr lang="en-US" sz="1200" dirty="0"/>
          </a:p>
        </p:txBody>
      </p:sp>
      <p:sp>
        <p:nvSpPr>
          <p:cNvPr id="20" name="Text 17"/>
          <p:cNvSpPr txBox="1"/>
          <p:nvPr/>
        </p:nvSpPr>
        <p:spPr>
          <a:xfrm>
            <a:off x="8254289"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GERMANY</a:t>
            </a:r>
            <a:endParaRPr lang="en-US" sz="900" dirty="0"/>
          </a:p>
        </p:txBody>
      </p:sp>
      <p:sp>
        <p:nvSpPr>
          <p:cNvPr id="21" name="Quote Xander Elon"/>
          <p:cNvSpPr/>
          <p:nvPr/>
        </p:nvSpPr>
        <p:spPr>
          <a:xfrm>
            <a:off x="609905" y="4023360"/>
            <a:ext cx="3538728" cy="2103120"/>
          </a:xfrm>
          <a:prstGeom prst="roundRect">
            <a:avLst>
              <a:gd name="adj" fmla="val 3478"/>
            </a:avLst>
          </a:prstGeom>
          <a:solidFill>
            <a:schemeClr val="bg1"/>
          </a:solidFill>
          <a:ln w="9525">
            <a:solidFill>
              <a:schemeClr val="accent5"/>
            </a:solidFill>
            <a:prstDash val="solid"/>
          </a:ln>
        </p:spPr>
      </p:sp>
      <p:sp>
        <p:nvSpPr>
          <p:cNvPr id="22" name="Text 19"/>
          <p:cNvSpPr txBox="1"/>
          <p:nvPr/>
        </p:nvSpPr>
        <p:spPr>
          <a:xfrm>
            <a:off x="811073"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3" name="Text 20"/>
          <p:cNvSpPr txBox="1"/>
          <p:nvPr/>
        </p:nvSpPr>
        <p:spPr>
          <a:xfrm>
            <a:off x="811073"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Exceptional work and accuracy! I will be using VSHARK skills again; I highly recommend them if you need something converted accurately. No need to look further.</a:t>
            </a:r>
            <a:endParaRPr lang="en-US" sz="1150" dirty="0"/>
          </a:p>
        </p:txBody>
      </p:sp>
      <p:sp>
        <p:nvSpPr>
          <p:cNvPr id="24" name="Text 21"/>
          <p:cNvSpPr txBox="1"/>
          <p:nvPr/>
        </p:nvSpPr>
        <p:spPr>
          <a:xfrm>
            <a:off x="811073"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Xander Elon</a:t>
            </a:r>
            <a:endParaRPr lang="en-US" sz="1200" dirty="0"/>
          </a:p>
        </p:txBody>
      </p:sp>
      <p:sp>
        <p:nvSpPr>
          <p:cNvPr id="25" name="Text 22"/>
          <p:cNvSpPr txBox="1"/>
          <p:nvPr/>
        </p:nvSpPr>
        <p:spPr>
          <a:xfrm>
            <a:off x="811073"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KINGDOM</a:t>
            </a:r>
            <a:endParaRPr lang="en-US" sz="900" dirty="0"/>
          </a:p>
        </p:txBody>
      </p:sp>
      <p:sp>
        <p:nvSpPr>
          <p:cNvPr id="26" name="Quote Ahtisham Muhammad"/>
          <p:cNvSpPr/>
          <p:nvPr/>
        </p:nvSpPr>
        <p:spPr>
          <a:xfrm>
            <a:off x="4331513" y="4023360"/>
            <a:ext cx="3538728" cy="2103120"/>
          </a:xfrm>
          <a:prstGeom prst="roundRect">
            <a:avLst>
              <a:gd name="adj" fmla="val 3478"/>
            </a:avLst>
          </a:prstGeom>
          <a:solidFill>
            <a:schemeClr val="bg1"/>
          </a:solidFill>
          <a:ln w="9525">
            <a:solidFill>
              <a:schemeClr val="accent5"/>
            </a:solidFill>
            <a:prstDash val="solid"/>
          </a:ln>
        </p:spPr>
      </p:sp>
      <p:sp>
        <p:nvSpPr>
          <p:cNvPr id="27" name="Text 24"/>
          <p:cNvSpPr txBox="1"/>
          <p:nvPr/>
        </p:nvSpPr>
        <p:spPr>
          <a:xfrm>
            <a:off x="4532681"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8" name="Text 25"/>
          <p:cNvSpPr txBox="1"/>
          <p:nvPr/>
        </p:nvSpPr>
        <p:spPr>
          <a:xfrm>
            <a:off x="4532681"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delivered exceptional work beyond my expectations! Their attention to detail and professionalism made the entire process seamless. I highly recommend them for any project.</a:t>
            </a:r>
            <a:endParaRPr lang="en-US" sz="1150" dirty="0"/>
          </a:p>
        </p:txBody>
      </p:sp>
      <p:sp>
        <p:nvSpPr>
          <p:cNvPr id="29" name="Text 26"/>
          <p:cNvSpPr txBox="1"/>
          <p:nvPr/>
        </p:nvSpPr>
        <p:spPr>
          <a:xfrm>
            <a:off x="4532681"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Ahtisham Muhammad</a:t>
            </a:r>
            <a:endParaRPr lang="en-US" sz="1200" dirty="0"/>
          </a:p>
        </p:txBody>
      </p:sp>
      <p:sp>
        <p:nvSpPr>
          <p:cNvPr id="30" name="Text 27"/>
          <p:cNvSpPr txBox="1"/>
          <p:nvPr/>
        </p:nvSpPr>
        <p:spPr>
          <a:xfrm>
            <a:off x="4532681"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SAUDI ARABIA</a:t>
            </a:r>
            <a:endParaRPr lang="en-US" sz="900" dirty="0"/>
          </a:p>
        </p:txBody>
      </p:sp>
      <p:sp>
        <p:nvSpPr>
          <p:cNvPr id="31" name="Quote Mariam Al-Ghayousi"/>
          <p:cNvSpPr/>
          <p:nvPr/>
        </p:nvSpPr>
        <p:spPr>
          <a:xfrm>
            <a:off x="8053121" y="4023360"/>
            <a:ext cx="3538728" cy="2103120"/>
          </a:xfrm>
          <a:prstGeom prst="roundRect">
            <a:avLst>
              <a:gd name="adj" fmla="val 3478"/>
            </a:avLst>
          </a:prstGeom>
          <a:solidFill>
            <a:schemeClr val="bg1"/>
          </a:solidFill>
          <a:ln w="9525">
            <a:solidFill>
              <a:schemeClr val="accent5"/>
            </a:solidFill>
            <a:prstDash val="solid"/>
          </a:ln>
        </p:spPr>
      </p:sp>
      <p:sp>
        <p:nvSpPr>
          <p:cNvPr id="32" name="Text 29"/>
          <p:cNvSpPr txBox="1"/>
          <p:nvPr/>
        </p:nvSpPr>
        <p:spPr>
          <a:xfrm>
            <a:off x="8254289"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33" name="Text 30"/>
          <p:cNvSpPr txBox="1"/>
          <p:nvPr/>
        </p:nvSpPr>
        <p:spPr>
          <a:xfrm>
            <a:off x="8254289"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Engineers was a fantastic experience. Their creative approach and attention to detail perfectly aligned with our brand, and they were always polite and cooperative throughout the project.</a:t>
            </a:r>
            <a:endParaRPr lang="en-US" sz="1150" dirty="0"/>
          </a:p>
        </p:txBody>
      </p:sp>
      <p:sp>
        <p:nvSpPr>
          <p:cNvPr id="34" name="Text 31"/>
          <p:cNvSpPr txBox="1"/>
          <p:nvPr/>
        </p:nvSpPr>
        <p:spPr>
          <a:xfrm>
            <a:off x="8254289"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Mariam Al-Ghayousi</a:t>
            </a:r>
            <a:endParaRPr lang="en-US" sz="1200" dirty="0"/>
          </a:p>
        </p:txBody>
      </p:sp>
      <p:sp>
        <p:nvSpPr>
          <p:cNvPr id="35" name="Text 32"/>
          <p:cNvSpPr txBox="1"/>
          <p:nvPr/>
        </p:nvSpPr>
        <p:spPr>
          <a:xfrm>
            <a:off x="8254289"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DUBAI</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( 08 ) — GET IN TOUCH</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Let’s start</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your project.</a:t>
            </a:r>
            <a:endParaRPr lang="en-US" sz="4000" dirty="0"/>
          </a:p>
        </p:txBody>
      </p:sp>
      <p:sp>
        <p:nvSpPr>
          <p:cNvPr id="5" name="Text 2"/>
          <p:cNvSpPr txBox="1"/>
          <p:nvPr/>
        </p:nvSpPr>
        <p:spPr>
          <a:xfrm>
            <a:off x="609905" y="3611880"/>
            <a:ext cx="5486400" cy="731520"/>
          </a:xfrm>
          <a:prstGeom prst="rect">
            <a:avLst/>
          </a:prstGeom>
          <a:noFill/>
          <a:ln/>
        </p:spPr>
        <p:txBody>
          <a:bodyPr wrap="square" lIns="0" tIns="0" rIns="0" bIns="0" rtlCol="0" anchor="t"/>
          <a:lstStyle/>
          <a:p>
            <a:pPr indent="0" marL="0">
              <a:buNone/>
            </a:pPr>
            <a:r>
              <a:rPr lang="en-US" sz="1400" dirty="0">
                <a:solidFill>
                  <a:schemeClr val="accent2"/>
                </a:solidFill>
              </a:rPr>
              <a:t>Send us a photo, drawing or the part itself — we’ll come back with the right approach, timeline and quote.</a:t>
            </a:r>
            <a:endParaRPr lang="en-US" sz="1400" dirty="0"/>
          </a:p>
        </p:txBody>
      </p:sp>
      <p:sp>
        <p:nvSpPr>
          <p:cNvPr id="6" name="Shape 3"/>
          <p:cNvSpPr/>
          <p:nvPr/>
        </p:nvSpPr>
        <p:spPr>
          <a:xfrm>
            <a:off x="6702552" y="1828800"/>
            <a:ext cx="4873752" cy="0"/>
          </a:xfrm>
          <a:prstGeom prst="line">
            <a:avLst/>
          </a:prstGeom>
          <a:noFill/>
          <a:ln w="9525">
            <a:solidFill>
              <a:schemeClr val="accent6"/>
            </a:solidFill>
            <a:prstDash val="solid"/>
          </a:ln>
        </p:spPr>
      </p:sp>
      <p:sp>
        <p:nvSpPr>
          <p:cNvPr id="7" name="Text 4"/>
          <p:cNvSpPr txBox="1"/>
          <p:nvPr/>
        </p:nvSpPr>
        <p:spPr>
          <a:xfrm>
            <a:off x="6702552" y="2048256"/>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8" name="Text 5"/>
          <p:cNvSpPr txBox="1"/>
          <p:nvPr/>
        </p:nvSpPr>
        <p:spPr>
          <a:xfrm>
            <a:off x="7982712" y="1984248"/>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info@vsharksolutions.com</a:t>
            </a:r>
            <a:endParaRPr lang="en-US" sz="1700" dirty="0"/>
          </a:p>
        </p:txBody>
      </p:sp>
      <p:sp>
        <p:nvSpPr>
          <p:cNvPr id="9" name="Shape 6"/>
          <p:cNvSpPr/>
          <p:nvPr/>
        </p:nvSpPr>
        <p:spPr>
          <a:xfrm>
            <a:off x="6702552" y="2450592"/>
            <a:ext cx="4873752" cy="0"/>
          </a:xfrm>
          <a:prstGeom prst="line">
            <a:avLst/>
          </a:prstGeom>
          <a:noFill/>
          <a:ln w="9525">
            <a:solidFill>
              <a:schemeClr val="accent6"/>
            </a:solidFill>
            <a:prstDash val="solid"/>
          </a:ln>
        </p:spPr>
      </p:sp>
      <p:sp>
        <p:nvSpPr>
          <p:cNvPr id="10" name="Text 7"/>
          <p:cNvSpPr txBox="1"/>
          <p:nvPr/>
        </p:nvSpPr>
        <p:spPr>
          <a:xfrm>
            <a:off x="6702552" y="2670048"/>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11" name="Text 8"/>
          <p:cNvSpPr txBox="1"/>
          <p:nvPr/>
        </p:nvSpPr>
        <p:spPr>
          <a:xfrm>
            <a:off x="7982712" y="2606040"/>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2" name="Shape 9"/>
          <p:cNvSpPr/>
          <p:nvPr/>
        </p:nvSpPr>
        <p:spPr>
          <a:xfrm>
            <a:off x="6702552" y="3072384"/>
            <a:ext cx="4873752" cy="0"/>
          </a:xfrm>
          <a:prstGeom prst="line">
            <a:avLst/>
          </a:prstGeom>
          <a:noFill/>
          <a:ln w="9525">
            <a:solidFill>
              <a:schemeClr val="accent6"/>
            </a:solidFill>
            <a:prstDash val="solid"/>
          </a:ln>
        </p:spPr>
      </p:sp>
      <p:sp>
        <p:nvSpPr>
          <p:cNvPr id="13" name="Text 10"/>
          <p:cNvSpPr txBox="1"/>
          <p:nvPr/>
        </p:nvSpPr>
        <p:spPr>
          <a:xfrm>
            <a:off x="6702552" y="3291840"/>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4" name="Text 11"/>
          <p:cNvSpPr txBox="1"/>
          <p:nvPr/>
        </p:nvSpPr>
        <p:spPr>
          <a:xfrm>
            <a:off x="7982712" y="3227832"/>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+971 52 248 6238</a:t>
            </a:r>
            <a:endParaRPr lang="en-US" sz="1700" dirty="0"/>
          </a:p>
        </p:txBody>
      </p:sp>
      <p:sp>
        <p:nvSpPr>
          <p:cNvPr id="15" name="Shape 12"/>
          <p:cNvSpPr/>
          <p:nvPr/>
        </p:nvSpPr>
        <p:spPr>
          <a:xfrm>
            <a:off x="6702552" y="3694176"/>
            <a:ext cx="4873752" cy="0"/>
          </a:xfrm>
          <a:prstGeom prst="line">
            <a:avLst/>
          </a:prstGeom>
          <a:noFill/>
          <a:ln w="9525">
            <a:solidFill>
              <a:schemeClr val="accent6"/>
            </a:solidFill>
            <a:prstDash val="solid"/>
          </a:ln>
        </p:spPr>
      </p:sp>
      <p:sp>
        <p:nvSpPr>
          <p:cNvPr id="16" name="Text 13"/>
          <p:cNvSpPr txBox="1"/>
          <p:nvPr/>
        </p:nvSpPr>
        <p:spPr>
          <a:xfrm>
            <a:off x="6702552" y="3913632"/>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WHATSAPP</a:t>
            </a:r>
            <a:endParaRPr lang="en-US" sz="900" dirty="0"/>
          </a:p>
        </p:txBody>
      </p:sp>
      <p:sp>
        <p:nvSpPr>
          <p:cNvPr id="17" name="Text 14"/>
          <p:cNvSpPr txBox="1"/>
          <p:nvPr/>
        </p:nvSpPr>
        <p:spPr>
          <a:xfrm>
            <a:off x="7982712" y="3849624"/>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8" name="Shape 15"/>
          <p:cNvSpPr/>
          <p:nvPr/>
        </p:nvSpPr>
        <p:spPr>
          <a:xfrm>
            <a:off x="6702552" y="4315968"/>
            <a:ext cx="4873752" cy="0"/>
          </a:xfrm>
          <a:prstGeom prst="line">
            <a:avLst/>
          </a:prstGeom>
          <a:noFill/>
          <a:ln w="9525">
            <a:solidFill>
              <a:schemeClr val="accent6"/>
            </a:solidFill>
            <a:prstDash val="solid"/>
          </a:ln>
        </p:spPr>
      </p:sp>
      <p:sp>
        <p:nvSpPr>
          <p:cNvPr id="19" name="Text 16"/>
          <p:cNvSpPr txBox="1"/>
          <p:nvPr/>
        </p:nvSpPr>
        <p:spPr>
          <a:xfrm>
            <a:off x="6702552" y="4535424"/>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WEB</a:t>
            </a:r>
            <a:endParaRPr lang="en-US" sz="900" dirty="0"/>
          </a:p>
        </p:txBody>
      </p:sp>
      <p:sp>
        <p:nvSpPr>
          <p:cNvPr id="20" name="Text 17"/>
          <p:cNvSpPr txBox="1"/>
          <p:nvPr/>
        </p:nvSpPr>
        <p:spPr>
          <a:xfrm>
            <a:off x="7982712" y="4471416"/>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vsharksolutions.com</a:t>
            </a:r>
            <a:endParaRPr lang="en-US" sz="1700" dirty="0"/>
          </a:p>
        </p:txBody>
      </p:sp>
      <p:sp>
        <p:nvSpPr>
          <p:cNvPr id="21" name="Shape 18"/>
          <p:cNvSpPr/>
          <p:nvPr/>
        </p:nvSpPr>
        <p:spPr>
          <a:xfrm>
            <a:off x="6702552" y="4937760"/>
            <a:ext cx="4873752" cy="0"/>
          </a:xfrm>
          <a:prstGeom prst="line">
            <a:avLst/>
          </a:prstGeom>
          <a:noFill/>
          <a:ln w="9525">
            <a:solidFill>
              <a:schemeClr val="accent6"/>
            </a:solidFill>
            <a:prstDash val="solid"/>
          </a:ln>
        </p:spPr>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hark">
  <a:themeElements>
    <a:clrScheme name="VShark">
      <a:dk1>
        <a:srgbClr val="1C2125"/>
      </a:dk1>
      <a:lt1>
        <a:srgbClr val="FFFFFF"/>
      </a:lt1>
      <a:dk2>
        <a:srgbClr val="15191C"/>
      </a:dk2>
      <a:lt2>
        <a:srgbClr val="F5F6F8"/>
      </a:lt2>
      <a:accent1>
        <a:srgbClr val="991B2E"/>
      </a:accent1>
      <a:accent2>
        <a:srgbClr val="828B94"/>
      </a:accent2>
      <a:accent3>
        <a:srgbClr val="616B6F"/>
      </a:accent3>
      <a:accent4>
        <a:srgbClr val="E0566B"/>
      </a:accent4>
      <a:accent5>
        <a:srgbClr val="ECEEF1"/>
      </a:accent5>
      <a:accent6>
        <a:srgbClr val="3D454A"/>
      </a:accent6>
      <a:hlink>
        <a:srgbClr val="991B2E"/>
      </a:hlink>
      <a:folHlink>
        <a:srgbClr val="616B6F"/>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VShark Solutions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VShark Solutions — Company Presentation</dc:title>
  <dc:subject>PptxGenJS Presentation</dc:subject>
  <dc:creator>VShark Solutions</dc:creator>
  <cp:lastModifiedBy>VShark Solutions</cp:lastModifiedBy>
  <cp:revision>1</cp:revision>
  <dcterms:created xsi:type="dcterms:W3CDTF">2026-10-18T03:13:54Z</dcterms:created>
  <dcterms:modified xsi:type="dcterms:W3CDTF">2026-10-18T03:13:54Z</dcterms:modified>
</cp:coreProperties>
</file>