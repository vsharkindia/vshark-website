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1b16417-1b17-0fc4-79de-5dd76ad541a9}">
          <p14:sldIdLst>
            <p14:sldId id="256"/>
            <p14:sldId id="257"/>
          </p14:sldIdLst>
        </p14:section>
        <p14:section name="Services" id="{bcd33af1-1b90-37c2-c750-f5619a14087e}">
          <p14:sldIdLst>
            <p14:sldId id="258"/>
            <p14:sldId id="259"/>
            <p14:sldId id="260"/>
            <p14:sldId id="261"/>
            <p14:sldId id="262"/>
            <p14:sldId id="263"/>
            <p14:sldId id="264"/>
            <p14:sldId id="265"/>
            <p14:sldId id="266"/>
          </p14:sldIdLst>
        </p14:section>
        <p14:section name="Portfolio" id="{8ab532e2-6ef9-1488-2019-ae8d420f7325}">
          <p14:sldIdLst>
            <p14:sldId id="267"/>
            <p14:sldId id="268"/>
          </p14:sldIdLst>
        </p14:section>
        <p14:section name="Industries &amp; products" id="{0b857351-7537-00b1-f081-8485739b9a69}">
          <p14:sldIdLst>
            <p14:sldId id="269"/>
            <p14:sldId id="270"/>
          </p14:sldIdLst>
        </p14:section>
        <p14:section name="Clients &amp; contact" id="{c4cab50c-53d1-d89a-7063-2f1fee7a60f3}">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VShark captures physical parts, products and spaces as digital data, then engineers that data into whatever the customer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we are: one partner from the physical object to the finished digital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services. Customers can use one on its own, or hand VShark the whole job from first scan to final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capture, process, engineer, deliver.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scan parts of every size with a range of professional 3D scanners — from small precision components to car bodies and full buildings. The result is a precise digital copy of the physical object, ready for product design, reverse engineering and quality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rebuild physical parts as parametric CAD models — for re-manufacturing legacy parts with no drawings, modifying existing designs, or creating moulds and tooling. You choose how faithful the model should be to the scanned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laser-scan existing structures and convert the point cloud into detailed BIM models. Architects, engineers and contractors get an accurate as-built foundation for renovation, retrofit and facility-management projects — with every wall, slab, column and service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A surfaces are the visible skins of a product — car body panels, aircraft fairings, consumer-product housings. We build G2/G3-continuous surfaces with clean patch layouts and verify them with zebra and curvature analysis, so reflections flow without a ripple.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inspect manufactured parts by scanning them and comparing the result against the nominal CAD. Colour deviation maps, GD&amp;T checks and first-article reports show exactly where a part is in or out of tolerance — fast, and without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print prototypes, fit-check models, jigs, fixtures and short-run end-use parts directly from CAD or scan data. Our team also prepares and repairs files — including sculpted character models — so they print right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turn CAD and design models into photorealistic images and animations for marketing, presentations and design reviews. Materials, lighting and scenes are tuned so your product looks real — and looks its best — before the first unit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parts VShark has captured and rebuilt as editable, manufacturable CAD.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Surfacing, sculpting and photoreal rendering — visuals that sell a product before it is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sectors, one standard of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Vertex blue-laser and optical-tracking scanners, now available from VShark with set-up and support. Full spec sheet in the scanners brochure.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in India · UAE · Saudi Arabia · USA · UK · Germany · Canada.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ask for a photo, drawing or the part itself, and offer to come back with approach, timeline and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Shark Content">
    <p:bg>
      <p:bgPr>
        <a:solidFill>
          <a:schemeClr val="bg2"/>
        </a:solidFill>
      </p:bgPr>
    </p:bg>
    <p:spTree>
      <p:nvGrpSpPr>
        <p:cNvPr id="1" name=""/>
        <p:cNvGrpSpPr/>
        <p:nvPr/>
      </p:nvGrpSpPr>
      <p:grpSpPr>
        <a:xfrm>
          <a:off x="0" y="0"/>
          <a:ext cx="0" cy="0"/>
          <a:chOff x="0" y="0"/>
          <a:chExt cx="0" cy="0"/>
        </a:xfrm>
      </p:grpSpPr>
      <p:pic>
        <p:nvPicPr>
          <p:cNvPr id="2" name="Image 0" descr="C:\Users\ADMIN\Desktop\TEMP\VSHARK_Website\img\vshark-logo.png">    </p:cNvPr>
          <p:cNvPicPr>
            <a:picLocks noChangeAspect="1"/>
          </p:cNvPicPr>
          <p:nvPr/>
        </p:nvPicPr>
        <p:blipFill>
          <a:blip r:embed="rId1"/>
          <a:stretch>
            <a:fillRect/>
          </a:stretch>
        </p:blipFill>
        <p:spPr>
          <a:xfrm>
            <a:off x="609905" y="6382512"/>
            <a:ext cx="818506" cy="173736"/>
          </a:xfrm>
          <a:prstGeom prst="rect">
            <a:avLst/>
          </a:prstGeom>
        </p:spPr>
      </p:pic>
      <p:sp>
        <p:nvSpPr>
          <p:cNvPr id="3" name="Text 0"/>
          <p:cNvSpPr/>
          <p:nvPr/>
        </p:nvSpPr>
        <p:spPr>
          <a:xfrm>
            <a:off x="4270248" y="6382512"/>
            <a:ext cx="3657600" cy="182880"/>
          </a:xfrm>
          <a:prstGeom prst="rect">
            <a:avLst/>
          </a:prstGeom>
          <a:noFill/>
          <a:ln/>
        </p:spPr>
        <p:txBody>
          <a:bodyPr wrap="square" lIns="0" tIns="0" rIns="0" bIns="0" rtlCol="0" anchor="ctr"/>
          <a:lstStyle/>
          <a:p>
            <a:pPr algn="ctr" indent="0" marL="0">
              <a:buNone/>
            </a:pPr>
            <a:r>
              <a:rPr lang="en-US" sz="900" spc="100" kern="0" dirty="0">
                <a:solidFill>
                  <a:schemeClr val="accent2"/>
                </a:solidFill>
                <a:latin typeface="Consolas" pitchFamily="34" charset="0"/>
                <a:ea typeface="Consolas" pitchFamily="34" charset="-122"/>
                <a:cs typeface="Consolas" pitchFamily="34" charset="-120"/>
              </a:rPr>
              <a:t>VSHARKSOLUTIONS.COM</a:t>
            </a:r>
            <a:endParaRPr lang="en-US" sz="900" dirty="0"/>
          </a:p>
        </p:txBody>
      </p:sp>
      <p:sp>
        <p:nvSpPr>
          <p:cNvPr id="4" name="Text 1"/>
          <p:cNvSpPr/>
          <p:nvPr>
            <p:ph idx="102" type="body" hasCustomPrompt="1"/>
          </p:nvPr>
        </p:nvSpPr>
        <p:spPr>
          <a:xfrm>
            <a:off x="609905" y="548640"/>
            <a:ext cx="7315200" cy="274320"/>
          </a:xfrm>
          <a:prstGeom prst="rect">
            <a:avLst/>
          </a:prstGeom>
          <a:noFill/>
          <a:ln/>
        </p:spPr>
        <p:txBody>
          <a:bodyPr wrap="square" rtlCol="0"/>
          <a:lstStyle>
            <a:lvl1pPr indent="0" marL="0">
              <a:buNone/>
              <a:defRPr lang="en-US" sz="1000" dirty="0">
                <a:solidFill>
                  <a:schemeClr val="accent1"/>
                </a:solidFill>
                <a:latin typeface="Consolas" pitchFamily="34" charset="0"/>
                <a:ea typeface="Consolas" pitchFamily="34" charset="-122"/>
                <a:cs typeface="Consolas" pitchFamily="34" charset="-120"/>
              </a:defRPr>
            </a:lvl1pPr>
          </a:lstStyle>
          <a:p>
            <a:pPr indent="0" marL="0">
              <a:buNone/>
            </a:pPr>
            <a:endParaRPr lang="en-US" sz="1000" dirty="0"/>
          </a:p>
        </p:txBody>
      </p:sp>
      <p:sp>
        <p:nvSpPr>
          <p:cNvPr id="5" name="Text 1"/>
          <p:cNvSpPr/>
          <p:nvPr>
            <p:ph idx="103" type="title" hasCustomPrompt="1"/>
          </p:nvPr>
        </p:nvSpPr>
        <p:spPr>
          <a:xfrm>
            <a:off x="609905" y="822960"/>
            <a:ext cx="7498080" cy="731520"/>
          </a:xfrm>
          <a:prstGeom prst="rect">
            <a:avLst/>
          </a:prstGeom>
          <a:noFill/>
          <a:ln/>
        </p:spPr>
        <p:txBody>
          <a:bodyPr wrap="square" rtlCol="0"/>
          <a:lstStyle>
            <a:lvl1pPr algn="l" indent="0" marL="0">
              <a:buNone/>
              <a:defRPr lang="en-US" sz="3200" dirty="0">
                <a:solidFill>
                  <a:schemeClr val="tx1"/>
                </a:solidFill>
                <a:latin typeface="Century Gothic" pitchFamily="34" charset="0"/>
                <a:ea typeface="Century Gothic" pitchFamily="34" charset="-122"/>
                <a:cs typeface="Century Gothic"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Shark Service">
    <p:bg>
      <p:bgPr>
        <a:solidFill>
          <a:schemeClr val="bg2"/>
        </a:solidFill>
      </p:bgPr>
    </p:bg>
    <p:spTree>
      <p:nvGrpSpPr>
        <p:cNvPr id="1" name=""/>
        <p:cNvGrpSpPr/>
        <p:nvPr/>
      </p:nvGrpSpPr>
      <p:grpSpPr>
        <a:xfrm>
          <a:off x="0" y="0"/>
          <a:ext cx="0" cy="0"/>
          <a:chOff x="0" y="0"/>
          <a:chExt cx="0" cy="0"/>
        </a:xfrm>
      </p:grpSpPr>
      <p:pic>
        <p:nvPicPr>
          <p:cNvPr id="2" name="Image 0" descr="C:\Users\ADMIN\Desktop\TEMP\VSHARK_Website\img\vshark-logo.png">    </p:cNvPr>
          <p:cNvPicPr>
            <a:picLocks noChangeAspect="1"/>
          </p:cNvPicPr>
          <p:nvPr/>
        </p:nvPicPr>
        <p:blipFill>
          <a:blip r:embed="rId1"/>
          <a:stretch>
            <a:fillRect/>
          </a:stretch>
        </p:blipFill>
        <p:spPr>
          <a:xfrm>
            <a:off x="609905" y="6382512"/>
            <a:ext cx="818506" cy="173736"/>
          </a:xfrm>
          <a:prstGeom prst="rect">
            <a:avLst/>
          </a:prstGeom>
        </p:spPr>
      </p:pic>
      <p:sp>
        <p:nvSpPr>
          <p:cNvPr id="3" name="Text 0"/>
          <p:cNvSpPr/>
          <p:nvPr/>
        </p:nvSpPr>
        <p:spPr>
          <a:xfrm>
            <a:off x="4270248" y="6382512"/>
            <a:ext cx="3657600" cy="182880"/>
          </a:xfrm>
          <a:prstGeom prst="rect">
            <a:avLst/>
          </a:prstGeom>
          <a:noFill/>
          <a:ln/>
        </p:spPr>
        <p:txBody>
          <a:bodyPr wrap="square" lIns="0" tIns="0" rIns="0" bIns="0" rtlCol="0" anchor="ctr"/>
          <a:lstStyle/>
          <a:p>
            <a:pPr algn="ctr" indent="0" marL="0">
              <a:buNone/>
            </a:pPr>
            <a:r>
              <a:rPr lang="en-US" sz="900" spc="100" kern="0" dirty="0">
                <a:solidFill>
                  <a:schemeClr val="accent2"/>
                </a:solidFill>
                <a:latin typeface="Consolas" pitchFamily="34" charset="0"/>
                <a:ea typeface="Consolas" pitchFamily="34" charset="-122"/>
                <a:cs typeface="Consolas" pitchFamily="34" charset="-120"/>
              </a:rPr>
              <a:t>VSHARKSOLUTIONS.COM</a:t>
            </a:r>
            <a:endParaRPr lang="en-US" sz="900" dirty="0"/>
          </a:p>
        </p:txBody>
      </p:sp>
      <p:sp>
        <p:nvSpPr>
          <p:cNvPr id="4" name="Text 1"/>
          <p:cNvSpPr/>
          <p:nvPr>
            <p:ph idx="102" type="body" hasCustomPrompt="1"/>
          </p:nvPr>
        </p:nvSpPr>
        <p:spPr>
          <a:xfrm>
            <a:off x="5806440" y="548640"/>
            <a:ext cx="5760720" cy="274320"/>
          </a:xfrm>
          <a:prstGeom prst="rect">
            <a:avLst/>
          </a:prstGeom>
          <a:noFill/>
          <a:ln/>
        </p:spPr>
        <p:txBody>
          <a:bodyPr wrap="square" rtlCol="0"/>
          <a:lstStyle>
            <a:lvl1pPr indent="0" marL="0">
              <a:buNone/>
              <a:defRPr lang="en-US" sz="1000" dirty="0">
                <a:solidFill>
                  <a:schemeClr val="accent1"/>
                </a:solidFill>
                <a:latin typeface="Consolas" pitchFamily="34" charset="0"/>
                <a:ea typeface="Consolas" pitchFamily="34" charset="-122"/>
                <a:cs typeface="Consolas" pitchFamily="34" charset="-120"/>
              </a:defRPr>
            </a:lvl1pPr>
          </a:lstStyle>
          <a:p>
            <a:pPr indent="0" marL="0">
              <a:buNone/>
            </a:pPr>
            <a:endParaRPr lang="en-US" sz="1000" dirty="0"/>
          </a:p>
        </p:txBody>
      </p:sp>
      <p:sp>
        <p:nvSpPr>
          <p:cNvPr id="5" name="Text 1"/>
          <p:cNvSpPr/>
          <p:nvPr>
            <p:ph idx="103" type="title" hasCustomPrompt="1"/>
          </p:nvPr>
        </p:nvSpPr>
        <p:spPr>
          <a:xfrm>
            <a:off x="5806440" y="822960"/>
            <a:ext cx="5760720" cy="640080"/>
          </a:xfrm>
          <a:prstGeom prst="rect">
            <a:avLst/>
          </a:prstGeom>
          <a:noFill/>
          <a:ln/>
        </p:spPr>
        <p:txBody>
          <a:bodyPr wrap="square" rtlCol="0"/>
          <a:lstStyle>
            <a:lvl1pPr algn="l" indent="0" marL="0">
              <a:buNone/>
              <a:defRPr lang="en-US" sz="3200" dirty="0">
                <a:solidFill>
                  <a:schemeClr val="tx1"/>
                </a:solidFill>
                <a:latin typeface="Century Gothic" pitchFamily="34" charset="0"/>
                <a:ea typeface="Century Gothic" pitchFamily="34" charset="-122"/>
                <a:cs typeface="Century Gothic"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Shark Dark">
    <p:bg>
      <p:bgPr>
        <a:solidFill>
          <a:schemeClr val="tx2"/>
        </a:solidFill>
      </p:bgPr>
    </p:bg>
    <p:spTree>
      <p:nvGrpSpPr>
        <p:cNvPr id="1" name=""/>
        <p:cNvGrpSpPr/>
        <p:nvPr/>
      </p:nvGrpSpPr>
      <p:grpSpPr>
        <a:xfrm>
          <a:off x="0" y="0"/>
          <a:ext cx="0" cy="0"/>
          <a:chOff x="0" y="0"/>
          <a:chExt cx="0" cy="0"/>
        </a:xfrm>
      </p:grpSpPr>
      <p:pic>
        <p:nvPicPr>
          <p:cNvPr id="2" name="Image 0" descr="C:\Users\ADMIN\Desktop\TEMP\VSHARK_Website\img\vshark-logo-white.png">    </p:cNvPr>
          <p:cNvPicPr>
            <a:picLocks noChangeAspect="1"/>
          </p:cNvPicPr>
          <p:nvPr/>
        </p:nvPicPr>
        <p:blipFill>
          <a:blip r:embed="rId1"/>
          <a:stretch>
            <a:fillRect/>
          </a:stretch>
        </p:blipFill>
        <p:spPr>
          <a:xfrm>
            <a:off x="609905" y="685800"/>
            <a:ext cx="1981647" cy="420624"/>
          </a:xfrm>
          <a:prstGeom prst="rect">
            <a:avLst/>
          </a:prstGeom>
        </p:spPr>
      </p:pic>
      <p:sp>
        <p:nvSpPr>
          <p:cNvPr id="3" name="Text 0"/>
          <p:cNvSpPr/>
          <p:nvPr>
            <p:ph idx="101" type="body" hasCustomPrompt="1"/>
          </p:nvPr>
        </p:nvSpPr>
        <p:spPr>
          <a:xfrm>
            <a:off x="609905" y="1600200"/>
            <a:ext cx="5486400" cy="274320"/>
          </a:xfrm>
          <a:prstGeom prst="rect">
            <a:avLst/>
          </a:prstGeom>
          <a:noFill/>
          <a:ln/>
        </p:spPr>
        <p:txBody>
          <a:bodyPr wrap="square" rtlCol="0"/>
          <a:lstStyle>
            <a:lvl1pPr indent="0" marL="0">
              <a:buNone/>
              <a:defRPr lang="en-US" sz="1000" dirty="0">
                <a:solidFill>
                  <a:schemeClr val="accent4"/>
                </a:solidFill>
                <a:latin typeface="Consolas" pitchFamily="34" charset="0"/>
                <a:ea typeface="Consolas" pitchFamily="34" charset="-122"/>
                <a:cs typeface="Consolas" pitchFamily="34" charset="-120"/>
              </a:defRPr>
            </a:lvl1pPr>
          </a:lstStyle>
          <a:p>
            <a:pPr indent="0" marL="0">
              <a:buNone/>
            </a:pPr>
            <a:endParaRPr lang="en-US" sz="1000" dirty="0"/>
          </a:p>
        </p:txBody>
      </p:sp>
      <p:sp>
        <p:nvSpPr>
          <p:cNvPr id="4" name="Text 0"/>
          <p:cNvSpPr/>
          <p:nvPr>
            <p:ph idx="102" type="title" hasCustomPrompt="1"/>
          </p:nvPr>
        </p:nvSpPr>
        <p:spPr>
          <a:xfrm>
            <a:off x="609905" y="1920240"/>
            <a:ext cx="5943600" cy="1371600"/>
          </a:xfrm>
          <a:prstGeom prst="rect">
            <a:avLst/>
          </a:prstGeom>
          <a:noFill/>
          <a:ln/>
        </p:spPr>
        <p:txBody>
          <a:bodyPr wrap="square" rtlCol="0"/>
          <a:lstStyle>
            <a:lvl1pPr algn="l" indent="0" marL="0">
              <a:buNone/>
              <a:defRPr lang="en-US" sz="4000" dirty="0">
                <a:solidFill>
                  <a:schemeClr val="bg1"/>
                </a:solidFill>
                <a:latin typeface="Century Gothic" pitchFamily="34" charset="0"/>
                <a:ea typeface="Century Gothic" pitchFamily="34" charset="-122"/>
                <a:cs typeface="Century Gothic"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image" Target="../media/image-12-7.jpg"/><Relationship Id="rId8" Type="http://schemas.openxmlformats.org/officeDocument/2006/relationships/image" Target="../media/image-12-8.jpg"/><Relationship Id="rId9" Type="http://schemas.openxmlformats.org/officeDocument/2006/relationships/slideLayout" Target="../slideLayouts/slideLayout2.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image" Target="../media/image-14-5.jpg"/><Relationship Id="rId6" Type="http://schemas.openxmlformats.org/officeDocument/2006/relationships/image" Target="../media/image-14-6.jp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mailto:info@vsharksolutions.com" TargetMode="External"/><Relationship Id="rId2" Type="http://schemas.openxmlformats.org/officeDocument/2006/relationships/hyperlink" Target="tel:+919514248525" TargetMode="External"/><Relationship Id="rId3" Type="http://schemas.openxmlformats.org/officeDocument/2006/relationships/hyperlink" Target="tel:+971522486238" TargetMode="External"/><Relationship Id="rId4" Type="http://schemas.openxmlformats.org/officeDocument/2006/relationships/hyperlink" Target="https://wa.me/919514248525" TargetMode="External"/><Relationship Id="rId5" Type="http://schemas.openxmlformats.org/officeDocument/2006/relationships/hyperlink" Target="https://vsharksolutions.com" TargetMode="External"/><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609905" y="1600200"/>
            <a:ext cx="5486400" cy="274320"/>
          </a:xfrm>
          <a:prstGeom prst="rect">
            <a:avLst/>
          </a:prstGeom>
          <a:noFill/>
          <a:ln/>
        </p:spPr>
        <p:txBody>
          <a:bodyPr wrap="square" lIns="0" tIns="0" rIns="0" bIns="0" rtlCol="0" anchor="t"/>
          <a:lstStyle/>
          <a:p>
            <a:pPr indent="0" marL="0">
              <a:buNone/>
            </a:pPr>
            <a:r>
              <a:rPr lang="en-US" sz="1000" dirty="0">
                <a:solidFill>
                  <a:schemeClr val="accent4"/>
                </a:solidFill>
                <a:latin typeface="Consolas" pitchFamily="34" charset="0"/>
                <a:ea typeface="Consolas" pitchFamily="34" charset="-122"/>
                <a:cs typeface="Consolas" pitchFamily="34" charset="-120"/>
              </a:rPr>
              <a:t>3D SCANNING &amp; 3D DESIGN SERVICES</a:t>
            </a:r>
            <a:endParaRPr lang="en-US" sz="1000" dirty="0"/>
          </a:p>
        </p:txBody>
      </p:sp>
      <p:sp>
        <p:nvSpPr>
          <p:cNvPr id="3" name="Text 0"/>
          <p:cNvSpPr/>
          <p:nvPr>
            <p:ph idx="102" type="title" hasCustomPrompt="1"/>
          </p:nvPr>
        </p:nvSpPr>
        <p:spPr>
          <a:xfrm>
            <a:off x="609905" y="1920240"/>
            <a:ext cx="5943600" cy="1371600"/>
          </a:xfrm>
          <a:prstGeom prst="rect">
            <a:avLst/>
          </a:prstGeom>
          <a:noFill/>
          <a:ln/>
        </p:spPr>
        <p:txBody>
          <a:bodyPr wrap="square" lIns="0" tIns="0" rIns="0" bIns="0" rtlCol="0" anchor="t"/>
          <a:lstStyle/>
          <a:p>
            <a:pPr algn="l" indent="0" marL="0">
              <a:buNone/>
            </a:pPr>
            <a:r>
              <a:rPr lang="en-US" sz="4000" dirty="0">
                <a:solidFill>
                  <a:schemeClr val="bg1"/>
                </a:solidFill>
                <a:latin typeface="Century Gothic" pitchFamily="34" charset="0"/>
                <a:ea typeface="Century Gothic" pitchFamily="34" charset="-122"/>
                <a:cs typeface="Century Gothic" pitchFamily="34" charset="-120"/>
              </a:rPr>
              <a:t>We capture reality.</a:t>
            </a:r>
            <a:endParaRPr lang="en-US" sz="4000" dirty="0"/>
          </a:p>
          <a:p>
            <a:pPr algn="l" indent="0" marL="0">
              <a:buNone/>
            </a:pPr>
            <a:r>
              <a:rPr lang="en-US" sz="4000" dirty="0">
                <a:solidFill>
                  <a:schemeClr val="accent4"/>
                </a:solidFill>
                <a:latin typeface="Century Gothic" pitchFamily="34" charset="0"/>
                <a:ea typeface="Century Gothic" pitchFamily="34" charset="-122"/>
                <a:cs typeface="Century Gothic" pitchFamily="34" charset="-120"/>
              </a:rPr>
              <a:t>Then we engineer it.</a:t>
            </a:r>
            <a:endParaRPr lang="en-US" sz="4000" dirty="0"/>
          </a:p>
        </p:txBody>
      </p:sp>
      <p:sp>
        <p:nvSpPr>
          <p:cNvPr id="5" name="Text 2"/>
          <p:cNvSpPr txBox="1"/>
          <p:nvPr/>
        </p:nvSpPr>
        <p:spPr>
          <a:xfrm>
            <a:off x="609905" y="3611880"/>
            <a:ext cx="5669280" cy="822960"/>
          </a:xfrm>
          <a:prstGeom prst="rect">
            <a:avLst/>
          </a:prstGeom>
          <a:noFill/>
          <a:ln/>
        </p:spPr>
        <p:txBody>
          <a:bodyPr wrap="square" lIns="0" tIns="0" rIns="0" bIns="0" rtlCol="0" anchor="t"/>
          <a:lstStyle/>
          <a:p>
            <a:pPr indent="0" marL="0">
              <a:buNone/>
            </a:pPr>
            <a:r>
              <a:rPr lang="en-US" sz="1400" dirty="0">
                <a:solidFill>
                  <a:schemeClr val="accent2"/>
                </a:solidFill>
              </a:rPr>
              <a:t>Precise 3D scanning and innovative 3D design that transform physical parts, products and spaces into digital models — and back into physical prototypes.</a:t>
            </a:r>
            <a:endParaRPr lang="en-US" sz="1400" dirty="0"/>
          </a:p>
        </p:txBody>
      </p:sp>
      <p:sp>
        <p:nvSpPr>
          <p:cNvPr id="6" name="Text 3"/>
          <p:cNvSpPr txBox="1"/>
          <p:nvPr/>
        </p:nvSpPr>
        <p:spPr>
          <a:xfrm>
            <a:off x="609905" y="5349240"/>
            <a:ext cx="2194560" cy="201168"/>
          </a:xfrm>
          <a:prstGeom prst="rect">
            <a:avLst/>
          </a:prstGeom>
          <a:noFill/>
          <a:ln/>
        </p:spPr>
        <p:txBody>
          <a:bodyPr wrap="square" lIns="0" tIns="0" rIns="0" bIns="0" rtlCol="0" anchor="t"/>
          <a:lstStyle/>
          <a:p>
            <a:pPr indent="0" marL="0">
              <a:buNone/>
            </a:pPr>
            <a:r>
              <a:rPr lang="en-US" sz="900" spc="100" kern="0" dirty="0">
                <a:solidFill>
                  <a:schemeClr val="accent2"/>
                </a:solidFill>
                <a:latin typeface="Consolas" pitchFamily="34" charset="0"/>
                <a:ea typeface="Consolas" pitchFamily="34" charset="-122"/>
                <a:cs typeface="Consolas" pitchFamily="34" charset="-120"/>
              </a:rPr>
              <a:t>EMAIL</a:t>
            </a:r>
            <a:endParaRPr lang="en-US" sz="900" dirty="0"/>
          </a:p>
        </p:txBody>
      </p:sp>
      <p:sp>
        <p:nvSpPr>
          <p:cNvPr id="7" name="Text 4"/>
          <p:cNvSpPr txBox="1"/>
          <p:nvPr/>
        </p:nvSpPr>
        <p:spPr>
          <a:xfrm>
            <a:off x="609905" y="5577840"/>
            <a:ext cx="2286000" cy="274320"/>
          </a:xfrm>
          <a:prstGeom prst="rect">
            <a:avLst/>
          </a:prstGeom>
          <a:noFill/>
          <a:ln/>
        </p:spPr>
        <p:txBody>
          <a:bodyPr wrap="square" lIns="0" tIns="0" rIns="0" bIns="0" rtlCol="0" anchor="t"/>
          <a:lstStyle/>
          <a:p>
            <a:pPr indent="0" marL="0">
              <a:buNone/>
            </a:pPr>
            <a:r>
              <a:rPr lang="en-US" sz="1300" b="1" dirty="0">
                <a:solidFill>
                  <a:schemeClr val="bg1"/>
                </a:solidFill>
              </a:rPr>
              <a:t>info@vsharksolutions.com</a:t>
            </a:r>
            <a:endParaRPr lang="en-US" sz="1300" dirty="0"/>
          </a:p>
        </p:txBody>
      </p:sp>
      <p:sp>
        <p:nvSpPr>
          <p:cNvPr id="8" name="Text 5"/>
          <p:cNvSpPr txBox="1"/>
          <p:nvPr/>
        </p:nvSpPr>
        <p:spPr>
          <a:xfrm>
            <a:off x="2941625" y="5349240"/>
            <a:ext cx="2194560" cy="201168"/>
          </a:xfrm>
          <a:prstGeom prst="rect">
            <a:avLst/>
          </a:prstGeom>
          <a:noFill/>
          <a:ln/>
        </p:spPr>
        <p:txBody>
          <a:bodyPr wrap="square" lIns="0" tIns="0" rIns="0" bIns="0" rtlCol="0" anchor="t"/>
          <a:lstStyle/>
          <a:p>
            <a:pPr indent="0" marL="0">
              <a:buNone/>
            </a:pPr>
            <a:r>
              <a:rPr lang="en-US" sz="900" spc="100" kern="0" dirty="0">
                <a:solidFill>
                  <a:schemeClr val="accent2"/>
                </a:solidFill>
                <a:latin typeface="Consolas" pitchFamily="34" charset="0"/>
                <a:ea typeface="Consolas" pitchFamily="34" charset="-122"/>
                <a:cs typeface="Consolas" pitchFamily="34" charset="-120"/>
              </a:rPr>
              <a:t>INDIA</a:t>
            </a:r>
            <a:endParaRPr lang="en-US" sz="900" dirty="0"/>
          </a:p>
        </p:txBody>
      </p:sp>
      <p:sp>
        <p:nvSpPr>
          <p:cNvPr id="9" name="Text 6"/>
          <p:cNvSpPr txBox="1"/>
          <p:nvPr/>
        </p:nvSpPr>
        <p:spPr>
          <a:xfrm>
            <a:off x="2941625" y="5577840"/>
            <a:ext cx="2286000" cy="274320"/>
          </a:xfrm>
          <a:prstGeom prst="rect">
            <a:avLst/>
          </a:prstGeom>
          <a:noFill/>
          <a:ln/>
        </p:spPr>
        <p:txBody>
          <a:bodyPr wrap="square" lIns="0" tIns="0" rIns="0" bIns="0" rtlCol="0" anchor="t"/>
          <a:lstStyle/>
          <a:p>
            <a:pPr indent="0" marL="0">
              <a:buNone/>
            </a:pPr>
            <a:r>
              <a:rPr lang="en-US" sz="1300" b="1" dirty="0">
                <a:solidFill>
                  <a:schemeClr val="bg1"/>
                </a:solidFill>
              </a:rPr>
              <a:t>+91 95142 48525</a:t>
            </a:r>
            <a:endParaRPr lang="en-US" sz="1300" dirty="0"/>
          </a:p>
        </p:txBody>
      </p:sp>
      <p:sp>
        <p:nvSpPr>
          <p:cNvPr id="10" name="Text 7"/>
          <p:cNvSpPr txBox="1"/>
          <p:nvPr/>
        </p:nvSpPr>
        <p:spPr>
          <a:xfrm>
            <a:off x="4541825" y="5349240"/>
            <a:ext cx="2194560" cy="201168"/>
          </a:xfrm>
          <a:prstGeom prst="rect">
            <a:avLst/>
          </a:prstGeom>
          <a:noFill/>
          <a:ln/>
        </p:spPr>
        <p:txBody>
          <a:bodyPr wrap="square" lIns="0" tIns="0" rIns="0" bIns="0" rtlCol="0" anchor="t"/>
          <a:lstStyle/>
          <a:p>
            <a:pPr indent="0" marL="0">
              <a:buNone/>
            </a:pPr>
            <a:r>
              <a:rPr lang="en-US" sz="900" spc="100" kern="0" dirty="0">
                <a:solidFill>
                  <a:schemeClr val="accent2"/>
                </a:solidFill>
                <a:latin typeface="Consolas" pitchFamily="34" charset="0"/>
                <a:ea typeface="Consolas" pitchFamily="34" charset="-122"/>
                <a:cs typeface="Consolas" pitchFamily="34" charset="-120"/>
              </a:rPr>
              <a:t>UAE</a:t>
            </a:r>
            <a:endParaRPr lang="en-US" sz="900" dirty="0"/>
          </a:p>
        </p:txBody>
      </p:sp>
      <p:sp>
        <p:nvSpPr>
          <p:cNvPr id="11" name="Text 8"/>
          <p:cNvSpPr txBox="1"/>
          <p:nvPr/>
        </p:nvSpPr>
        <p:spPr>
          <a:xfrm>
            <a:off x="4541825" y="5577840"/>
            <a:ext cx="2286000" cy="274320"/>
          </a:xfrm>
          <a:prstGeom prst="rect">
            <a:avLst/>
          </a:prstGeom>
          <a:noFill/>
          <a:ln/>
        </p:spPr>
        <p:txBody>
          <a:bodyPr wrap="square" lIns="0" tIns="0" rIns="0" bIns="0" rtlCol="0" anchor="t"/>
          <a:lstStyle/>
          <a:p>
            <a:pPr indent="0" marL="0">
              <a:buNone/>
            </a:pPr>
            <a:r>
              <a:rPr lang="en-US" sz="1300" b="1" dirty="0">
                <a:solidFill>
                  <a:schemeClr val="bg1"/>
                </a:solidFill>
              </a:rPr>
              <a:t>+971 52 248 6238</a:t>
            </a:r>
            <a:endParaRPr lang="en-US" sz="1300" dirty="0"/>
          </a:p>
        </p:txBody>
      </p:sp>
      <p:pic>
        <p:nvPicPr>
          <p:cNvPr id="12" name="Cover scan" descr="C:\Users\ADMIN\Desktop\TEMP\VSHARK_Website\collateral\assets\cylinder-head-scan.jpg">    </p:cNvPr>
          <p:cNvPicPr>
            <a:picLocks noChangeAspect="1"/>
          </p:cNvPicPr>
          <p:nvPr/>
        </p:nvPicPr>
        <p:blipFill>
          <a:blip r:embed="rId1"/>
          <a:srcRect l="0" r="0" t="9175" b="9175"/>
          <a:stretch/>
        </p:blipFill>
        <p:spPr>
          <a:xfrm>
            <a:off x="6702552" y="685800"/>
            <a:ext cx="4873752" cy="2651760"/>
          </a:xfrm>
          <a:prstGeom prst="rect">
            <a:avLst/>
          </a:prstGeom>
        </p:spPr>
      </p:pic>
      <p:pic>
        <p:nvPicPr>
          <p:cNvPr id="13" name="Cover CAD" descr="C:\Users\ADMIN\Desktop\TEMP\VSHARK_Website\collateral\assets\cylinder-head-cad.jpg">    </p:cNvPr>
          <p:cNvPicPr>
            <a:picLocks noChangeAspect="1"/>
          </p:cNvPicPr>
          <p:nvPr/>
        </p:nvPicPr>
        <p:blipFill>
          <a:blip r:embed="rId2"/>
          <a:srcRect l="0" r="0" t="9175" b="9175"/>
          <a:stretch/>
        </p:blipFill>
        <p:spPr>
          <a:xfrm>
            <a:off x="6702552" y="3474720"/>
            <a:ext cx="4873752" cy="2651760"/>
          </a:xfrm>
          <a:prstGeom prst="rect">
            <a:avLst/>
          </a:prstGeom>
        </p:spPr>
      </p:pic>
      <p:sp>
        <p:nvSpPr>
          <p:cNvPr id="14" name="Shape 9"/>
          <p:cNvSpPr/>
          <p:nvPr/>
        </p:nvSpPr>
        <p:spPr>
          <a:xfrm>
            <a:off x="6839712" y="822960"/>
            <a:ext cx="800100" cy="237744"/>
          </a:xfrm>
          <a:prstGeom prst="rect">
            <a:avLst/>
          </a:prstGeom>
          <a:solidFill>
            <a:schemeClr val="tx2">
              <a:alpha val="85000"/>
            </a:schemeClr>
          </a:solidFill>
          <a:ln/>
        </p:spPr>
      </p:sp>
      <p:sp>
        <p:nvSpPr>
          <p:cNvPr id="15" name="Text 10"/>
          <p:cNvSpPr txBox="1"/>
          <p:nvPr/>
        </p:nvSpPr>
        <p:spPr>
          <a:xfrm>
            <a:off x="6839712" y="822960"/>
            <a:ext cx="80010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01 · SCAN</a:t>
            </a:r>
            <a:endParaRPr lang="en-US" sz="900" dirty="0"/>
          </a:p>
        </p:txBody>
      </p:sp>
      <p:sp>
        <p:nvSpPr>
          <p:cNvPr id="16" name="Shape 11"/>
          <p:cNvSpPr/>
          <p:nvPr/>
        </p:nvSpPr>
        <p:spPr>
          <a:xfrm>
            <a:off x="6839712" y="3611880"/>
            <a:ext cx="731520" cy="237744"/>
          </a:xfrm>
          <a:prstGeom prst="rect">
            <a:avLst/>
          </a:prstGeom>
          <a:solidFill>
            <a:schemeClr val="accent1"/>
          </a:solidFill>
          <a:ln/>
        </p:spPr>
      </p:sp>
      <p:sp>
        <p:nvSpPr>
          <p:cNvPr id="17" name="Text 12"/>
          <p:cNvSpPr txBox="1"/>
          <p:nvPr/>
        </p:nvSpPr>
        <p:spPr>
          <a:xfrm>
            <a:off x="6839712" y="3611880"/>
            <a:ext cx="73152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02 · CAD</a:t>
            </a:r>
            <a:endParaRPr lang="en-US" sz="9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609905" y="548640"/>
            <a:ext cx="731520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( 01 ) — WHO WE ARE</a:t>
            </a:r>
            <a:endParaRPr lang="en-US" sz="1000" dirty="0"/>
          </a:p>
        </p:txBody>
      </p:sp>
      <p:sp>
        <p:nvSpPr>
          <p:cNvPr id="3" name="Text 1"/>
          <p:cNvSpPr/>
          <p:nvPr>
            <p:ph idx="103" type="title" hasCustomPrompt="1"/>
          </p:nvPr>
        </p:nvSpPr>
        <p:spPr>
          <a:xfrm>
            <a:off x="609905" y="822960"/>
            <a:ext cx="7498080" cy="73152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From physical to digital </a:t>
            </a:r>
            <a:pPr algn="l" indent="0" marL="0">
              <a:buNone/>
            </a:pPr>
            <a:r>
              <a:rPr lang="en-US" sz="3200" dirty="0">
                <a:solidFill>
                  <a:schemeClr val="accent1"/>
                </a:solidFill>
                <a:latin typeface="Century Gothic" pitchFamily="34" charset="0"/>
                <a:ea typeface="Century Gothic" pitchFamily="34" charset="-122"/>
                <a:cs typeface="Century Gothic" pitchFamily="34" charset="-120"/>
              </a:rPr>
              <a:t>and back</a:t>
            </a:r>
            <a:endParaRPr lang="en-US" sz="3200" dirty="0"/>
          </a:p>
        </p:txBody>
      </p:sp>
      <p:sp>
        <p:nvSpPr>
          <p:cNvPr id="5" name="Text 2"/>
          <p:cNvSpPr txBox="1"/>
          <p:nvPr/>
        </p:nvSpPr>
        <p:spPr>
          <a:xfrm>
            <a:off x="609905" y="2011680"/>
            <a:ext cx="5577840" cy="2926080"/>
          </a:xfrm>
          <a:prstGeom prst="rect">
            <a:avLst/>
          </a:prstGeom>
          <a:noFill/>
          <a:ln/>
        </p:spPr>
        <p:txBody>
          <a:bodyPr wrap="square" lIns="0" tIns="0" rIns="0" bIns="0" rtlCol="0" anchor="t"/>
          <a:lstStyle/>
          <a:p>
            <a:pPr indent="0" marL="0">
              <a:lnSpc>
                <a:spcPct val="115000"/>
              </a:lnSpc>
              <a:spcAft>
                <a:spcPts val="1000"/>
              </a:spcAft>
              <a:buNone/>
            </a:pPr>
            <a:r>
              <a:rPr lang="en-US" sz="1600" dirty="0">
                <a:solidFill>
                  <a:schemeClr val="accent6"/>
                </a:solidFill>
              </a:rPr>
              <a:t>VShark Solutions provides state-of-the-art 3D scanning and 3D design services for businesses and individuals.</a:t>
            </a:r>
            <a:endParaRPr lang="en-US" sz="1600" dirty="0"/>
          </a:p>
          <a:p>
            <a:pPr indent="0" marL="0">
              <a:lnSpc>
                <a:spcPct val="115000"/>
              </a:lnSpc>
              <a:spcAft>
                <a:spcPts val="1000"/>
              </a:spcAft>
              <a:buNone/>
            </a:pPr>
            <a:r>
              <a:rPr lang="en-US" sz="1600" dirty="0">
                <a:solidFill>
                  <a:schemeClr val="accent6"/>
                </a:solidFill>
              </a:rPr>
              <a:t>We capture parts, products and spaces as accurate digital data — then engineer that data into editable CAD, flawless surfaces, BIM models, inspection reports, prototypes and photoreal visuals. One partner, from the physical object to the finished digital deliverable and back again.</a:t>
            </a:r>
            <a:endParaRPr lang="en-US" sz="1600" dirty="0"/>
          </a:p>
        </p:txBody>
      </p:sp>
      <p:sp>
        <p:nvSpPr>
          <p:cNvPr id="6" name="Stat Scanner precision (up to)"/>
          <p:cNvSpPr/>
          <p:nvPr/>
        </p:nvSpPr>
        <p:spPr>
          <a:xfrm>
            <a:off x="6702552" y="1828800"/>
            <a:ext cx="2377440" cy="1737360"/>
          </a:xfrm>
          <a:prstGeom prst="roundRect">
            <a:avLst>
              <a:gd name="adj" fmla="val 4211"/>
            </a:avLst>
          </a:prstGeom>
          <a:solidFill>
            <a:schemeClr val="bg1"/>
          </a:solidFill>
          <a:ln w="9525">
            <a:solidFill>
              <a:schemeClr val="accent5"/>
            </a:solidFill>
            <a:prstDash val="solid"/>
          </a:ln>
        </p:spPr>
      </p:sp>
      <p:sp>
        <p:nvSpPr>
          <p:cNvPr id="7" name="Text 4"/>
          <p:cNvSpPr txBox="1"/>
          <p:nvPr/>
        </p:nvSpPr>
        <p:spPr>
          <a:xfrm>
            <a:off x="6931152" y="2148840"/>
            <a:ext cx="2011680" cy="685800"/>
          </a:xfrm>
          <a:prstGeom prst="rect">
            <a:avLst/>
          </a:prstGeom>
          <a:noFill/>
          <a:ln/>
        </p:spPr>
        <p:txBody>
          <a:bodyPr wrap="square" lIns="0" tIns="0" rIns="0" bIns="0" rtlCol="0" anchor="b"/>
          <a:lstStyle/>
          <a:p>
            <a:pPr indent="0" marL="0">
              <a:buNone/>
            </a:pPr>
            <a:r>
              <a:rPr lang="en-US" sz="4400" dirty="0">
                <a:solidFill>
                  <a:schemeClr val="tx1"/>
                </a:solidFill>
                <a:latin typeface="Century Gothic" pitchFamily="34" charset="0"/>
                <a:ea typeface="Century Gothic" pitchFamily="34" charset="-122"/>
                <a:cs typeface="Century Gothic" pitchFamily="34" charset="-120"/>
              </a:rPr>
              <a:t>0.02</a:t>
            </a:r>
            <a:pPr indent="0" marL="0">
              <a:buNone/>
            </a:pPr>
            <a:r>
              <a:rPr lang="en-US" sz="2000" dirty="0">
                <a:solidFill>
                  <a:schemeClr val="accent1"/>
                </a:solidFill>
                <a:latin typeface="Century Gothic" pitchFamily="34" charset="0"/>
                <a:ea typeface="Century Gothic" pitchFamily="34" charset="-122"/>
                <a:cs typeface="Century Gothic" pitchFamily="34" charset="-120"/>
              </a:rPr>
              <a:t> mm</a:t>
            </a:r>
            <a:endParaRPr lang="en-US" sz="4400" dirty="0"/>
          </a:p>
        </p:txBody>
      </p:sp>
      <p:sp>
        <p:nvSpPr>
          <p:cNvPr id="8" name="Text 5"/>
          <p:cNvSpPr txBox="1"/>
          <p:nvPr/>
        </p:nvSpPr>
        <p:spPr>
          <a:xfrm>
            <a:off x="6931152" y="2971800"/>
            <a:ext cx="2011680" cy="411480"/>
          </a:xfrm>
          <a:prstGeom prst="rect">
            <a:avLst/>
          </a:prstGeom>
          <a:noFill/>
          <a:ln/>
        </p:spPr>
        <p:txBody>
          <a:bodyPr wrap="square" lIns="0" tIns="0" rIns="0" bIns="0" rtlCol="0" anchor="t"/>
          <a:lstStyle/>
          <a:p>
            <a:pPr indent="0" marL="0">
              <a:buNone/>
            </a:pPr>
            <a:r>
              <a:rPr lang="en-US" sz="1000" spc="100" kern="0" dirty="0">
                <a:solidFill>
                  <a:schemeClr val="accent3"/>
                </a:solidFill>
                <a:latin typeface="Consolas" pitchFamily="34" charset="0"/>
                <a:ea typeface="Consolas" pitchFamily="34" charset="-122"/>
                <a:cs typeface="Consolas" pitchFamily="34" charset="-120"/>
              </a:rPr>
              <a:t>SCANNER PRECISION (UP TO)</a:t>
            </a:r>
            <a:endParaRPr lang="en-US" sz="1000" dirty="0"/>
          </a:p>
        </p:txBody>
      </p:sp>
      <p:sp>
        <p:nvSpPr>
          <p:cNvPr id="9" name="Stat Core services"/>
          <p:cNvSpPr/>
          <p:nvPr/>
        </p:nvSpPr>
        <p:spPr>
          <a:xfrm>
            <a:off x="9171432" y="1828800"/>
            <a:ext cx="2377440" cy="1737360"/>
          </a:xfrm>
          <a:prstGeom prst="roundRect">
            <a:avLst>
              <a:gd name="adj" fmla="val 4211"/>
            </a:avLst>
          </a:prstGeom>
          <a:solidFill>
            <a:schemeClr val="bg1"/>
          </a:solidFill>
          <a:ln w="9525">
            <a:solidFill>
              <a:schemeClr val="accent5"/>
            </a:solidFill>
            <a:prstDash val="solid"/>
          </a:ln>
        </p:spPr>
      </p:sp>
      <p:sp>
        <p:nvSpPr>
          <p:cNvPr id="10" name="Text 7"/>
          <p:cNvSpPr txBox="1"/>
          <p:nvPr/>
        </p:nvSpPr>
        <p:spPr>
          <a:xfrm>
            <a:off x="9400032" y="2148840"/>
            <a:ext cx="2011680" cy="685800"/>
          </a:xfrm>
          <a:prstGeom prst="rect">
            <a:avLst/>
          </a:prstGeom>
          <a:noFill/>
          <a:ln/>
        </p:spPr>
        <p:txBody>
          <a:bodyPr wrap="square" lIns="0" tIns="0" rIns="0" bIns="0" rtlCol="0" anchor="b"/>
          <a:lstStyle/>
          <a:p>
            <a:pPr indent="0" marL="0">
              <a:buNone/>
            </a:pPr>
            <a:r>
              <a:rPr lang="en-US" sz="4400" dirty="0">
                <a:solidFill>
                  <a:schemeClr val="tx1"/>
                </a:solidFill>
                <a:latin typeface="Century Gothic" pitchFamily="34" charset="0"/>
                <a:ea typeface="Century Gothic" pitchFamily="34" charset="-122"/>
                <a:cs typeface="Century Gothic" pitchFamily="34" charset="-120"/>
              </a:rPr>
              <a:t>7</a:t>
            </a:r>
            <a:pPr indent="0" marL="0">
              <a:buNone/>
            </a:pPr>
            <a:endParaRPr lang="en-US" sz="4400" dirty="0"/>
          </a:p>
        </p:txBody>
      </p:sp>
      <p:sp>
        <p:nvSpPr>
          <p:cNvPr id="11" name="Text 8"/>
          <p:cNvSpPr txBox="1"/>
          <p:nvPr/>
        </p:nvSpPr>
        <p:spPr>
          <a:xfrm>
            <a:off x="9400032" y="2971800"/>
            <a:ext cx="2011680" cy="411480"/>
          </a:xfrm>
          <a:prstGeom prst="rect">
            <a:avLst/>
          </a:prstGeom>
          <a:noFill/>
          <a:ln/>
        </p:spPr>
        <p:txBody>
          <a:bodyPr wrap="square" lIns="0" tIns="0" rIns="0" bIns="0" rtlCol="0" anchor="t"/>
          <a:lstStyle/>
          <a:p>
            <a:pPr indent="0" marL="0">
              <a:buNone/>
            </a:pPr>
            <a:r>
              <a:rPr lang="en-US" sz="1000" spc="100" kern="0" dirty="0">
                <a:solidFill>
                  <a:schemeClr val="accent3"/>
                </a:solidFill>
                <a:latin typeface="Consolas" pitchFamily="34" charset="0"/>
                <a:ea typeface="Consolas" pitchFamily="34" charset="-122"/>
                <a:cs typeface="Consolas" pitchFamily="34" charset="-120"/>
              </a:rPr>
              <a:t>CORE SERVICES</a:t>
            </a:r>
            <a:endParaRPr lang="en-US" sz="1000" dirty="0"/>
          </a:p>
        </p:txBody>
      </p:sp>
      <p:sp>
        <p:nvSpPr>
          <p:cNvPr id="12" name="Stat Industries served"/>
          <p:cNvSpPr/>
          <p:nvPr/>
        </p:nvSpPr>
        <p:spPr>
          <a:xfrm>
            <a:off x="6702552" y="3703320"/>
            <a:ext cx="2377440" cy="1737360"/>
          </a:xfrm>
          <a:prstGeom prst="roundRect">
            <a:avLst>
              <a:gd name="adj" fmla="val 4211"/>
            </a:avLst>
          </a:prstGeom>
          <a:solidFill>
            <a:schemeClr val="bg1"/>
          </a:solidFill>
          <a:ln w="9525">
            <a:solidFill>
              <a:schemeClr val="accent5"/>
            </a:solidFill>
            <a:prstDash val="solid"/>
          </a:ln>
        </p:spPr>
      </p:sp>
      <p:sp>
        <p:nvSpPr>
          <p:cNvPr id="13" name="Text 10"/>
          <p:cNvSpPr txBox="1"/>
          <p:nvPr/>
        </p:nvSpPr>
        <p:spPr>
          <a:xfrm>
            <a:off x="6931152" y="4023360"/>
            <a:ext cx="2011680" cy="685800"/>
          </a:xfrm>
          <a:prstGeom prst="rect">
            <a:avLst/>
          </a:prstGeom>
          <a:noFill/>
          <a:ln/>
        </p:spPr>
        <p:txBody>
          <a:bodyPr wrap="square" lIns="0" tIns="0" rIns="0" bIns="0" rtlCol="0" anchor="b"/>
          <a:lstStyle/>
          <a:p>
            <a:pPr indent="0" marL="0">
              <a:buNone/>
            </a:pPr>
            <a:r>
              <a:rPr lang="en-US" sz="4400" dirty="0">
                <a:solidFill>
                  <a:schemeClr val="tx1"/>
                </a:solidFill>
                <a:latin typeface="Century Gothic" pitchFamily="34" charset="0"/>
                <a:ea typeface="Century Gothic" pitchFamily="34" charset="-122"/>
                <a:cs typeface="Century Gothic" pitchFamily="34" charset="-120"/>
              </a:rPr>
              <a:t>6</a:t>
            </a:r>
            <a:pPr indent="0" marL="0">
              <a:buNone/>
            </a:pPr>
            <a:endParaRPr lang="en-US" sz="4400" dirty="0"/>
          </a:p>
        </p:txBody>
      </p:sp>
      <p:sp>
        <p:nvSpPr>
          <p:cNvPr id="14" name="Text 11"/>
          <p:cNvSpPr txBox="1"/>
          <p:nvPr/>
        </p:nvSpPr>
        <p:spPr>
          <a:xfrm>
            <a:off x="6931152" y="4846320"/>
            <a:ext cx="2011680" cy="411480"/>
          </a:xfrm>
          <a:prstGeom prst="rect">
            <a:avLst/>
          </a:prstGeom>
          <a:noFill/>
          <a:ln/>
        </p:spPr>
        <p:txBody>
          <a:bodyPr wrap="square" lIns="0" tIns="0" rIns="0" bIns="0" rtlCol="0" anchor="t"/>
          <a:lstStyle/>
          <a:p>
            <a:pPr indent="0" marL="0">
              <a:buNone/>
            </a:pPr>
            <a:r>
              <a:rPr lang="en-US" sz="1000" spc="100" kern="0" dirty="0">
                <a:solidFill>
                  <a:schemeClr val="accent3"/>
                </a:solidFill>
                <a:latin typeface="Consolas" pitchFamily="34" charset="0"/>
                <a:ea typeface="Consolas" pitchFamily="34" charset="-122"/>
                <a:cs typeface="Consolas" pitchFamily="34" charset="-120"/>
              </a:rPr>
              <a:t>INDUSTRIES SERVED</a:t>
            </a:r>
            <a:endParaRPr lang="en-US" sz="1000" dirty="0"/>
          </a:p>
        </p:txBody>
      </p:sp>
      <p:sp>
        <p:nvSpPr>
          <p:cNvPr id="15" name="Stat Countries served"/>
          <p:cNvSpPr/>
          <p:nvPr/>
        </p:nvSpPr>
        <p:spPr>
          <a:xfrm>
            <a:off x="9171432" y="3703320"/>
            <a:ext cx="2377440" cy="1737360"/>
          </a:xfrm>
          <a:prstGeom prst="roundRect">
            <a:avLst>
              <a:gd name="adj" fmla="val 4211"/>
            </a:avLst>
          </a:prstGeom>
          <a:solidFill>
            <a:schemeClr val="bg1"/>
          </a:solidFill>
          <a:ln w="9525">
            <a:solidFill>
              <a:schemeClr val="accent5"/>
            </a:solidFill>
            <a:prstDash val="solid"/>
          </a:ln>
        </p:spPr>
      </p:sp>
      <p:sp>
        <p:nvSpPr>
          <p:cNvPr id="16" name="Text 13"/>
          <p:cNvSpPr txBox="1"/>
          <p:nvPr/>
        </p:nvSpPr>
        <p:spPr>
          <a:xfrm>
            <a:off x="9400032" y="4023360"/>
            <a:ext cx="2011680" cy="685800"/>
          </a:xfrm>
          <a:prstGeom prst="rect">
            <a:avLst/>
          </a:prstGeom>
          <a:noFill/>
          <a:ln/>
        </p:spPr>
        <p:txBody>
          <a:bodyPr wrap="square" lIns="0" tIns="0" rIns="0" bIns="0" rtlCol="0" anchor="b"/>
          <a:lstStyle/>
          <a:p>
            <a:pPr indent="0" marL="0">
              <a:buNone/>
            </a:pPr>
            <a:r>
              <a:rPr lang="en-US" sz="4400" dirty="0">
                <a:solidFill>
                  <a:schemeClr val="tx1"/>
                </a:solidFill>
                <a:latin typeface="Century Gothic" pitchFamily="34" charset="0"/>
                <a:ea typeface="Century Gothic" pitchFamily="34" charset="-122"/>
                <a:cs typeface="Century Gothic" pitchFamily="34" charset="-120"/>
              </a:rPr>
              <a:t>7</a:t>
            </a:r>
            <a:pPr indent="0" marL="0">
              <a:buNone/>
            </a:pPr>
            <a:endParaRPr lang="en-US" sz="4400" dirty="0"/>
          </a:p>
        </p:txBody>
      </p:sp>
      <p:sp>
        <p:nvSpPr>
          <p:cNvPr id="17" name="Text 14"/>
          <p:cNvSpPr txBox="1"/>
          <p:nvPr/>
        </p:nvSpPr>
        <p:spPr>
          <a:xfrm>
            <a:off x="9400032" y="4846320"/>
            <a:ext cx="2011680" cy="411480"/>
          </a:xfrm>
          <a:prstGeom prst="rect">
            <a:avLst/>
          </a:prstGeom>
          <a:noFill/>
          <a:ln/>
        </p:spPr>
        <p:txBody>
          <a:bodyPr wrap="square" lIns="0" tIns="0" rIns="0" bIns="0" rtlCol="0" anchor="t"/>
          <a:lstStyle/>
          <a:p>
            <a:pPr indent="0" marL="0">
              <a:buNone/>
            </a:pPr>
            <a:r>
              <a:rPr lang="en-US" sz="1000" spc="100" kern="0" dirty="0">
                <a:solidFill>
                  <a:schemeClr val="accent3"/>
                </a:solidFill>
                <a:latin typeface="Consolas" pitchFamily="34" charset="0"/>
                <a:ea typeface="Consolas" pitchFamily="34" charset="-122"/>
                <a:cs typeface="Consolas" pitchFamily="34" charset="-120"/>
              </a:rPr>
              <a:t>COUNTRIES SERVED</a:t>
            </a:r>
            <a:endParaRPr lang="en-US" sz="10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609905" y="548640"/>
            <a:ext cx="731520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( 02 ) — SERVICES</a:t>
            </a:r>
            <a:endParaRPr lang="en-US" sz="1000" dirty="0"/>
          </a:p>
        </p:txBody>
      </p:sp>
      <p:sp>
        <p:nvSpPr>
          <p:cNvPr id="3" name="Text 1"/>
          <p:cNvSpPr/>
          <p:nvPr>
            <p:ph idx="103" type="title" hasCustomPrompt="1"/>
          </p:nvPr>
        </p:nvSpPr>
        <p:spPr>
          <a:xfrm>
            <a:off x="609905" y="822960"/>
            <a:ext cx="7498080" cy="73152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Seven services, </a:t>
            </a:r>
            <a:pPr algn="l" indent="0" marL="0">
              <a:buNone/>
            </a:pPr>
            <a:r>
              <a:rPr lang="en-US" sz="3200" dirty="0">
                <a:solidFill>
                  <a:schemeClr val="accent1"/>
                </a:solidFill>
                <a:latin typeface="Century Gothic" pitchFamily="34" charset="0"/>
                <a:ea typeface="Century Gothic" pitchFamily="34" charset="-122"/>
                <a:cs typeface="Century Gothic" pitchFamily="34" charset="-120"/>
              </a:rPr>
              <a:t>one partner</a:t>
            </a:r>
            <a:endParaRPr lang="en-US" sz="3200" dirty="0"/>
          </a:p>
        </p:txBody>
      </p:sp>
      <p:sp>
        <p:nvSpPr>
          <p:cNvPr id="5" name="Text 2"/>
          <p:cNvSpPr txBox="1"/>
          <p:nvPr/>
        </p:nvSpPr>
        <p:spPr>
          <a:xfrm>
            <a:off x="8138160" y="868680"/>
            <a:ext cx="3447288" cy="731520"/>
          </a:xfrm>
          <a:prstGeom prst="rect">
            <a:avLst/>
          </a:prstGeom>
          <a:noFill/>
          <a:ln/>
        </p:spPr>
        <p:txBody>
          <a:bodyPr wrap="square" lIns="0" tIns="0" rIns="0" bIns="0" rtlCol="0" anchor="t"/>
          <a:lstStyle/>
          <a:p>
            <a:pPr indent="0" marL="0">
              <a:buNone/>
            </a:pPr>
            <a:r>
              <a:rPr lang="en-US" sz="1200" dirty="0">
                <a:solidFill>
                  <a:schemeClr val="accent6"/>
                </a:solidFill>
              </a:rPr>
              <a:t>Use one service on its own, or hand us the whole job — from first scan to final file.</a:t>
            </a:r>
            <a:endParaRPr lang="en-US" sz="1200" dirty="0"/>
          </a:p>
        </p:txBody>
      </p:sp>
      <p:sp>
        <p:nvSpPr>
          <p:cNvPr id="6" name="Service card 3D Scanning"/>
          <p:cNvSpPr/>
          <p:nvPr/>
        </p:nvSpPr>
        <p:spPr>
          <a:xfrm>
            <a:off x="609905" y="1783080"/>
            <a:ext cx="2605811" cy="2148840"/>
          </a:xfrm>
          <a:prstGeom prst="roundRect">
            <a:avLst>
              <a:gd name="adj" fmla="val 3404"/>
            </a:avLst>
          </a:prstGeom>
          <a:solidFill>
            <a:schemeClr val="bg1"/>
          </a:solidFill>
          <a:ln w="9525">
            <a:solidFill>
              <a:schemeClr val="accent5"/>
            </a:solidFill>
            <a:prstDash val="solid"/>
          </a:ln>
        </p:spPr>
      </p:sp>
      <p:pic>
        <p:nvPicPr>
          <p:cNvPr id="7" name="3D Scanning" descr="C:\Users\ADMIN\Desktop\TEMP\VSHARK_Website\collateral\assets\handheld-3d-laser-scanning-of-an-engine-cylinder-head-16x10.jpg">    </p:cNvPr>
          <p:cNvPicPr>
            <a:picLocks noChangeAspect="1"/>
          </p:cNvPicPr>
          <p:nvPr/>
        </p:nvPicPr>
        <p:blipFill>
          <a:blip r:embed="rId1"/>
          <a:srcRect l="0" r="0" t="20545" b="20545"/>
          <a:stretch/>
        </p:blipFill>
        <p:spPr>
          <a:xfrm>
            <a:off x="609905" y="1783080"/>
            <a:ext cx="2605811" cy="960120"/>
          </a:xfrm>
          <a:prstGeom prst="rect">
            <a:avLst/>
          </a:prstGeom>
        </p:spPr>
      </p:pic>
      <p:sp>
        <p:nvSpPr>
          <p:cNvPr id="8" name="Text 4"/>
          <p:cNvSpPr txBox="1"/>
          <p:nvPr/>
        </p:nvSpPr>
        <p:spPr>
          <a:xfrm>
            <a:off x="774497" y="2852928"/>
            <a:ext cx="914400" cy="182880"/>
          </a:xfrm>
          <a:prstGeom prst="rect">
            <a:avLst/>
          </a:prstGeom>
          <a:noFill/>
          <a:ln/>
        </p:spPr>
        <p:txBody>
          <a:bodyPr wrap="square" lIns="0" tIns="0" rIns="0" bIns="0" rtlCol="0" anchor="t"/>
          <a:lstStyle/>
          <a:p>
            <a:pPr indent="0" marL="0">
              <a:buNone/>
            </a:pPr>
            <a:r>
              <a:rPr lang="en-US" sz="900" spc="100" kern="0" dirty="0">
                <a:solidFill>
                  <a:schemeClr val="accent1"/>
                </a:solidFill>
                <a:latin typeface="Consolas" pitchFamily="34" charset="0"/>
                <a:ea typeface="Consolas" pitchFamily="34" charset="-122"/>
                <a:cs typeface="Consolas" pitchFamily="34" charset="-120"/>
              </a:rPr>
              <a:t>01</a:t>
            </a:r>
            <a:endParaRPr lang="en-US" sz="900" dirty="0"/>
          </a:p>
        </p:txBody>
      </p:sp>
      <p:sp>
        <p:nvSpPr>
          <p:cNvPr id="9" name="Text 5"/>
          <p:cNvSpPr txBox="1"/>
          <p:nvPr/>
        </p:nvSpPr>
        <p:spPr>
          <a:xfrm>
            <a:off x="774497" y="3044952"/>
            <a:ext cx="2276627" cy="274320"/>
          </a:xfrm>
          <a:prstGeom prst="rect">
            <a:avLst/>
          </a:prstGeom>
          <a:noFill/>
          <a:ln/>
        </p:spPr>
        <p:txBody>
          <a:bodyPr wrap="square" lIns="0" tIns="0" rIns="0" bIns="0" rtlCol="0" anchor="t"/>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3D Scanning</a:t>
            </a:r>
            <a:endParaRPr lang="en-US" sz="1400" dirty="0"/>
          </a:p>
        </p:txBody>
      </p:sp>
      <p:sp>
        <p:nvSpPr>
          <p:cNvPr id="10" name="Text 6"/>
          <p:cNvSpPr txBox="1"/>
          <p:nvPr/>
        </p:nvSpPr>
        <p:spPr>
          <a:xfrm>
            <a:off x="774497" y="3337560"/>
            <a:ext cx="2276627" cy="502920"/>
          </a:xfrm>
          <a:prstGeom prst="rect">
            <a:avLst/>
          </a:prstGeom>
          <a:noFill/>
          <a:ln/>
        </p:spPr>
        <p:txBody>
          <a:bodyPr wrap="square" lIns="0" tIns="0" rIns="0" bIns="0" rtlCol="0" anchor="t"/>
          <a:lstStyle/>
          <a:p>
            <a:pPr indent="0" marL="0">
              <a:buNone/>
            </a:pPr>
            <a:r>
              <a:rPr lang="en-US" sz="1100" dirty="0">
                <a:solidFill>
                  <a:schemeClr val="accent3"/>
                </a:solidFill>
              </a:rPr>
              <a:t>Capture any part, product or space as an accurate digital model.</a:t>
            </a:r>
            <a:endParaRPr lang="en-US" sz="1100" dirty="0"/>
          </a:p>
        </p:txBody>
      </p:sp>
      <p:sp>
        <p:nvSpPr>
          <p:cNvPr id="11" name="Service card Reverse Engineering"/>
          <p:cNvSpPr/>
          <p:nvPr/>
        </p:nvSpPr>
        <p:spPr>
          <a:xfrm>
            <a:off x="3398596" y="1783080"/>
            <a:ext cx="2605811" cy="2148840"/>
          </a:xfrm>
          <a:prstGeom prst="roundRect">
            <a:avLst>
              <a:gd name="adj" fmla="val 3404"/>
            </a:avLst>
          </a:prstGeom>
          <a:solidFill>
            <a:schemeClr val="bg1"/>
          </a:solidFill>
          <a:ln w="9525">
            <a:solidFill>
              <a:schemeClr val="accent5"/>
            </a:solidFill>
            <a:prstDash val="solid"/>
          </a:ln>
        </p:spPr>
      </p:sp>
      <p:pic>
        <p:nvPicPr>
          <p:cNvPr id="12" name="Reverse Engineering" descr="C:\Users\ADMIN\Desktop\TEMP\VSHARK_Website\collateral\assets\3d-scan-to-cad-reverse-engineering-of-a-motorcycle-tubular-frame-16x10.jpg">    </p:cNvPr>
          <p:cNvPicPr>
            <a:picLocks noChangeAspect="1"/>
          </p:cNvPicPr>
          <p:nvPr/>
        </p:nvPicPr>
        <p:blipFill>
          <a:blip r:embed="rId2"/>
          <a:srcRect l="0" r="0" t="20545" b="20545"/>
          <a:stretch/>
        </p:blipFill>
        <p:spPr>
          <a:xfrm>
            <a:off x="3398596" y="1783080"/>
            <a:ext cx="2605811" cy="960120"/>
          </a:xfrm>
          <a:prstGeom prst="rect">
            <a:avLst/>
          </a:prstGeom>
        </p:spPr>
      </p:pic>
      <p:sp>
        <p:nvSpPr>
          <p:cNvPr id="13" name="Text 8"/>
          <p:cNvSpPr txBox="1"/>
          <p:nvPr/>
        </p:nvSpPr>
        <p:spPr>
          <a:xfrm>
            <a:off x="3563188" y="2852928"/>
            <a:ext cx="914400" cy="182880"/>
          </a:xfrm>
          <a:prstGeom prst="rect">
            <a:avLst/>
          </a:prstGeom>
          <a:noFill/>
          <a:ln/>
        </p:spPr>
        <p:txBody>
          <a:bodyPr wrap="square" lIns="0" tIns="0" rIns="0" bIns="0" rtlCol="0" anchor="t"/>
          <a:lstStyle/>
          <a:p>
            <a:pPr indent="0" marL="0">
              <a:buNone/>
            </a:pPr>
            <a:r>
              <a:rPr lang="en-US" sz="900" spc="100" kern="0" dirty="0">
                <a:solidFill>
                  <a:schemeClr val="accent1"/>
                </a:solidFill>
                <a:latin typeface="Consolas" pitchFamily="34" charset="0"/>
                <a:ea typeface="Consolas" pitchFamily="34" charset="-122"/>
                <a:cs typeface="Consolas" pitchFamily="34" charset="-120"/>
              </a:rPr>
              <a:t>02</a:t>
            </a:r>
            <a:endParaRPr lang="en-US" sz="900" dirty="0"/>
          </a:p>
        </p:txBody>
      </p:sp>
      <p:sp>
        <p:nvSpPr>
          <p:cNvPr id="14" name="Text 9"/>
          <p:cNvSpPr txBox="1"/>
          <p:nvPr/>
        </p:nvSpPr>
        <p:spPr>
          <a:xfrm>
            <a:off x="3563188" y="3044952"/>
            <a:ext cx="2276627" cy="274320"/>
          </a:xfrm>
          <a:prstGeom prst="rect">
            <a:avLst/>
          </a:prstGeom>
          <a:noFill/>
          <a:ln/>
        </p:spPr>
        <p:txBody>
          <a:bodyPr wrap="square" lIns="0" tIns="0" rIns="0" bIns="0" rtlCol="0" anchor="t"/>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Reverse Engineering</a:t>
            </a:r>
            <a:endParaRPr lang="en-US" sz="1400" dirty="0"/>
          </a:p>
        </p:txBody>
      </p:sp>
      <p:sp>
        <p:nvSpPr>
          <p:cNvPr id="15" name="Text 10"/>
          <p:cNvSpPr txBox="1"/>
          <p:nvPr/>
        </p:nvSpPr>
        <p:spPr>
          <a:xfrm>
            <a:off x="3563188" y="3337560"/>
            <a:ext cx="2276627" cy="502920"/>
          </a:xfrm>
          <a:prstGeom prst="rect">
            <a:avLst/>
          </a:prstGeom>
          <a:noFill/>
          <a:ln/>
        </p:spPr>
        <p:txBody>
          <a:bodyPr wrap="square" lIns="0" tIns="0" rIns="0" bIns="0" rtlCol="0" anchor="t"/>
          <a:lstStyle/>
          <a:p>
            <a:pPr indent="0" marL="0">
              <a:buNone/>
            </a:pPr>
            <a:r>
              <a:rPr lang="en-US" sz="1100" dirty="0">
                <a:solidFill>
                  <a:schemeClr val="accent3"/>
                </a:solidFill>
              </a:rPr>
              <a:t>Turn scan data into fully editable, manufacturable CAD.</a:t>
            </a:r>
            <a:endParaRPr lang="en-US" sz="1100" dirty="0"/>
          </a:p>
        </p:txBody>
      </p:sp>
      <p:sp>
        <p:nvSpPr>
          <p:cNvPr id="16" name="Service card Scan to BIM"/>
          <p:cNvSpPr/>
          <p:nvPr/>
        </p:nvSpPr>
        <p:spPr>
          <a:xfrm>
            <a:off x="6187288" y="1783080"/>
            <a:ext cx="2605811" cy="2148840"/>
          </a:xfrm>
          <a:prstGeom prst="roundRect">
            <a:avLst>
              <a:gd name="adj" fmla="val 3404"/>
            </a:avLst>
          </a:prstGeom>
          <a:solidFill>
            <a:schemeClr val="bg1"/>
          </a:solidFill>
          <a:ln w="9525">
            <a:solidFill>
              <a:schemeClr val="accent5"/>
            </a:solidFill>
            <a:prstDash val="solid"/>
          </a:ln>
        </p:spPr>
      </p:sp>
      <p:pic>
        <p:nvPicPr>
          <p:cNvPr id="17" name="Scan to BIM" descr="C:\Users\ADMIN\Desktop\TEMP\VSHARK_Website\collateral\assets\terrestrial-laser-scanning-of-an-industrial-pump-room-for-scan-to-bim-16x10.jpg">    </p:cNvPr>
          <p:cNvPicPr>
            <a:picLocks noChangeAspect="1"/>
          </p:cNvPicPr>
          <p:nvPr/>
        </p:nvPicPr>
        <p:blipFill>
          <a:blip r:embed="rId3"/>
          <a:srcRect l="0" r="0" t="20545" b="20545"/>
          <a:stretch/>
        </p:blipFill>
        <p:spPr>
          <a:xfrm>
            <a:off x="6187288" y="1783080"/>
            <a:ext cx="2605811" cy="960120"/>
          </a:xfrm>
          <a:prstGeom prst="rect">
            <a:avLst/>
          </a:prstGeom>
        </p:spPr>
      </p:pic>
      <p:sp>
        <p:nvSpPr>
          <p:cNvPr id="18" name="Text 12"/>
          <p:cNvSpPr txBox="1"/>
          <p:nvPr/>
        </p:nvSpPr>
        <p:spPr>
          <a:xfrm>
            <a:off x="6351880" y="2852928"/>
            <a:ext cx="914400" cy="182880"/>
          </a:xfrm>
          <a:prstGeom prst="rect">
            <a:avLst/>
          </a:prstGeom>
          <a:noFill/>
          <a:ln/>
        </p:spPr>
        <p:txBody>
          <a:bodyPr wrap="square" lIns="0" tIns="0" rIns="0" bIns="0" rtlCol="0" anchor="t"/>
          <a:lstStyle/>
          <a:p>
            <a:pPr indent="0" marL="0">
              <a:buNone/>
            </a:pPr>
            <a:r>
              <a:rPr lang="en-US" sz="900" spc="100" kern="0" dirty="0">
                <a:solidFill>
                  <a:schemeClr val="accent1"/>
                </a:solidFill>
                <a:latin typeface="Consolas" pitchFamily="34" charset="0"/>
                <a:ea typeface="Consolas" pitchFamily="34" charset="-122"/>
                <a:cs typeface="Consolas" pitchFamily="34" charset="-120"/>
              </a:rPr>
              <a:t>03</a:t>
            </a:r>
            <a:endParaRPr lang="en-US" sz="900" dirty="0"/>
          </a:p>
        </p:txBody>
      </p:sp>
      <p:sp>
        <p:nvSpPr>
          <p:cNvPr id="19" name="Text 13"/>
          <p:cNvSpPr txBox="1"/>
          <p:nvPr/>
        </p:nvSpPr>
        <p:spPr>
          <a:xfrm>
            <a:off x="6351880" y="3044952"/>
            <a:ext cx="2276627" cy="274320"/>
          </a:xfrm>
          <a:prstGeom prst="rect">
            <a:avLst/>
          </a:prstGeom>
          <a:noFill/>
          <a:ln/>
        </p:spPr>
        <p:txBody>
          <a:bodyPr wrap="square" lIns="0" tIns="0" rIns="0" bIns="0" rtlCol="0" anchor="t"/>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Scan to BIM</a:t>
            </a:r>
            <a:endParaRPr lang="en-US" sz="1400" dirty="0"/>
          </a:p>
        </p:txBody>
      </p:sp>
      <p:sp>
        <p:nvSpPr>
          <p:cNvPr id="20" name="Text 14"/>
          <p:cNvSpPr txBox="1"/>
          <p:nvPr/>
        </p:nvSpPr>
        <p:spPr>
          <a:xfrm>
            <a:off x="6351880" y="3337560"/>
            <a:ext cx="2276627" cy="502920"/>
          </a:xfrm>
          <a:prstGeom prst="rect">
            <a:avLst/>
          </a:prstGeom>
          <a:noFill/>
          <a:ln/>
        </p:spPr>
        <p:txBody>
          <a:bodyPr wrap="square" lIns="0" tIns="0" rIns="0" bIns="0" rtlCol="0" anchor="t"/>
          <a:lstStyle/>
          <a:p>
            <a:pPr indent="0" marL="0">
              <a:buNone/>
            </a:pPr>
            <a:r>
              <a:rPr lang="en-US" sz="1100" dirty="0">
                <a:solidFill>
                  <a:schemeClr val="accent3"/>
                </a:solidFill>
              </a:rPr>
              <a:t>Existing buildings captured as accurate, intelligent BIM models.</a:t>
            </a:r>
            <a:endParaRPr lang="en-US" sz="1100" dirty="0"/>
          </a:p>
        </p:txBody>
      </p:sp>
      <p:sp>
        <p:nvSpPr>
          <p:cNvPr id="21" name="Service card Class A Surfacing"/>
          <p:cNvSpPr/>
          <p:nvPr/>
        </p:nvSpPr>
        <p:spPr>
          <a:xfrm>
            <a:off x="8975979" y="1783080"/>
            <a:ext cx="2605811" cy="2148840"/>
          </a:xfrm>
          <a:prstGeom prst="roundRect">
            <a:avLst>
              <a:gd name="adj" fmla="val 3404"/>
            </a:avLst>
          </a:prstGeom>
          <a:solidFill>
            <a:schemeClr val="bg1"/>
          </a:solidFill>
          <a:ln w="9525">
            <a:solidFill>
              <a:schemeClr val="accent5"/>
            </a:solidFill>
            <a:prstDash val="solid"/>
          </a:ln>
        </p:spPr>
      </p:sp>
      <p:pic>
        <p:nvPicPr>
          <p:cNvPr id="22" name="Class A Surfacing" descr="C:\Users\ADMIN\Desktop\TEMP\VSHARK_Website\collateral\assets\class-a-surface-zebra-stripe-analysis-of-a-car-fender-16x10.jpg">    </p:cNvPr>
          <p:cNvPicPr>
            <a:picLocks noChangeAspect="1"/>
          </p:cNvPicPr>
          <p:nvPr/>
        </p:nvPicPr>
        <p:blipFill>
          <a:blip r:embed="rId4"/>
          <a:srcRect l="0" r="0" t="20545" b="20545"/>
          <a:stretch/>
        </p:blipFill>
        <p:spPr>
          <a:xfrm>
            <a:off x="8975979" y="1783080"/>
            <a:ext cx="2605811" cy="960120"/>
          </a:xfrm>
          <a:prstGeom prst="rect">
            <a:avLst/>
          </a:prstGeom>
        </p:spPr>
      </p:pic>
      <p:sp>
        <p:nvSpPr>
          <p:cNvPr id="23" name="Text 16"/>
          <p:cNvSpPr txBox="1"/>
          <p:nvPr/>
        </p:nvSpPr>
        <p:spPr>
          <a:xfrm>
            <a:off x="9140571" y="2852928"/>
            <a:ext cx="914400" cy="182880"/>
          </a:xfrm>
          <a:prstGeom prst="rect">
            <a:avLst/>
          </a:prstGeom>
          <a:noFill/>
          <a:ln/>
        </p:spPr>
        <p:txBody>
          <a:bodyPr wrap="square" lIns="0" tIns="0" rIns="0" bIns="0" rtlCol="0" anchor="t"/>
          <a:lstStyle/>
          <a:p>
            <a:pPr indent="0" marL="0">
              <a:buNone/>
            </a:pPr>
            <a:r>
              <a:rPr lang="en-US" sz="900" spc="100" kern="0" dirty="0">
                <a:solidFill>
                  <a:schemeClr val="accent1"/>
                </a:solidFill>
                <a:latin typeface="Consolas" pitchFamily="34" charset="0"/>
                <a:ea typeface="Consolas" pitchFamily="34" charset="-122"/>
                <a:cs typeface="Consolas" pitchFamily="34" charset="-120"/>
              </a:rPr>
              <a:t>04</a:t>
            </a:r>
            <a:endParaRPr lang="en-US" sz="900" dirty="0"/>
          </a:p>
        </p:txBody>
      </p:sp>
      <p:sp>
        <p:nvSpPr>
          <p:cNvPr id="24" name="Text 17"/>
          <p:cNvSpPr txBox="1"/>
          <p:nvPr/>
        </p:nvSpPr>
        <p:spPr>
          <a:xfrm>
            <a:off x="9140571" y="3044952"/>
            <a:ext cx="2276627" cy="274320"/>
          </a:xfrm>
          <a:prstGeom prst="rect">
            <a:avLst/>
          </a:prstGeom>
          <a:noFill/>
          <a:ln/>
        </p:spPr>
        <p:txBody>
          <a:bodyPr wrap="square" lIns="0" tIns="0" rIns="0" bIns="0" rtlCol="0" anchor="t"/>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Class A Surfacing</a:t>
            </a:r>
            <a:endParaRPr lang="en-US" sz="1400" dirty="0"/>
          </a:p>
        </p:txBody>
      </p:sp>
      <p:sp>
        <p:nvSpPr>
          <p:cNvPr id="25" name="Text 18"/>
          <p:cNvSpPr txBox="1"/>
          <p:nvPr/>
        </p:nvSpPr>
        <p:spPr>
          <a:xfrm>
            <a:off x="9140571" y="3337560"/>
            <a:ext cx="2276627" cy="502920"/>
          </a:xfrm>
          <a:prstGeom prst="rect">
            <a:avLst/>
          </a:prstGeom>
          <a:noFill/>
          <a:ln/>
        </p:spPr>
        <p:txBody>
          <a:bodyPr wrap="square" lIns="0" tIns="0" rIns="0" bIns="0" rtlCol="0" anchor="t"/>
          <a:lstStyle/>
          <a:p>
            <a:pPr indent="0" marL="0">
              <a:buNone/>
            </a:pPr>
            <a:r>
              <a:rPr lang="en-US" sz="1100" dirty="0">
                <a:solidFill>
                  <a:schemeClr val="accent3"/>
                </a:solidFill>
              </a:rPr>
              <a:t>Flawless, curvature-continuous surfaces for visible parts.</a:t>
            </a:r>
            <a:endParaRPr lang="en-US" sz="1100" dirty="0"/>
          </a:p>
        </p:txBody>
      </p:sp>
      <p:sp>
        <p:nvSpPr>
          <p:cNvPr id="26" name="Service card Digital Metrology"/>
          <p:cNvSpPr/>
          <p:nvPr/>
        </p:nvSpPr>
        <p:spPr>
          <a:xfrm>
            <a:off x="609905" y="4114800"/>
            <a:ext cx="2605811" cy="2148840"/>
          </a:xfrm>
          <a:prstGeom prst="roundRect">
            <a:avLst>
              <a:gd name="adj" fmla="val 3404"/>
            </a:avLst>
          </a:prstGeom>
          <a:solidFill>
            <a:schemeClr val="bg1"/>
          </a:solidFill>
          <a:ln w="9525">
            <a:solidFill>
              <a:schemeClr val="accent5"/>
            </a:solidFill>
            <a:prstDash val="solid"/>
          </a:ln>
        </p:spPr>
      </p:sp>
      <p:pic>
        <p:nvPicPr>
          <p:cNvPr id="27" name="Digital Metrology" descr="C:\Users\ADMIN\Desktop\TEMP\VSHARK_Website\collateral\assets\3d-digital-inspection-deviation-colour-map-of-a-cast-transmission-housing-16x10.jpg">    </p:cNvPr>
          <p:cNvPicPr>
            <a:picLocks noChangeAspect="1"/>
          </p:cNvPicPr>
          <p:nvPr/>
        </p:nvPicPr>
        <p:blipFill>
          <a:blip r:embed="rId5"/>
          <a:srcRect l="0" r="0" t="20545" b="20545"/>
          <a:stretch/>
        </p:blipFill>
        <p:spPr>
          <a:xfrm>
            <a:off x="609905" y="4114800"/>
            <a:ext cx="2605811" cy="960120"/>
          </a:xfrm>
          <a:prstGeom prst="rect">
            <a:avLst/>
          </a:prstGeom>
        </p:spPr>
      </p:pic>
      <p:sp>
        <p:nvSpPr>
          <p:cNvPr id="28" name="Text 20"/>
          <p:cNvSpPr txBox="1"/>
          <p:nvPr/>
        </p:nvSpPr>
        <p:spPr>
          <a:xfrm>
            <a:off x="774497" y="5184648"/>
            <a:ext cx="914400" cy="182880"/>
          </a:xfrm>
          <a:prstGeom prst="rect">
            <a:avLst/>
          </a:prstGeom>
          <a:noFill/>
          <a:ln/>
        </p:spPr>
        <p:txBody>
          <a:bodyPr wrap="square" lIns="0" tIns="0" rIns="0" bIns="0" rtlCol="0" anchor="t"/>
          <a:lstStyle/>
          <a:p>
            <a:pPr indent="0" marL="0">
              <a:buNone/>
            </a:pPr>
            <a:r>
              <a:rPr lang="en-US" sz="900" spc="100" kern="0" dirty="0">
                <a:solidFill>
                  <a:schemeClr val="accent1"/>
                </a:solidFill>
                <a:latin typeface="Consolas" pitchFamily="34" charset="0"/>
                <a:ea typeface="Consolas" pitchFamily="34" charset="-122"/>
                <a:cs typeface="Consolas" pitchFamily="34" charset="-120"/>
              </a:rPr>
              <a:t>05</a:t>
            </a:r>
            <a:endParaRPr lang="en-US" sz="900" dirty="0"/>
          </a:p>
        </p:txBody>
      </p:sp>
      <p:sp>
        <p:nvSpPr>
          <p:cNvPr id="29" name="Text 21"/>
          <p:cNvSpPr txBox="1"/>
          <p:nvPr/>
        </p:nvSpPr>
        <p:spPr>
          <a:xfrm>
            <a:off x="774497" y="5376672"/>
            <a:ext cx="2276627" cy="274320"/>
          </a:xfrm>
          <a:prstGeom prst="rect">
            <a:avLst/>
          </a:prstGeom>
          <a:noFill/>
          <a:ln/>
        </p:spPr>
        <p:txBody>
          <a:bodyPr wrap="square" lIns="0" tIns="0" rIns="0" bIns="0" rtlCol="0" anchor="t"/>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Digital Metrology</a:t>
            </a:r>
            <a:endParaRPr lang="en-US" sz="1400" dirty="0"/>
          </a:p>
        </p:txBody>
      </p:sp>
      <p:sp>
        <p:nvSpPr>
          <p:cNvPr id="30" name="Text 22"/>
          <p:cNvSpPr txBox="1"/>
          <p:nvPr/>
        </p:nvSpPr>
        <p:spPr>
          <a:xfrm>
            <a:off x="774497" y="5669280"/>
            <a:ext cx="2276627" cy="502920"/>
          </a:xfrm>
          <a:prstGeom prst="rect">
            <a:avLst/>
          </a:prstGeom>
          <a:noFill/>
          <a:ln/>
        </p:spPr>
        <p:txBody>
          <a:bodyPr wrap="square" lIns="0" tIns="0" rIns="0" bIns="0" rtlCol="0" anchor="t"/>
          <a:lstStyle/>
          <a:p>
            <a:pPr indent="0" marL="0">
              <a:buNone/>
            </a:pPr>
            <a:r>
              <a:rPr lang="en-US" sz="1100" dirty="0">
                <a:solidFill>
                  <a:schemeClr val="accent3"/>
                </a:solidFill>
              </a:rPr>
              <a:t>Compare manufactured parts to their CAD — to the micron.</a:t>
            </a:r>
            <a:endParaRPr lang="en-US" sz="1100" dirty="0"/>
          </a:p>
        </p:txBody>
      </p:sp>
      <p:sp>
        <p:nvSpPr>
          <p:cNvPr id="31" name="Service card 3D Printing"/>
          <p:cNvSpPr/>
          <p:nvPr/>
        </p:nvSpPr>
        <p:spPr>
          <a:xfrm>
            <a:off x="3398596" y="4114800"/>
            <a:ext cx="2605811" cy="2148840"/>
          </a:xfrm>
          <a:prstGeom prst="roundRect">
            <a:avLst>
              <a:gd name="adj" fmla="val 3404"/>
            </a:avLst>
          </a:prstGeom>
          <a:solidFill>
            <a:schemeClr val="bg1"/>
          </a:solidFill>
          <a:ln w="9525">
            <a:solidFill>
              <a:schemeClr val="accent5"/>
            </a:solidFill>
            <a:prstDash val="solid"/>
          </a:ln>
        </p:spPr>
      </p:sp>
      <p:pic>
        <p:nvPicPr>
          <p:cNvPr id="32" name="3D Printing" descr="C:\Users\ADMIN\Desktop\TEMP\VSHARK_Website\collateral\assets\resin-3d-printed-prototype-of-an-engine-crankcase-beside-the-original-casting-16x10.jpg">    </p:cNvPr>
          <p:cNvPicPr>
            <a:picLocks noChangeAspect="1"/>
          </p:cNvPicPr>
          <p:nvPr/>
        </p:nvPicPr>
        <p:blipFill>
          <a:blip r:embed="rId6"/>
          <a:srcRect l="0" r="0" t="20545" b="20545"/>
          <a:stretch/>
        </p:blipFill>
        <p:spPr>
          <a:xfrm>
            <a:off x="3398596" y="4114800"/>
            <a:ext cx="2605811" cy="960120"/>
          </a:xfrm>
          <a:prstGeom prst="rect">
            <a:avLst/>
          </a:prstGeom>
        </p:spPr>
      </p:pic>
      <p:sp>
        <p:nvSpPr>
          <p:cNvPr id="33" name="Text 24"/>
          <p:cNvSpPr txBox="1"/>
          <p:nvPr/>
        </p:nvSpPr>
        <p:spPr>
          <a:xfrm>
            <a:off x="3563188" y="5184648"/>
            <a:ext cx="914400" cy="182880"/>
          </a:xfrm>
          <a:prstGeom prst="rect">
            <a:avLst/>
          </a:prstGeom>
          <a:noFill/>
          <a:ln/>
        </p:spPr>
        <p:txBody>
          <a:bodyPr wrap="square" lIns="0" tIns="0" rIns="0" bIns="0" rtlCol="0" anchor="t"/>
          <a:lstStyle/>
          <a:p>
            <a:pPr indent="0" marL="0">
              <a:buNone/>
            </a:pPr>
            <a:r>
              <a:rPr lang="en-US" sz="900" spc="100" kern="0" dirty="0">
                <a:solidFill>
                  <a:schemeClr val="accent1"/>
                </a:solidFill>
                <a:latin typeface="Consolas" pitchFamily="34" charset="0"/>
                <a:ea typeface="Consolas" pitchFamily="34" charset="-122"/>
                <a:cs typeface="Consolas" pitchFamily="34" charset="-120"/>
              </a:rPr>
              <a:t>06</a:t>
            </a:r>
            <a:endParaRPr lang="en-US" sz="900" dirty="0"/>
          </a:p>
        </p:txBody>
      </p:sp>
      <p:sp>
        <p:nvSpPr>
          <p:cNvPr id="34" name="Text 25"/>
          <p:cNvSpPr txBox="1"/>
          <p:nvPr/>
        </p:nvSpPr>
        <p:spPr>
          <a:xfrm>
            <a:off x="3563188" y="5376672"/>
            <a:ext cx="2276627" cy="274320"/>
          </a:xfrm>
          <a:prstGeom prst="rect">
            <a:avLst/>
          </a:prstGeom>
          <a:noFill/>
          <a:ln/>
        </p:spPr>
        <p:txBody>
          <a:bodyPr wrap="square" lIns="0" tIns="0" rIns="0" bIns="0" rtlCol="0" anchor="t"/>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3D Printing</a:t>
            </a:r>
            <a:endParaRPr lang="en-US" sz="1400" dirty="0"/>
          </a:p>
        </p:txBody>
      </p:sp>
      <p:sp>
        <p:nvSpPr>
          <p:cNvPr id="35" name="Text 26"/>
          <p:cNvSpPr txBox="1"/>
          <p:nvPr/>
        </p:nvSpPr>
        <p:spPr>
          <a:xfrm>
            <a:off x="3563188" y="5669280"/>
            <a:ext cx="2276627" cy="502920"/>
          </a:xfrm>
          <a:prstGeom prst="rect">
            <a:avLst/>
          </a:prstGeom>
          <a:noFill/>
          <a:ln/>
        </p:spPr>
        <p:txBody>
          <a:bodyPr wrap="square" lIns="0" tIns="0" rIns="0" bIns="0" rtlCol="0" anchor="t"/>
          <a:lstStyle/>
          <a:p>
            <a:pPr indent="0" marL="0">
              <a:buNone/>
            </a:pPr>
            <a:r>
              <a:rPr lang="en-US" sz="1100" dirty="0">
                <a:solidFill>
                  <a:schemeClr val="accent3"/>
                </a:solidFill>
              </a:rPr>
              <a:t>Rapid prototypes and functional parts, straight from your model.</a:t>
            </a:r>
            <a:endParaRPr lang="en-US" sz="1100" dirty="0"/>
          </a:p>
        </p:txBody>
      </p:sp>
      <p:sp>
        <p:nvSpPr>
          <p:cNvPr id="36" name="Service card Product Rendering"/>
          <p:cNvSpPr/>
          <p:nvPr/>
        </p:nvSpPr>
        <p:spPr>
          <a:xfrm>
            <a:off x="6187288" y="4114800"/>
            <a:ext cx="2605811" cy="2148840"/>
          </a:xfrm>
          <a:prstGeom prst="roundRect">
            <a:avLst>
              <a:gd name="adj" fmla="val 3404"/>
            </a:avLst>
          </a:prstGeom>
          <a:solidFill>
            <a:schemeClr val="bg1"/>
          </a:solidFill>
          <a:ln w="9525">
            <a:solidFill>
              <a:schemeClr val="accent5"/>
            </a:solidFill>
            <a:prstDash val="solid"/>
          </a:ln>
        </p:spPr>
      </p:sp>
      <p:pic>
        <p:nvPicPr>
          <p:cNvPr id="37" name="Product Rendering" descr="C:\Users\ADMIN\Desktop\TEMP\VSHARK_Website\collateral\assets\product-rendering-of-wireless-earbuds-from-clay-model-to-photorealistic-render-16x10.jpg">    </p:cNvPr>
          <p:cNvPicPr>
            <a:picLocks noChangeAspect="1"/>
          </p:cNvPicPr>
          <p:nvPr/>
        </p:nvPicPr>
        <p:blipFill>
          <a:blip r:embed="rId7"/>
          <a:srcRect l="0" r="0" t="20545" b="20545"/>
          <a:stretch/>
        </p:blipFill>
        <p:spPr>
          <a:xfrm>
            <a:off x="6187288" y="4114800"/>
            <a:ext cx="2605811" cy="960120"/>
          </a:xfrm>
          <a:prstGeom prst="rect">
            <a:avLst/>
          </a:prstGeom>
        </p:spPr>
      </p:pic>
      <p:sp>
        <p:nvSpPr>
          <p:cNvPr id="38" name="Text 28"/>
          <p:cNvSpPr txBox="1"/>
          <p:nvPr/>
        </p:nvSpPr>
        <p:spPr>
          <a:xfrm>
            <a:off x="6351880" y="5184648"/>
            <a:ext cx="914400" cy="182880"/>
          </a:xfrm>
          <a:prstGeom prst="rect">
            <a:avLst/>
          </a:prstGeom>
          <a:noFill/>
          <a:ln/>
        </p:spPr>
        <p:txBody>
          <a:bodyPr wrap="square" lIns="0" tIns="0" rIns="0" bIns="0" rtlCol="0" anchor="t"/>
          <a:lstStyle/>
          <a:p>
            <a:pPr indent="0" marL="0">
              <a:buNone/>
            </a:pPr>
            <a:r>
              <a:rPr lang="en-US" sz="900" spc="100" kern="0" dirty="0">
                <a:solidFill>
                  <a:schemeClr val="accent1"/>
                </a:solidFill>
                <a:latin typeface="Consolas" pitchFamily="34" charset="0"/>
                <a:ea typeface="Consolas" pitchFamily="34" charset="-122"/>
                <a:cs typeface="Consolas" pitchFamily="34" charset="-120"/>
              </a:rPr>
              <a:t>07</a:t>
            </a:r>
            <a:endParaRPr lang="en-US" sz="900" dirty="0"/>
          </a:p>
        </p:txBody>
      </p:sp>
      <p:sp>
        <p:nvSpPr>
          <p:cNvPr id="39" name="Text 29"/>
          <p:cNvSpPr txBox="1"/>
          <p:nvPr/>
        </p:nvSpPr>
        <p:spPr>
          <a:xfrm>
            <a:off x="6351880" y="5376672"/>
            <a:ext cx="2276627" cy="274320"/>
          </a:xfrm>
          <a:prstGeom prst="rect">
            <a:avLst/>
          </a:prstGeom>
          <a:noFill/>
          <a:ln/>
        </p:spPr>
        <p:txBody>
          <a:bodyPr wrap="square" lIns="0" tIns="0" rIns="0" bIns="0" rtlCol="0" anchor="t"/>
          <a:lstStyle/>
          <a:p>
            <a:pPr indent="0" marL="0">
              <a:buNone/>
            </a:pPr>
            <a:r>
              <a:rPr lang="en-US" sz="1400" b="1" dirty="0">
                <a:solidFill>
                  <a:schemeClr val="tx1"/>
                </a:solidFill>
                <a:latin typeface="Century Gothic" pitchFamily="34" charset="0"/>
                <a:ea typeface="Century Gothic" pitchFamily="34" charset="-122"/>
                <a:cs typeface="Century Gothic" pitchFamily="34" charset="-120"/>
              </a:rPr>
              <a:t>Product Rendering</a:t>
            </a:r>
            <a:endParaRPr lang="en-US" sz="1400" dirty="0"/>
          </a:p>
        </p:txBody>
      </p:sp>
      <p:sp>
        <p:nvSpPr>
          <p:cNvPr id="40" name="Text 30"/>
          <p:cNvSpPr txBox="1"/>
          <p:nvPr/>
        </p:nvSpPr>
        <p:spPr>
          <a:xfrm>
            <a:off x="6351880" y="5669280"/>
            <a:ext cx="2276627" cy="502920"/>
          </a:xfrm>
          <a:prstGeom prst="rect">
            <a:avLst/>
          </a:prstGeom>
          <a:noFill/>
          <a:ln/>
        </p:spPr>
        <p:txBody>
          <a:bodyPr wrap="square" lIns="0" tIns="0" rIns="0" bIns="0" rtlCol="0" anchor="t"/>
          <a:lstStyle/>
          <a:p>
            <a:pPr indent="0" marL="0">
              <a:buNone/>
            </a:pPr>
            <a:r>
              <a:rPr lang="en-US" sz="1100" dirty="0">
                <a:solidFill>
                  <a:schemeClr val="accent3"/>
                </a:solidFill>
              </a:rPr>
              <a:t>Photoreal visuals that sell a product before it is ever made.</a:t>
            </a:r>
            <a:endParaRPr lang="en-US" sz="1100" dirty="0"/>
          </a:p>
        </p:txBody>
      </p:sp>
      <p:sp>
        <p:nvSpPr>
          <p:cNvPr id="41" name="End-to-end card"/>
          <p:cNvSpPr/>
          <p:nvPr/>
        </p:nvSpPr>
        <p:spPr>
          <a:xfrm>
            <a:off x="8975979" y="4114800"/>
            <a:ext cx="2605811" cy="2148840"/>
          </a:xfrm>
          <a:prstGeom prst="roundRect">
            <a:avLst>
              <a:gd name="adj" fmla="val 3404"/>
            </a:avLst>
          </a:prstGeom>
          <a:solidFill>
            <a:schemeClr val="accent1"/>
          </a:solidFill>
          <a:ln/>
        </p:spPr>
      </p:sp>
      <p:sp>
        <p:nvSpPr>
          <p:cNvPr id="42" name="Text 32"/>
          <p:cNvSpPr txBox="1"/>
          <p:nvPr/>
        </p:nvSpPr>
        <p:spPr>
          <a:xfrm>
            <a:off x="9177147" y="5074920"/>
            <a:ext cx="2203475" cy="365760"/>
          </a:xfrm>
          <a:prstGeom prst="rect">
            <a:avLst/>
          </a:prstGeom>
          <a:noFill/>
          <a:ln/>
        </p:spPr>
        <p:txBody>
          <a:bodyPr wrap="square" lIns="0" tIns="0" rIns="0" bIns="0" rtlCol="0" anchor="t"/>
          <a:lstStyle/>
          <a:p>
            <a:pPr indent="0" marL="0">
              <a:buNone/>
            </a:pPr>
            <a:r>
              <a:rPr lang="en-US" sz="1700" b="1" dirty="0">
                <a:solidFill>
                  <a:schemeClr val="bg1"/>
                </a:solidFill>
                <a:latin typeface="Century Gothic" pitchFamily="34" charset="0"/>
                <a:ea typeface="Century Gothic" pitchFamily="34" charset="-122"/>
                <a:cs typeface="Century Gothic" pitchFamily="34" charset="-120"/>
              </a:rPr>
              <a:t>End-to-end delivery</a:t>
            </a:r>
            <a:endParaRPr lang="en-US" sz="1700" dirty="0"/>
          </a:p>
        </p:txBody>
      </p:sp>
      <p:sp>
        <p:nvSpPr>
          <p:cNvPr id="43" name="Text 33"/>
          <p:cNvSpPr txBox="1"/>
          <p:nvPr/>
        </p:nvSpPr>
        <p:spPr>
          <a:xfrm>
            <a:off x="9177147" y="5486400"/>
            <a:ext cx="2203475" cy="640080"/>
          </a:xfrm>
          <a:prstGeom prst="rect">
            <a:avLst/>
          </a:prstGeom>
          <a:noFill/>
          <a:ln/>
        </p:spPr>
        <p:txBody>
          <a:bodyPr wrap="square" lIns="0" tIns="0" rIns="0" bIns="0" rtlCol="0" anchor="t"/>
          <a:lstStyle/>
          <a:p>
            <a:pPr indent="0" marL="0">
              <a:buNone/>
            </a:pPr>
            <a:r>
              <a:rPr lang="en-US" sz="1100" dirty="0">
                <a:solidFill>
                  <a:schemeClr val="bg1"/>
                </a:solidFill>
              </a:rPr>
              <a:t>Scan, engineer, inspect, print and render — under one roof, with one point of contact.</a:t>
            </a:r>
            <a:endParaRPr lang="en-US" sz="11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609905" y="548640"/>
            <a:ext cx="731520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( 03 ) — HOW WE WORK</a:t>
            </a:r>
            <a:endParaRPr lang="en-US" sz="1000" dirty="0"/>
          </a:p>
        </p:txBody>
      </p:sp>
      <p:sp>
        <p:nvSpPr>
          <p:cNvPr id="3" name="Text 1"/>
          <p:cNvSpPr/>
          <p:nvPr>
            <p:ph idx="103" type="title" hasCustomPrompt="1"/>
          </p:nvPr>
        </p:nvSpPr>
        <p:spPr>
          <a:xfrm>
            <a:off x="609905" y="822960"/>
            <a:ext cx="7498080" cy="73152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Four steps — </a:t>
            </a:r>
            <a:pPr algn="l" indent="0" marL="0">
              <a:buNone/>
            </a:pPr>
            <a:r>
              <a:rPr lang="en-US" sz="3200" dirty="0">
                <a:solidFill>
                  <a:schemeClr val="accent1"/>
                </a:solidFill>
                <a:latin typeface="Century Gothic" pitchFamily="34" charset="0"/>
                <a:ea typeface="Century Gothic" pitchFamily="34" charset="-122"/>
                <a:cs typeface="Century Gothic" pitchFamily="34" charset="-120"/>
              </a:rPr>
              <a:t>scan to solution</a:t>
            </a:r>
            <a:endParaRPr lang="en-US" sz="3200" dirty="0"/>
          </a:p>
        </p:txBody>
      </p:sp>
      <p:pic>
        <p:nvPicPr>
          <p:cNvPr id="5" name="Step Capture" descr="C:\Users\ADMIN\Desktop\TEMP\VSHARK_Website\collateral\assets\handheld-3d-laser-scanning-of-an-engine-cylinder-head-16x10.jpg">    </p:cNvPr>
          <p:cNvPicPr>
            <a:picLocks noChangeAspect="1"/>
          </p:cNvPicPr>
          <p:nvPr/>
        </p:nvPicPr>
        <p:blipFill>
          <a:blip r:embed="rId1"/>
          <a:srcRect l="9273" r="9273" t="0" b="0"/>
          <a:stretch/>
        </p:blipFill>
        <p:spPr>
          <a:xfrm>
            <a:off x="609905" y="1828800"/>
            <a:ext cx="2560320" cy="1965960"/>
          </a:xfrm>
          <a:prstGeom prst="rect">
            <a:avLst/>
          </a:prstGeom>
        </p:spPr>
      </p:pic>
      <p:sp>
        <p:nvSpPr>
          <p:cNvPr id="6" name="Text 2"/>
          <p:cNvSpPr txBox="1"/>
          <p:nvPr/>
        </p:nvSpPr>
        <p:spPr>
          <a:xfrm>
            <a:off x="609905" y="4023360"/>
            <a:ext cx="1097280" cy="548640"/>
          </a:xfrm>
          <a:prstGeom prst="rect">
            <a:avLst/>
          </a:prstGeom>
          <a:noFill/>
          <a:ln/>
        </p:spPr>
        <p:txBody>
          <a:bodyPr wrap="square" lIns="0" tIns="0" rIns="0" bIns="0" rtlCol="0" anchor="t"/>
          <a:lstStyle/>
          <a:p>
            <a:pPr indent="0" marL="0">
              <a:buNone/>
            </a:pPr>
            <a:r>
              <a:rPr lang="en-US" sz="3600" dirty="0">
                <a:solidFill>
                  <a:schemeClr val="accent2"/>
                </a:solidFill>
                <a:latin typeface="Century Gothic" pitchFamily="34" charset="0"/>
                <a:ea typeface="Century Gothic" pitchFamily="34" charset="-122"/>
                <a:cs typeface="Century Gothic" pitchFamily="34" charset="-120"/>
              </a:rPr>
              <a:t>01</a:t>
            </a:r>
            <a:endParaRPr lang="en-US" sz="3600" dirty="0"/>
          </a:p>
        </p:txBody>
      </p:sp>
      <p:sp>
        <p:nvSpPr>
          <p:cNvPr id="7" name="Text 3"/>
          <p:cNvSpPr txBox="1"/>
          <p:nvPr/>
        </p:nvSpPr>
        <p:spPr>
          <a:xfrm>
            <a:off x="609905" y="4617720"/>
            <a:ext cx="2560320" cy="365760"/>
          </a:xfrm>
          <a:prstGeom prst="rect">
            <a:avLst/>
          </a:prstGeom>
          <a:noFill/>
          <a:ln/>
        </p:spPr>
        <p:txBody>
          <a:bodyPr wrap="square" lIns="0" tIns="0" rIns="0" bIns="0" rtlCol="0" anchor="t"/>
          <a:lstStyle/>
          <a:p>
            <a:pPr indent="0" marL="0">
              <a:buNone/>
            </a:pPr>
            <a:r>
              <a:rPr lang="en-US" sz="2000" b="1" dirty="0">
                <a:solidFill>
                  <a:schemeClr val="tx1"/>
                </a:solidFill>
                <a:latin typeface="Century Gothic" pitchFamily="34" charset="0"/>
                <a:ea typeface="Century Gothic" pitchFamily="34" charset="-122"/>
                <a:cs typeface="Century Gothic" pitchFamily="34" charset="-120"/>
              </a:rPr>
              <a:t>Capture</a:t>
            </a:r>
            <a:endParaRPr lang="en-US" sz="2000" dirty="0"/>
          </a:p>
        </p:txBody>
      </p:sp>
      <p:sp>
        <p:nvSpPr>
          <p:cNvPr id="8" name="Text 4"/>
          <p:cNvSpPr txBox="1"/>
          <p:nvPr/>
        </p:nvSpPr>
        <p:spPr>
          <a:xfrm>
            <a:off x="609905" y="5029200"/>
            <a:ext cx="2560320" cy="731520"/>
          </a:xfrm>
          <a:prstGeom prst="rect">
            <a:avLst/>
          </a:prstGeom>
          <a:noFill/>
          <a:ln/>
        </p:spPr>
        <p:txBody>
          <a:bodyPr wrap="square" lIns="0" tIns="0" rIns="0" bIns="0" rtlCol="0" anchor="t"/>
          <a:lstStyle/>
          <a:p>
            <a:pPr indent="0" marL="0">
              <a:buNone/>
            </a:pPr>
            <a:r>
              <a:rPr lang="en-US" sz="1300" dirty="0">
                <a:solidFill>
                  <a:schemeClr val="accent6"/>
                </a:solidFill>
              </a:rPr>
              <a:t>We scan the part, product or site — in our lab or on location.</a:t>
            </a:r>
            <a:endParaRPr lang="en-US" sz="1300" dirty="0"/>
          </a:p>
        </p:txBody>
      </p:sp>
      <p:pic>
        <p:nvPicPr>
          <p:cNvPr id="9" name="Step Process" descr="C:\Users\ADMIN\Desktop\TEMP\VSHARK_Website\collateral\assets\scan-impeller.jpg">    </p:cNvPr>
          <p:cNvPicPr>
            <a:picLocks noChangeAspect="1"/>
          </p:cNvPicPr>
          <p:nvPr/>
        </p:nvPicPr>
        <p:blipFill>
          <a:blip r:embed="rId2"/>
          <a:srcRect l="6609" r="6609" t="0" b="0"/>
          <a:stretch/>
        </p:blipFill>
        <p:spPr>
          <a:xfrm>
            <a:off x="3417113" y="1828800"/>
            <a:ext cx="2560320" cy="1965960"/>
          </a:xfrm>
          <a:prstGeom prst="rect">
            <a:avLst/>
          </a:prstGeom>
        </p:spPr>
      </p:pic>
      <p:sp>
        <p:nvSpPr>
          <p:cNvPr id="10" name="Text 5"/>
          <p:cNvSpPr txBox="1"/>
          <p:nvPr/>
        </p:nvSpPr>
        <p:spPr>
          <a:xfrm>
            <a:off x="3417113" y="4023360"/>
            <a:ext cx="1097280" cy="548640"/>
          </a:xfrm>
          <a:prstGeom prst="rect">
            <a:avLst/>
          </a:prstGeom>
          <a:noFill/>
          <a:ln/>
        </p:spPr>
        <p:txBody>
          <a:bodyPr wrap="square" lIns="0" tIns="0" rIns="0" bIns="0" rtlCol="0" anchor="t"/>
          <a:lstStyle/>
          <a:p>
            <a:pPr indent="0" marL="0">
              <a:buNone/>
            </a:pPr>
            <a:r>
              <a:rPr lang="en-US" sz="3600" dirty="0">
                <a:solidFill>
                  <a:schemeClr val="accent2"/>
                </a:solidFill>
                <a:latin typeface="Century Gothic" pitchFamily="34" charset="0"/>
                <a:ea typeface="Century Gothic" pitchFamily="34" charset="-122"/>
                <a:cs typeface="Century Gothic" pitchFamily="34" charset="-120"/>
              </a:rPr>
              <a:t>02</a:t>
            </a:r>
            <a:endParaRPr lang="en-US" sz="3600" dirty="0"/>
          </a:p>
        </p:txBody>
      </p:sp>
      <p:sp>
        <p:nvSpPr>
          <p:cNvPr id="11" name="Text 6"/>
          <p:cNvSpPr txBox="1"/>
          <p:nvPr/>
        </p:nvSpPr>
        <p:spPr>
          <a:xfrm>
            <a:off x="3417113" y="4617720"/>
            <a:ext cx="2560320" cy="365760"/>
          </a:xfrm>
          <a:prstGeom prst="rect">
            <a:avLst/>
          </a:prstGeom>
          <a:noFill/>
          <a:ln/>
        </p:spPr>
        <p:txBody>
          <a:bodyPr wrap="square" lIns="0" tIns="0" rIns="0" bIns="0" rtlCol="0" anchor="t"/>
          <a:lstStyle/>
          <a:p>
            <a:pPr indent="0" marL="0">
              <a:buNone/>
            </a:pPr>
            <a:r>
              <a:rPr lang="en-US" sz="2000" b="1" dirty="0">
                <a:solidFill>
                  <a:schemeClr val="tx1"/>
                </a:solidFill>
                <a:latin typeface="Century Gothic" pitchFamily="34" charset="0"/>
                <a:ea typeface="Century Gothic" pitchFamily="34" charset="-122"/>
                <a:cs typeface="Century Gothic" pitchFamily="34" charset="-120"/>
              </a:rPr>
              <a:t>Process</a:t>
            </a:r>
            <a:endParaRPr lang="en-US" sz="2000" dirty="0"/>
          </a:p>
        </p:txBody>
      </p:sp>
      <p:sp>
        <p:nvSpPr>
          <p:cNvPr id="12" name="Text 7"/>
          <p:cNvSpPr txBox="1"/>
          <p:nvPr/>
        </p:nvSpPr>
        <p:spPr>
          <a:xfrm>
            <a:off x="3417113" y="5029200"/>
            <a:ext cx="2560320" cy="731520"/>
          </a:xfrm>
          <a:prstGeom prst="rect">
            <a:avLst/>
          </a:prstGeom>
          <a:noFill/>
          <a:ln/>
        </p:spPr>
        <p:txBody>
          <a:bodyPr wrap="square" lIns="0" tIns="0" rIns="0" bIns="0" rtlCol="0" anchor="t"/>
          <a:lstStyle/>
          <a:p>
            <a:pPr indent="0" marL="0">
              <a:buNone/>
            </a:pPr>
            <a:r>
              <a:rPr lang="en-US" sz="1300" dirty="0">
                <a:solidFill>
                  <a:schemeClr val="accent6"/>
                </a:solidFill>
              </a:rPr>
              <a:t>Scans are aligned, cleaned and merged into usable, watertight data.</a:t>
            </a:r>
            <a:endParaRPr lang="en-US" sz="1300" dirty="0"/>
          </a:p>
        </p:txBody>
      </p:sp>
      <p:pic>
        <p:nvPicPr>
          <p:cNvPr id="13" name="Step Engineer" descr="C:\Users\ADMIN\Desktop\TEMP\VSHARK_Website\collateral\assets\cad-impeller.jpg">    </p:cNvPr>
          <p:cNvPicPr>
            <a:picLocks noChangeAspect="1"/>
          </p:cNvPicPr>
          <p:nvPr/>
        </p:nvPicPr>
        <p:blipFill>
          <a:blip r:embed="rId3"/>
          <a:srcRect l="6609" r="6609" t="0" b="0"/>
          <a:stretch/>
        </p:blipFill>
        <p:spPr>
          <a:xfrm>
            <a:off x="6224321" y="1828800"/>
            <a:ext cx="2560320" cy="1965960"/>
          </a:xfrm>
          <a:prstGeom prst="rect">
            <a:avLst/>
          </a:prstGeom>
        </p:spPr>
      </p:pic>
      <p:sp>
        <p:nvSpPr>
          <p:cNvPr id="14" name="Text 8"/>
          <p:cNvSpPr txBox="1"/>
          <p:nvPr/>
        </p:nvSpPr>
        <p:spPr>
          <a:xfrm>
            <a:off x="6224321" y="4023360"/>
            <a:ext cx="1097280" cy="548640"/>
          </a:xfrm>
          <a:prstGeom prst="rect">
            <a:avLst/>
          </a:prstGeom>
          <a:noFill/>
          <a:ln/>
        </p:spPr>
        <p:txBody>
          <a:bodyPr wrap="square" lIns="0" tIns="0" rIns="0" bIns="0" rtlCol="0" anchor="t"/>
          <a:lstStyle/>
          <a:p>
            <a:pPr indent="0" marL="0">
              <a:buNone/>
            </a:pPr>
            <a:r>
              <a:rPr lang="en-US" sz="3600" dirty="0">
                <a:solidFill>
                  <a:schemeClr val="accent2"/>
                </a:solidFill>
                <a:latin typeface="Century Gothic" pitchFamily="34" charset="0"/>
                <a:ea typeface="Century Gothic" pitchFamily="34" charset="-122"/>
                <a:cs typeface="Century Gothic" pitchFamily="34" charset="-120"/>
              </a:rPr>
              <a:t>03</a:t>
            </a:r>
            <a:endParaRPr lang="en-US" sz="3600" dirty="0"/>
          </a:p>
        </p:txBody>
      </p:sp>
      <p:sp>
        <p:nvSpPr>
          <p:cNvPr id="15" name="Text 9"/>
          <p:cNvSpPr txBox="1"/>
          <p:nvPr/>
        </p:nvSpPr>
        <p:spPr>
          <a:xfrm>
            <a:off x="6224321" y="4617720"/>
            <a:ext cx="2560320" cy="365760"/>
          </a:xfrm>
          <a:prstGeom prst="rect">
            <a:avLst/>
          </a:prstGeom>
          <a:noFill/>
          <a:ln/>
        </p:spPr>
        <p:txBody>
          <a:bodyPr wrap="square" lIns="0" tIns="0" rIns="0" bIns="0" rtlCol="0" anchor="t"/>
          <a:lstStyle/>
          <a:p>
            <a:pPr indent="0" marL="0">
              <a:buNone/>
            </a:pPr>
            <a:r>
              <a:rPr lang="en-US" sz="2000" b="1" dirty="0">
                <a:solidFill>
                  <a:schemeClr val="tx1"/>
                </a:solidFill>
                <a:latin typeface="Century Gothic" pitchFamily="34" charset="0"/>
                <a:ea typeface="Century Gothic" pitchFamily="34" charset="-122"/>
                <a:cs typeface="Century Gothic" pitchFamily="34" charset="-120"/>
              </a:rPr>
              <a:t>Engineer</a:t>
            </a:r>
            <a:endParaRPr lang="en-US" sz="2000" dirty="0"/>
          </a:p>
        </p:txBody>
      </p:sp>
      <p:sp>
        <p:nvSpPr>
          <p:cNvPr id="16" name="Text 10"/>
          <p:cNvSpPr txBox="1"/>
          <p:nvPr/>
        </p:nvSpPr>
        <p:spPr>
          <a:xfrm>
            <a:off x="6224321" y="5029200"/>
            <a:ext cx="2560320" cy="731520"/>
          </a:xfrm>
          <a:prstGeom prst="rect">
            <a:avLst/>
          </a:prstGeom>
          <a:noFill/>
          <a:ln/>
        </p:spPr>
        <p:txBody>
          <a:bodyPr wrap="square" lIns="0" tIns="0" rIns="0" bIns="0" rtlCol="0" anchor="t"/>
          <a:lstStyle/>
          <a:p>
            <a:pPr indent="0" marL="0">
              <a:buNone/>
            </a:pPr>
            <a:r>
              <a:rPr lang="en-US" sz="1300" dirty="0">
                <a:solidFill>
                  <a:schemeClr val="accent6"/>
                </a:solidFill>
              </a:rPr>
              <a:t>CAD, Class A surfaces, BIM or inspection built from that data.</a:t>
            </a:r>
            <a:endParaRPr lang="en-US" sz="1300" dirty="0"/>
          </a:p>
        </p:txBody>
      </p:sp>
      <p:pic>
        <p:nvPicPr>
          <p:cNvPr id="17" name="Step Deliver" descr="C:\Users\ADMIN\Desktop\TEMP\VSHARK_Website\collateral\assets\resin-3d-printed-prototype-of-an-engine-crankcase-beside-the-original-casting-16x10.jpg">    </p:cNvPr>
          <p:cNvPicPr>
            <a:picLocks noChangeAspect="1"/>
          </p:cNvPicPr>
          <p:nvPr/>
        </p:nvPicPr>
        <p:blipFill>
          <a:blip r:embed="rId4"/>
          <a:srcRect l="9273" r="9273" t="0" b="0"/>
          <a:stretch/>
        </p:blipFill>
        <p:spPr>
          <a:xfrm>
            <a:off x="9031529" y="1828800"/>
            <a:ext cx="2560320" cy="1965960"/>
          </a:xfrm>
          <a:prstGeom prst="rect">
            <a:avLst/>
          </a:prstGeom>
        </p:spPr>
      </p:pic>
      <p:sp>
        <p:nvSpPr>
          <p:cNvPr id="18" name="Text 11"/>
          <p:cNvSpPr txBox="1"/>
          <p:nvPr/>
        </p:nvSpPr>
        <p:spPr>
          <a:xfrm>
            <a:off x="9031529" y="4023360"/>
            <a:ext cx="1097280" cy="548640"/>
          </a:xfrm>
          <a:prstGeom prst="rect">
            <a:avLst/>
          </a:prstGeom>
          <a:noFill/>
          <a:ln/>
        </p:spPr>
        <p:txBody>
          <a:bodyPr wrap="square" lIns="0" tIns="0" rIns="0" bIns="0" rtlCol="0" anchor="t"/>
          <a:lstStyle/>
          <a:p>
            <a:pPr indent="0" marL="0">
              <a:buNone/>
            </a:pPr>
            <a:r>
              <a:rPr lang="en-US" sz="3600" dirty="0">
                <a:solidFill>
                  <a:schemeClr val="accent2"/>
                </a:solidFill>
                <a:latin typeface="Century Gothic" pitchFamily="34" charset="0"/>
                <a:ea typeface="Century Gothic" pitchFamily="34" charset="-122"/>
                <a:cs typeface="Century Gothic" pitchFamily="34" charset="-120"/>
              </a:rPr>
              <a:t>04</a:t>
            </a:r>
            <a:endParaRPr lang="en-US" sz="3600" dirty="0"/>
          </a:p>
        </p:txBody>
      </p:sp>
      <p:sp>
        <p:nvSpPr>
          <p:cNvPr id="19" name="Text 12"/>
          <p:cNvSpPr txBox="1"/>
          <p:nvPr/>
        </p:nvSpPr>
        <p:spPr>
          <a:xfrm>
            <a:off x="9031529" y="4617720"/>
            <a:ext cx="2560320" cy="365760"/>
          </a:xfrm>
          <a:prstGeom prst="rect">
            <a:avLst/>
          </a:prstGeom>
          <a:noFill/>
          <a:ln/>
        </p:spPr>
        <p:txBody>
          <a:bodyPr wrap="square" lIns="0" tIns="0" rIns="0" bIns="0" rtlCol="0" anchor="t"/>
          <a:lstStyle/>
          <a:p>
            <a:pPr indent="0" marL="0">
              <a:buNone/>
            </a:pPr>
            <a:r>
              <a:rPr lang="en-US" sz="2000" b="1" dirty="0">
                <a:solidFill>
                  <a:schemeClr val="tx1"/>
                </a:solidFill>
                <a:latin typeface="Century Gothic" pitchFamily="34" charset="0"/>
                <a:ea typeface="Century Gothic" pitchFamily="34" charset="-122"/>
                <a:cs typeface="Century Gothic" pitchFamily="34" charset="-120"/>
              </a:rPr>
              <a:t>Deliver</a:t>
            </a:r>
            <a:endParaRPr lang="en-US" sz="2000" dirty="0"/>
          </a:p>
        </p:txBody>
      </p:sp>
      <p:sp>
        <p:nvSpPr>
          <p:cNvPr id="20" name="Text 13"/>
          <p:cNvSpPr txBox="1"/>
          <p:nvPr/>
        </p:nvSpPr>
        <p:spPr>
          <a:xfrm>
            <a:off x="9031529" y="5029200"/>
            <a:ext cx="2560320" cy="731520"/>
          </a:xfrm>
          <a:prstGeom prst="rect">
            <a:avLst/>
          </a:prstGeom>
          <a:noFill/>
          <a:ln/>
        </p:spPr>
        <p:txBody>
          <a:bodyPr wrap="square" lIns="0" tIns="0" rIns="0" bIns="0" rtlCol="0" anchor="t"/>
          <a:lstStyle/>
          <a:p>
            <a:pPr indent="0" marL="0">
              <a:buNone/>
            </a:pPr>
            <a:r>
              <a:rPr lang="en-US" sz="1300" dirty="0">
                <a:solidFill>
                  <a:schemeClr val="accent6"/>
                </a:solidFill>
              </a:rPr>
              <a:t>CAD files, drawings and reports in the formats your team uses.</a:t>
            </a:r>
            <a:endParaRPr lang="en-US" sz="13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806440" y="548640"/>
            <a:ext cx="576072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( 02.1 ) — SERVICES</a:t>
            </a:r>
            <a:endParaRPr lang="en-US" sz="1000" dirty="0"/>
          </a:p>
        </p:txBody>
      </p:sp>
      <p:sp>
        <p:nvSpPr>
          <p:cNvPr id="3" name="Text 1"/>
          <p:cNvSpPr/>
          <p:nvPr>
            <p:ph idx="103" type="title" hasCustomPrompt="1"/>
          </p:nvPr>
        </p:nvSpPr>
        <p:spPr>
          <a:xfrm>
            <a:off x="5806440" y="822960"/>
            <a:ext cx="5760720" cy="64008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3D Scanning</a:t>
            </a:r>
            <a:endParaRPr lang="en-US" sz="3200" dirty="0"/>
          </a:p>
        </p:txBody>
      </p:sp>
      <p:pic>
        <p:nvPicPr>
          <p:cNvPr id="5" name="3D Scanning" descr="C:\Users\ADMIN\Desktop\TEMP\VSHARK_Website\collateral\assets\handheld-3d-laser-scanning-of-an-engine-cylinder-head-4x3.jpg">    </p:cNvPr>
          <p:cNvPicPr>
            <a:picLocks noChangeAspect="1"/>
          </p:cNvPicPr>
          <p:nvPr/>
        </p:nvPicPr>
        <p:blipFill>
          <a:blip r:embed="rId1"/>
          <a:srcRect l="0" r="0" t="0" b="0"/>
          <a:stretch/>
        </p:blipFill>
        <p:spPr>
          <a:xfrm>
            <a:off x="609905" y="548640"/>
            <a:ext cx="4846320" cy="3634740"/>
          </a:xfrm>
          <a:prstGeom prst="rect">
            <a:avLst/>
          </a:prstGeom>
        </p:spPr>
      </p:pic>
      <p:sp>
        <p:nvSpPr>
          <p:cNvPr id="6" name="Shape 2"/>
          <p:cNvSpPr/>
          <p:nvPr/>
        </p:nvSpPr>
        <p:spPr>
          <a:xfrm>
            <a:off x="774497" y="3813048"/>
            <a:ext cx="1211580" cy="237744"/>
          </a:xfrm>
          <a:prstGeom prst="rect">
            <a:avLst/>
          </a:prstGeom>
          <a:solidFill>
            <a:schemeClr val="tx2">
              <a:alpha val="85000"/>
            </a:schemeClr>
          </a:solidFill>
          <a:ln/>
        </p:spPr>
      </p:sp>
      <p:sp>
        <p:nvSpPr>
          <p:cNvPr id="7" name="Text 3"/>
          <p:cNvSpPr txBox="1"/>
          <p:nvPr/>
        </p:nvSpPr>
        <p:spPr>
          <a:xfrm>
            <a:off x="774497" y="3813048"/>
            <a:ext cx="121158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SERVICE 01 / 07</a:t>
            </a:r>
            <a:endParaRPr lang="en-US" sz="900" dirty="0"/>
          </a:p>
        </p:txBody>
      </p:sp>
      <p:sp>
        <p:nvSpPr>
          <p:cNvPr id="8" name="Text 4"/>
          <p:cNvSpPr txBox="1"/>
          <p:nvPr/>
        </p:nvSpPr>
        <p:spPr>
          <a:xfrm>
            <a:off x="5806440" y="1463040"/>
            <a:ext cx="5760720" cy="502920"/>
          </a:xfrm>
          <a:prstGeom prst="rect">
            <a:avLst/>
          </a:prstGeom>
          <a:noFill/>
          <a:ln/>
        </p:spPr>
        <p:txBody>
          <a:bodyPr wrap="square" lIns="0" tIns="0" rIns="0" bIns="0" rtlCol="0" anchor="t"/>
          <a:lstStyle/>
          <a:p>
            <a:pPr indent="0" marL="0">
              <a:buNone/>
            </a:pPr>
            <a:r>
              <a:rPr lang="en-US" sz="1400" dirty="0">
                <a:solidFill>
                  <a:schemeClr val="accent1"/>
                </a:solidFill>
                <a:latin typeface="Century Gothic" pitchFamily="34" charset="0"/>
                <a:ea typeface="Century Gothic" pitchFamily="34" charset="-122"/>
                <a:cs typeface="Century Gothic" pitchFamily="34" charset="-120"/>
              </a:rPr>
              <a:t>Capture any part, product or space as an accurate digital model.</a:t>
            </a:r>
            <a:endParaRPr lang="en-US" sz="1400" dirty="0"/>
          </a:p>
        </p:txBody>
      </p:sp>
      <p:sp>
        <p:nvSpPr>
          <p:cNvPr id="9" name="Text 5"/>
          <p:cNvSpPr txBox="1"/>
          <p:nvPr/>
        </p:nvSpPr>
        <p:spPr>
          <a:xfrm>
            <a:off x="5806440" y="2057400"/>
            <a:ext cx="5760720" cy="1005840"/>
          </a:xfrm>
          <a:prstGeom prst="rect">
            <a:avLst/>
          </a:prstGeom>
          <a:noFill/>
          <a:ln/>
        </p:spPr>
        <p:txBody>
          <a:bodyPr wrap="square" lIns="0" tIns="0" rIns="0" bIns="0" rtlCol="0" anchor="t"/>
          <a:lstStyle/>
          <a:p>
            <a:pPr indent="0" marL="0">
              <a:lnSpc>
                <a:spcPct val="110000"/>
              </a:lnSpc>
              <a:buNone/>
            </a:pPr>
            <a:r>
              <a:rPr lang="en-US" sz="1200" dirty="0">
                <a:solidFill>
                  <a:schemeClr val="accent6"/>
                </a:solidFill>
              </a:rPr>
              <a:t>We scan parts of every size with a range of professional 3D scanners — from small precision components to car bodies and full buildings. The result is a precise digital copy of the physical object, ready for product design, reverse engineering and quality control.</a:t>
            </a:r>
            <a:endParaRPr lang="en-US" sz="1200" dirty="0"/>
          </a:p>
        </p:txBody>
      </p:sp>
      <p:sp>
        <p:nvSpPr>
          <p:cNvPr id="10" name="Text 6"/>
          <p:cNvSpPr txBox="1"/>
          <p:nvPr/>
        </p:nvSpPr>
        <p:spPr>
          <a:xfrm>
            <a:off x="580644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High-accuracy capture</a:t>
            </a:r>
            <a:endParaRPr lang="en-US" sz="1250" dirty="0"/>
          </a:p>
        </p:txBody>
      </p:sp>
      <p:sp>
        <p:nvSpPr>
          <p:cNvPr id="11" name="Text 7"/>
          <p:cNvSpPr txBox="1"/>
          <p:nvPr/>
        </p:nvSpPr>
        <p:spPr>
          <a:xfrm>
            <a:off x="580644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Blue-laser and structured-light scanners record detail down to hundredths of a millimetre.</a:t>
            </a:r>
            <a:endParaRPr lang="en-US" sz="1050" dirty="0"/>
          </a:p>
        </p:txBody>
      </p:sp>
      <p:sp>
        <p:nvSpPr>
          <p:cNvPr id="12" name="Text 8"/>
          <p:cNvSpPr txBox="1"/>
          <p:nvPr/>
        </p:nvSpPr>
        <p:spPr>
          <a:xfrm>
            <a:off x="873252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Any size, on site or in-house</a:t>
            </a:r>
            <a:endParaRPr lang="en-US" sz="1250" dirty="0"/>
          </a:p>
        </p:txBody>
      </p:sp>
      <p:sp>
        <p:nvSpPr>
          <p:cNvPr id="13" name="Text 9"/>
          <p:cNvSpPr txBox="1"/>
          <p:nvPr/>
        </p:nvSpPr>
        <p:spPr>
          <a:xfrm>
            <a:off x="873252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From jewellery to vehicles and plant rooms — we bring the scanner to you when the part can't travel.</a:t>
            </a:r>
            <a:endParaRPr lang="en-US" sz="1050" dirty="0"/>
          </a:p>
        </p:txBody>
      </p:sp>
      <p:sp>
        <p:nvSpPr>
          <p:cNvPr id="14" name="Text 10"/>
          <p:cNvSpPr txBox="1"/>
          <p:nvPr/>
        </p:nvSpPr>
        <p:spPr>
          <a:xfrm>
            <a:off x="580644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Clean, usable data</a:t>
            </a:r>
            <a:endParaRPr lang="en-US" sz="1250" dirty="0"/>
          </a:p>
        </p:txBody>
      </p:sp>
      <p:sp>
        <p:nvSpPr>
          <p:cNvPr id="15" name="Text 11"/>
          <p:cNvSpPr txBox="1"/>
          <p:nvPr/>
        </p:nvSpPr>
        <p:spPr>
          <a:xfrm>
            <a:off x="580644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Scans are aligned, cleaned and merged into watertight meshes, not raw point dumps.</a:t>
            </a:r>
            <a:endParaRPr lang="en-US" sz="1050" dirty="0"/>
          </a:p>
        </p:txBody>
      </p:sp>
      <p:sp>
        <p:nvSpPr>
          <p:cNvPr id="16" name="Text 12"/>
          <p:cNvSpPr txBox="1"/>
          <p:nvPr/>
        </p:nvSpPr>
        <p:spPr>
          <a:xfrm>
            <a:off x="873252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Ready for the next step</a:t>
            </a:r>
            <a:endParaRPr lang="en-US" sz="1250" dirty="0"/>
          </a:p>
        </p:txBody>
      </p:sp>
      <p:sp>
        <p:nvSpPr>
          <p:cNvPr id="17" name="Text 13"/>
          <p:cNvSpPr txBox="1"/>
          <p:nvPr/>
        </p:nvSpPr>
        <p:spPr>
          <a:xfrm>
            <a:off x="873252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Data is prepared for reverse engineering, inspection, printing or visualisation.</a:t>
            </a:r>
            <a:endParaRPr lang="en-US" sz="1050" dirty="0"/>
          </a:p>
        </p:txBody>
      </p:sp>
      <p:sp>
        <p:nvSpPr>
          <p:cNvPr id="18" name="Text 14"/>
          <p:cNvSpPr txBox="1"/>
          <p:nvPr/>
        </p:nvSpPr>
        <p:spPr>
          <a:xfrm>
            <a:off x="609905" y="4389120"/>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DELIVERABLES</a:t>
            </a:r>
            <a:endParaRPr lang="en-US" sz="900" dirty="0"/>
          </a:p>
        </p:txBody>
      </p:sp>
      <p:sp>
        <p:nvSpPr>
          <p:cNvPr id="19" name="Shape 15"/>
          <p:cNvSpPr/>
          <p:nvPr/>
        </p:nvSpPr>
        <p:spPr>
          <a:xfrm>
            <a:off x="609905" y="4617720"/>
            <a:ext cx="1836115" cy="274320"/>
          </a:xfrm>
          <a:prstGeom prst="roundRect">
            <a:avLst>
              <a:gd name="adj" fmla="val 50000"/>
            </a:avLst>
          </a:prstGeom>
          <a:solidFill>
            <a:schemeClr val="bg1"/>
          </a:solidFill>
          <a:ln w="9525">
            <a:solidFill>
              <a:schemeClr val="accent5"/>
            </a:solidFill>
            <a:prstDash val="solid"/>
          </a:ln>
        </p:spPr>
      </p:sp>
      <p:sp>
        <p:nvSpPr>
          <p:cNvPr id="20" name="Text 16"/>
          <p:cNvSpPr txBox="1"/>
          <p:nvPr/>
        </p:nvSpPr>
        <p:spPr>
          <a:xfrm>
            <a:off x="609905" y="4617720"/>
            <a:ext cx="1836115" cy="274320"/>
          </a:xfrm>
          <a:prstGeom prst="rect">
            <a:avLst/>
          </a:prstGeom>
          <a:noFill/>
          <a:ln/>
        </p:spPr>
        <p:txBody>
          <a:bodyPr wrap="square" lIns="0" tIns="0" rIns="0" bIns="0" rtlCol="0" anchor="ctr"/>
          <a:lstStyle/>
          <a:p>
            <a:pPr algn="ctr" indent="0" marL="0">
              <a:buNone/>
            </a:pPr>
            <a:r>
              <a:rPr lang="en-US" sz="1000" dirty="0">
                <a:solidFill>
                  <a:schemeClr val="accent6"/>
                </a:solidFill>
              </a:rPr>
              <a:t>Point cloud (.PLY, .TXT)</a:t>
            </a:r>
            <a:endParaRPr lang="en-US" sz="1000" dirty="0"/>
          </a:p>
        </p:txBody>
      </p:sp>
      <p:sp>
        <p:nvSpPr>
          <p:cNvPr id="21" name="Shape 17"/>
          <p:cNvSpPr/>
          <p:nvPr/>
        </p:nvSpPr>
        <p:spPr>
          <a:xfrm>
            <a:off x="2519172" y="4617720"/>
            <a:ext cx="1375258" cy="274320"/>
          </a:xfrm>
          <a:prstGeom prst="roundRect">
            <a:avLst>
              <a:gd name="adj" fmla="val 50000"/>
            </a:avLst>
          </a:prstGeom>
          <a:solidFill>
            <a:schemeClr val="bg1"/>
          </a:solidFill>
          <a:ln w="9525">
            <a:solidFill>
              <a:schemeClr val="accent5"/>
            </a:solidFill>
            <a:prstDash val="solid"/>
          </a:ln>
        </p:spPr>
      </p:sp>
      <p:sp>
        <p:nvSpPr>
          <p:cNvPr id="22" name="Text 18"/>
          <p:cNvSpPr txBox="1"/>
          <p:nvPr/>
        </p:nvSpPr>
        <p:spPr>
          <a:xfrm>
            <a:off x="2519172" y="4617720"/>
            <a:ext cx="1375258" cy="274320"/>
          </a:xfrm>
          <a:prstGeom prst="rect">
            <a:avLst/>
          </a:prstGeom>
          <a:noFill/>
          <a:ln/>
        </p:spPr>
        <p:txBody>
          <a:bodyPr wrap="square" lIns="0" tIns="0" rIns="0" bIns="0" rtlCol="0" anchor="ctr"/>
          <a:lstStyle/>
          <a:p>
            <a:pPr algn="ctr" indent="0" marL="0">
              <a:buNone/>
            </a:pPr>
            <a:r>
              <a:rPr lang="en-US" sz="1000" dirty="0">
                <a:solidFill>
                  <a:schemeClr val="accent6"/>
                </a:solidFill>
              </a:rPr>
              <a:t>Mesh (.STL, .OBJ)</a:t>
            </a:r>
            <a:endParaRPr lang="en-US" sz="1000" dirty="0"/>
          </a:p>
        </p:txBody>
      </p:sp>
      <p:sp>
        <p:nvSpPr>
          <p:cNvPr id="23" name="Shape 19"/>
          <p:cNvSpPr/>
          <p:nvPr/>
        </p:nvSpPr>
        <p:spPr>
          <a:xfrm>
            <a:off x="609905" y="4965192"/>
            <a:ext cx="1572768" cy="274320"/>
          </a:xfrm>
          <a:prstGeom prst="roundRect">
            <a:avLst>
              <a:gd name="adj" fmla="val 50000"/>
            </a:avLst>
          </a:prstGeom>
          <a:solidFill>
            <a:schemeClr val="bg1"/>
          </a:solidFill>
          <a:ln w="9525">
            <a:solidFill>
              <a:schemeClr val="accent5"/>
            </a:solidFill>
            <a:prstDash val="solid"/>
          </a:ln>
        </p:spPr>
      </p:sp>
      <p:sp>
        <p:nvSpPr>
          <p:cNvPr id="24" name="Text 20"/>
          <p:cNvSpPr txBox="1"/>
          <p:nvPr/>
        </p:nvSpPr>
        <p:spPr>
          <a:xfrm>
            <a:off x="609905" y="4965192"/>
            <a:ext cx="1572768" cy="274320"/>
          </a:xfrm>
          <a:prstGeom prst="rect">
            <a:avLst/>
          </a:prstGeom>
          <a:noFill/>
          <a:ln/>
        </p:spPr>
        <p:txBody>
          <a:bodyPr wrap="square" lIns="0" tIns="0" rIns="0" bIns="0" rtlCol="0" anchor="ctr"/>
          <a:lstStyle/>
          <a:p>
            <a:pPr algn="ctr" indent="0" marL="0">
              <a:buNone/>
            </a:pPr>
            <a:r>
              <a:rPr lang="en-US" sz="1000" dirty="0">
                <a:solidFill>
                  <a:schemeClr val="accent6"/>
                </a:solidFill>
              </a:rPr>
              <a:t>Colour/texture scans</a:t>
            </a:r>
            <a:endParaRPr lang="en-US" sz="1000" dirty="0"/>
          </a:p>
        </p:txBody>
      </p:sp>
      <p:sp>
        <p:nvSpPr>
          <p:cNvPr id="25" name="Shape 21"/>
          <p:cNvSpPr/>
          <p:nvPr/>
        </p:nvSpPr>
        <p:spPr>
          <a:xfrm>
            <a:off x="2255825" y="4965192"/>
            <a:ext cx="980237" cy="274320"/>
          </a:xfrm>
          <a:prstGeom prst="roundRect">
            <a:avLst>
              <a:gd name="adj" fmla="val 50000"/>
            </a:avLst>
          </a:prstGeom>
          <a:solidFill>
            <a:schemeClr val="bg1"/>
          </a:solidFill>
          <a:ln w="9525">
            <a:solidFill>
              <a:schemeClr val="accent5"/>
            </a:solidFill>
            <a:prstDash val="solid"/>
          </a:ln>
        </p:spPr>
      </p:sp>
      <p:sp>
        <p:nvSpPr>
          <p:cNvPr id="26" name="Text 22"/>
          <p:cNvSpPr txBox="1"/>
          <p:nvPr/>
        </p:nvSpPr>
        <p:spPr>
          <a:xfrm>
            <a:off x="2255825" y="4965192"/>
            <a:ext cx="980237" cy="274320"/>
          </a:xfrm>
          <a:prstGeom prst="rect">
            <a:avLst/>
          </a:prstGeom>
          <a:noFill/>
          <a:ln/>
        </p:spPr>
        <p:txBody>
          <a:bodyPr wrap="square" lIns="0" tIns="0" rIns="0" bIns="0" rtlCol="0" anchor="ctr"/>
          <a:lstStyle/>
          <a:p>
            <a:pPr algn="ctr" indent="0" marL="0">
              <a:buNone/>
            </a:pPr>
            <a:r>
              <a:rPr lang="en-US" sz="1000" dirty="0">
                <a:solidFill>
                  <a:schemeClr val="accent6"/>
                </a:solidFill>
              </a:rPr>
              <a:t>Scan report</a:t>
            </a:r>
            <a:endParaRPr lang="en-US" sz="1000" dirty="0"/>
          </a:p>
        </p:txBody>
      </p:sp>
      <p:sp>
        <p:nvSpPr>
          <p:cNvPr id="27" name="Text 23"/>
          <p:cNvSpPr txBox="1"/>
          <p:nvPr/>
        </p:nvSpPr>
        <p:spPr>
          <a:xfrm>
            <a:off x="609905" y="5367528"/>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INDUSTRIES</a:t>
            </a:r>
            <a:endParaRPr lang="en-US" sz="900" dirty="0"/>
          </a:p>
        </p:txBody>
      </p:sp>
      <p:sp>
        <p:nvSpPr>
          <p:cNvPr id="28" name="Shape 24"/>
          <p:cNvSpPr/>
          <p:nvPr/>
        </p:nvSpPr>
        <p:spPr>
          <a:xfrm>
            <a:off x="609905" y="5596128"/>
            <a:ext cx="848563" cy="274320"/>
          </a:xfrm>
          <a:prstGeom prst="roundRect">
            <a:avLst>
              <a:gd name="adj" fmla="val 50000"/>
            </a:avLst>
          </a:prstGeom>
          <a:solidFill>
            <a:schemeClr val="bg2"/>
          </a:solidFill>
          <a:ln w="9525">
            <a:solidFill>
              <a:schemeClr val="accent2"/>
            </a:solidFill>
            <a:prstDash val="solid"/>
          </a:ln>
        </p:spPr>
      </p:sp>
      <p:sp>
        <p:nvSpPr>
          <p:cNvPr id="29" name="Text 25"/>
          <p:cNvSpPr txBox="1"/>
          <p:nvPr/>
        </p:nvSpPr>
        <p:spPr>
          <a:xfrm>
            <a:off x="609905" y="5596128"/>
            <a:ext cx="848563" cy="274320"/>
          </a:xfrm>
          <a:prstGeom prst="rect">
            <a:avLst/>
          </a:prstGeom>
          <a:noFill/>
          <a:ln/>
        </p:spPr>
        <p:txBody>
          <a:bodyPr wrap="square" lIns="0" tIns="0" rIns="0" bIns="0" rtlCol="0" anchor="ctr"/>
          <a:lstStyle/>
          <a:p>
            <a:pPr algn="ctr" indent="0" marL="0">
              <a:buNone/>
            </a:pPr>
            <a:r>
              <a:rPr lang="en-US" sz="1000" dirty="0">
                <a:solidFill>
                  <a:schemeClr val="accent3"/>
                </a:solidFill>
              </a:rPr>
              <a:t>Aerospace</a:t>
            </a:r>
            <a:endParaRPr lang="en-US" sz="1000" dirty="0"/>
          </a:p>
        </p:txBody>
      </p:sp>
      <p:sp>
        <p:nvSpPr>
          <p:cNvPr id="30" name="Shape 26"/>
          <p:cNvSpPr/>
          <p:nvPr/>
        </p:nvSpPr>
        <p:spPr>
          <a:xfrm>
            <a:off x="1531620" y="5596128"/>
            <a:ext cx="914400" cy="274320"/>
          </a:xfrm>
          <a:prstGeom prst="roundRect">
            <a:avLst>
              <a:gd name="adj" fmla="val 50000"/>
            </a:avLst>
          </a:prstGeom>
          <a:solidFill>
            <a:schemeClr val="bg2"/>
          </a:solidFill>
          <a:ln w="9525">
            <a:solidFill>
              <a:schemeClr val="accent2"/>
            </a:solidFill>
            <a:prstDash val="solid"/>
          </a:ln>
        </p:spPr>
      </p:sp>
      <p:sp>
        <p:nvSpPr>
          <p:cNvPr id="31" name="Text 27"/>
          <p:cNvSpPr txBox="1"/>
          <p:nvPr/>
        </p:nvSpPr>
        <p:spPr>
          <a:xfrm>
            <a:off x="1531620" y="5596128"/>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Automobile</a:t>
            </a:r>
            <a:endParaRPr lang="en-US" sz="1000" dirty="0"/>
          </a:p>
        </p:txBody>
      </p:sp>
      <p:sp>
        <p:nvSpPr>
          <p:cNvPr id="32" name="Shape 28"/>
          <p:cNvSpPr/>
          <p:nvPr/>
        </p:nvSpPr>
        <p:spPr>
          <a:xfrm>
            <a:off x="2519172" y="5596128"/>
            <a:ext cx="914400" cy="274320"/>
          </a:xfrm>
          <a:prstGeom prst="roundRect">
            <a:avLst>
              <a:gd name="adj" fmla="val 50000"/>
            </a:avLst>
          </a:prstGeom>
          <a:solidFill>
            <a:schemeClr val="bg2"/>
          </a:solidFill>
          <a:ln w="9525">
            <a:solidFill>
              <a:schemeClr val="accent2"/>
            </a:solidFill>
            <a:prstDash val="solid"/>
          </a:ln>
        </p:spPr>
      </p:sp>
      <p:sp>
        <p:nvSpPr>
          <p:cNvPr id="33" name="Text 29"/>
          <p:cNvSpPr txBox="1"/>
          <p:nvPr/>
        </p:nvSpPr>
        <p:spPr>
          <a:xfrm>
            <a:off x="2519172" y="5596128"/>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Healthcare</a:t>
            </a:r>
            <a:endParaRPr lang="en-US" sz="1000" dirty="0"/>
          </a:p>
        </p:txBody>
      </p:sp>
      <p:sp>
        <p:nvSpPr>
          <p:cNvPr id="34" name="Shape 30"/>
          <p:cNvSpPr/>
          <p:nvPr/>
        </p:nvSpPr>
        <p:spPr>
          <a:xfrm>
            <a:off x="3506724" y="5596128"/>
            <a:ext cx="848563" cy="274320"/>
          </a:xfrm>
          <a:prstGeom prst="roundRect">
            <a:avLst>
              <a:gd name="adj" fmla="val 50000"/>
            </a:avLst>
          </a:prstGeom>
          <a:solidFill>
            <a:schemeClr val="bg2"/>
          </a:solidFill>
          <a:ln w="9525">
            <a:solidFill>
              <a:schemeClr val="accent2"/>
            </a:solidFill>
            <a:prstDash val="solid"/>
          </a:ln>
        </p:spPr>
      </p:sp>
      <p:sp>
        <p:nvSpPr>
          <p:cNvPr id="35" name="Text 31"/>
          <p:cNvSpPr txBox="1"/>
          <p:nvPr/>
        </p:nvSpPr>
        <p:spPr>
          <a:xfrm>
            <a:off x="3506724" y="5596128"/>
            <a:ext cx="848563" cy="274320"/>
          </a:xfrm>
          <a:prstGeom prst="rect">
            <a:avLst/>
          </a:prstGeom>
          <a:noFill/>
          <a:ln/>
        </p:spPr>
        <p:txBody>
          <a:bodyPr wrap="square" lIns="0" tIns="0" rIns="0" bIns="0" rtlCol="0" anchor="ctr"/>
          <a:lstStyle/>
          <a:p>
            <a:pPr algn="ctr" indent="0" marL="0">
              <a:buNone/>
            </a:pPr>
            <a:r>
              <a:rPr lang="en-US" sz="1000" dirty="0">
                <a:solidFill>
                  <a:schemeClr val="accent3"/>
                </a:solidFill>
              </a:rPr>
              <a:t>Jewellery</a:t>
            </a:r>
            <a:endParaRPr lang="en-US" sz="1000" dirty="0"/>
          </a:p>
        </p:txBody>
      </p:sp>
      <p:sp>
        <p:nvSpPr>
          <p:cNvPr id="36" name="Shape 32"/>
          <p:cNvSpPr/>
          <p:nvPr/>
        </p:nvSpPr>
        <p:spPr>
          <a:xfrm>
            <a:off x="4428439" y="5596128"/>
            <a:ext cx="848563" cy="274320"/>
          </a:xfrm>
          <a:prstGeom prst="roundRect">
            <a:avLst>
              <a:gd name="adj" fmla="val 50000"/>
            </a:avLst>
          </a:prstGeom>
          <a:solidFill>
            <a:schemeClr val="bg2"/>
          </a:solidFill>
          <a:ln w="9525">
            <a:solidFill>
              <a:schemeClr val="accent2"/>
            </a:solidFill>
            <a:prstDash val="solid"/>
          </a:ln>
        </p:spPr>
      </p:sp>
      <p:sp>
        <p:nvSpPr>
          <p:cNvPr id="37" name="Text 33"/>
          <p:cNvSpPr txBox="1"/>
          <p:nvPr/>
        </p:nvSpPr>
        <p:spPr>
          <a:xfrm>
            <a:off x="4428439" y="5596128"/>
            <a:ext cx="848563" cy="274320"/>
          </a:xfrm>
          <a:prstGeom prst="rect">
            <a:avLst/>
          </a:prstGeom>
          <a:noFill/>
          <a:ln/>
        </p:spPr>
        <p:txBody>
          <a:bodyPr wrap="square" lIns="0" tIns="0" rIns="0" bIns="0" rtlCol="0" anchor="ctr"/>
          <a:lstStyle/>
          <a:p>
            <a:pPr algn="ctr" indent="0" marL="0">
              <a:buNone/>
            </a:pPr>
            <a:r>
              <a:rPr lang="en-US" sz="1000" dirty="0">
                <a:solidFill>
                  <a:schemeClr val="accent3"/>
                </a:solidFill>
              </a:rPr>
              <a:t>Education</a:t>
            </a:r>
            <a:endParaRPr lang="en-US" sz="10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806440" y="548640"/>
            <a:ext cx="576072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( 02.2 ) — SERVICES</a:t>
            </a:r>
            <a:endParaRPr lang="en-US" sz="1000" dirty="0"/>
          </a:p>
        </p:txBody>
      </p:sp>
      <p:sp>
        <p:nvSpPr>
          <p:cNvPr id="3" name="Text 1"/>
          <p:cNvSpPr/>
          <p:nvPr>
            <p:ph idx="103" type="title" hasCustomPrompt="1"/>
          </p:nvPr>
        </p:nvSpPr>
        <p:spPr>
          <a:xfrm>
            <a:off x="5806440" y="822960"/>
            <a:ext cx="5760720" cy="64008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Reverse Engineering</a:t>
            </a:r>
            <a:endParaRPr lang="en-US" sz="3200" dirty="0"/>
          </a:p>
        </p:txBody>
      </p:sp>
      <p:pic>
        <p:nvPicPr>
          <p:cNvPr id="5" name="Reverse Engineering" descr="C:\Users\ADMIN\Desktop\TEMP\VSHARK_Website\collateral\assets\3d-scan-to-cad-reverse-engineering-of-a-motorcycle-tubular-frame-4x3.jpg">    </p:cNvPr>
          <p:cNvPicPr>
            <a:picLocks noChangeAspect="1"/>
          </p:cNvPicPr>
          <p:nvPr/>
        </p:nvPicPr>
        <p:blipFill>
          <a:blip r:embed="rId1"/>
          <a:srcRect l="0" r="0" t="0" b="0"/>
          <a:stretch/>
        </p:blipFill>
        <p:spPr>
          <a:xfrm>
            <a:off x="609905" y="548640"/>
            <a:ext cx="4846320" cy="3634740"/>
          </a:xfrm>
          <a:prstGeom prst="rect">
            <a:avLst/>
          </a:prstGeom>
        </p:spPr>
      </p:pic>
      <p:sp>
        <p:nvSpPr>
          <p:cNvPr id="6" name="Shape 2"/>
          <p:cNvSpPr/>
          <p:nvPr/>
        </p:nvSpPr>
        <p:spPr>
          <a:xfrm>
            <a:off x="774497" y="3813048"/>
            <a:ext cx="1211580" cy="237744"/>
          </a:xfrm>
          <a:prstGeom prst="rect">
            <a:avLst/>
          </a:prstGeom>
          <a:solidFill>
            <a:schemeClr val="tx2">
              <a:alpha val="85000"/>
            </a:schemeClr>
          </a:solidFill>
          <a:ln/>
        </p:spPr>
      </p:sp>
      <p:sp>
        <p:nvSpPr>
          <p:cNvPr id="7" name="Text 3"/>
          <p:cNvSpPr txBox="1"/>
          <p:nvPr/>
        </p:nvSpPr>
        <p:spPr>
          <a:xfrm>
            <a:off x="774497" y="3813048"/>
            <a:ext cx="121158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SERVICE 02 / 07</a:t>
            </a:r>
            <a:endParaRPr lang="en-US" sz="900" dirty="0"/>
          </a:p>
        </p:txBody>
      </p:sp>
      <p:sp>
        <p:nvSpPr>
          <p:cNvPr id="8" name="Text 4"/>
          <p:cNvSpPr txBox="1"/>
          <p:nvPr/>
        </p:nvSpPr>
        <p:spPr>
          <a:xfrm>
            <a:off x="5806440" y="1463040"/>
            <a:ext cx="5760720" cy="502920"/>
          </a:xfrm>
          <a:prstGeom prst="rect">
            <a:avLst/>
          </a:prstGeom>
          <a:noFill/>
          <a:ln/>
        </p:spPr>
        <p:txBody>
          <a:bodyPr wrap="square" lIns="0" tIns="0" rIns="0" bIns="0" rtlCol="0" anchor="t"/>
          <a:lstStyle/>
          <a:p>
            <a:pPr indent="0" marL="0">
              <a:buNone/>
            </a:pPr>
            <a:r>
              <a:rPr lang="en-US" sz="1400" dirty="0">
                <a:solidFill>
                  <a:schemeClr val="accent1"/>
                </a:solidFill>
                <a:latin typeface="Century Gothic" pitchFamily="34" charset="0"/>
                <a:ea typeface="Century Gothic" pitchFamily="34" charset="-122"/>
                <a:cs typeface="Century Gothic" pitchFamily="34" charset="-120"/>
              </a:rPr>
              <a:t>Turn scan data into fully editable, manufacturable CAD.</a:t>
            </a:r>
            <a:endParaRPr lang="en-US" sz="1400" dirty="0"/>
          </a:p>
        </p:txBody>
      </p:sp>
      <p:sp>
        <p:nvSpPr>
          <p:cNvPr id="9" name="Text 5"/>
          <p:cNvSpPr txBox="1"/>
          <p:nvPr/>
        </p:nvSpPr>
        <p:spPr>
          <a:xfrm>
            <a:off x="5806440" y="2057400"/>
            <a:ext cx="5760720" cy="1005840"/>
          </a:xfrm>
          <a:prstGeom prst="rect">
            <a:avLst/>
          </a:prstGeom>
          <a:noFill/>
          <a:ln/>
        </p:spPr>
        <p:txBody>
          <a:bodyPr wrap="square" lIns="0" tIns="0" rIns="0" bIns="0" rtlCol="0" anchor="t"/>
          <a:lstStyle/>
          <a:p>
            <a:pPr indent="0" marL="0">
              <a:lnSpc>
                <a:spcPct val="110000"/>
              </a:lnSpc>
              <a:buNone/>
            </a:pPr>
            <a:r>
              <a:rPr lang="en-US" sz="1200" dirty="0">
                <a:solidFill>
                  <a:schemeClr val="accent6"/>
                </a:solidFill>
              </a:rPr>
              <a:t>We rebuild physical parts as parametric CAD models — for re-manufacturing legacy parts with no drawings, modifying existing designs, or creating moulds and tooling. You choose how faithful the model should be to the scanned part.</a:t>
            </a:r>
            <a:endParaRPr lang="en-US" sz="1200" dirty="0"/>
          </a:p>
        </p:txBody>
      </p:sp>
      <p:sp>
        <p:nvSpPr>
          <p:cNvPr id="10" name="Text 6"/>
          <p:cNvSpPr txBox="1"/>
          <p:nvPr/>
        </p:nvSpPr>
        <p:spPr>
          <a:xfrm>
            <a:off x="580644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Design-intent modelling</a:t>
            </a:r>
            <a:endParaRPr lang="en-US" sz="1250" dirty="0"/>
          </a:p>
        </p:txBody>
      </p:sp>
      <p:sp>
        <p:nvSpPr>
          <p:cNvPr id="11" name="Text 7"/>
          <p:cNvSpPr txBox="1"/>
          <p:nvPr/>
        </p:nvSpPr>
        <p:spPr>
          <a:xfrm>
            <a:off x="580644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A clean CAD model with manufacturing imperfections removed — ideal for re-manufacture from 3D models or 2D drawings.</a:t>
            </a:r>
            <a:endParaRPr lang="en-US" sz="1050" dirty="0"/>
          </a:p>
        </p:txBody>
      </p:sp>
      <p:sp>
        <p:nvSpPr>
          <p:cNvPr id="12" name="Text 8"/>
          <p:cNvSpPr txBox="1"/>
          <p:nvPr/>
        </p:nvSpPr>
        <p:spPr>
          <a:xfrm>
            <a:off x="873252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NURBS surface models</a:t>
            </a:r>
            <a:endParaRPr lang="en-US" sz="1250" dirty="0"/>
          </a:p>
        </p:txBody>
      </p:sp>
      <p:sp>
        <p:nvSpPr>
          <p:cNvPr id="13" name="Text 9"/>
          <p:cNvSpPr txBox="1"/>
          <p:nvPr/>
        </p:nvSpPr>
        <p:spPr>
          <a:xfrm>
            <a:off x="873252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Precise freeform surfaces fitted over scan data where an exact as-is representation matters.</a:t>
            </a:r>
            <a:endParaRPr lang="en-US" sz="1050" dirty="0"/>
          </a:p>
        </p:txBody>
      </p:sp>
      <p:sp>
        <p:nvSpPr>
          <p:cNvPr id="14" name="Text 10"/>
          <p:cNvSpPr txBox="1"/>
          <p:nvPr/>
        </p:nvSpPr>
        <p:spPr>
          <a:xfrm>
            <a:off x="580644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Hybrid modelling</a:t>
            </a:r>
            <a:endParaRPr lang="en-US" sz="1250" dirty="0"/>
          </a:p>
        </p:txBody>
      </p:sp>
      <p:sp>
        <p:nvSpPr>
          <p:cNvPr id="15" name="Text 11"/>
          <p:cNvSpPr txBox="1"/>
          <p:nvPr/>
        </p:nvSpPr>
        <p:spPr>
          <a:xfrm>
            <a:off x="580644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Prismatic features modelled to design intent, freeform areas surfaced to the scan — the best of both.</a:t>
            </a:r>
            <a:endParaRPr lang="en-US" sz="1050" dirty="0"/>
          </a:p>
        </p:txBody>
      </p:sp>
      <p:sp>
        <p:nvSpPr>
          <p:cNvPr id="16" name="Text 12"/>
          <p:cNvSpPr txBox="1"/>
          <p:nvPr/>
        </p:nvSpPr>
        <p:spPr>
          <a:xfrm>
            <a:off x="873252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Drawings on request</a:t>
            </a:r>
            <a:endParaRPr lang="en-US" sz="1250" dirty="0"/>
          </a:p>
        </p:txBody>
      </p:sp>
      <p:sp>
        <p:nvSpPr>
          <p:cNvPr id="17" name="Text 13"/>
          <p:cNvSpPr txBox="1"/>
          <p:nvPr/>
        </p:nvSpPr>
        <p:spPr>
          <a:xfrm>
            <a:off x="873252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2D manufacturing drawings with GD&amp;T generated from the final model.</a:t>
            </a:r>
            <a:endParaRPr lang="en-US" sz="1050" dirty="0"/>
          </a:p>
        </p:txBody>
      </p:sp>
      <p:sp>
        <p:nvSpPr>
          <p:cNvPr id="18" name="Text 14"/>
          <p:cNvSpPr txBox="1"/>
          <p:nvPr/>
        </p:nvSpPr>
        <p:spPr>
          <a:xfrm>
            <a:off x="609905" y="4389120"/>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DELIVERABLES</a:t>
            </a:r>
            <a:endParaRPr lang="en-US" sz="900" dirty="0"/>
          </a:p>
        </p:txBody>
      </p:sp>
      <p:sp>
        <p:nvSpPr>
          <p:cNvPr id="19" name="Shape 15"/>
          <p:cNvSpPr/>
          <p:nvPr/>
        </p:nvSpPr>
        <p:spPr>
          <a:xfrm>
            <a:off x="609905" y="4617720"/>
            <a:ext cx="2560320" cy="274320"/>
          </a:xfrm>
          <a:prstGeom prst="roundRect">
            <a:avLst>
              <a:gd name="adj" fmla="val 50000"/>
            </a:avLst>
          </a:prstGeom>
          <a:solidFill>
            <a:schemeClr val="bg1"/>
          </a:solidFill>
          <a:ln w="9525">
            <a:solidFill>
              <a:schemeClr val="accent5"/>
            </a:solidFill>
            <a:prstDash val="solid"/>
          </a:ln>
        </p:spPr>
      </p:sp>
      <p:sp>
        <p:nvSpPr>
          <p:cNvPr id="20" name="Text 16"/>
          <p:cNvSpPr txBox="1"/>
          <p:nvPr/>
        </p:nvSpPr>
        <p:spPr>
          <a:xfrm>
            <a:off x="609905" y="4617720"/>
            <a:ext cx="2560320" cy="274320"/>
          </a:xfrm>
          <a:prstGeom prst="rect">
            <a:avLst/>
          </a:prstGeom>
          <a:noFill/>
          <a:ln/>
        </p:spPr>
        <p:txBody>
          <a:bodyPr wrap="square" lIns="0" tIns="0" rIns="0" bIns="0" rtlCol="0" anchor="ctr"/>
          <a:lstStyle/>
          <a:p>
            <a:pPr algn="ctr" indent="0" marL="0">
              <a:buNone/>
            </a:pPr>
            <a:r>
              <a:rPr lang="en-US" sz="1000" dirty="0">
                <a:solidFill>
                  <a:schemeClr val="accent6"/>
                </a:solidFill>
              </a:rPr>
              <a:t>Parametric CAD (.STEP, .IGES, .X_T)</a:t>
            </a:r>
            <a:endParaRPr lang="en-US" sz="1000" dirty="0"/>
          </a:p>
        </p:txBody>
      </p:sp>
      <p:sp>
        <p:nvSpPr>
          <p:cNvPr id="21" name="Shape 17"/>
          <p:cNvSpPr/>
          <p:nvPr/>
        </p:nvSpPr>
        <p:spPr>
          <a:xfrm>
            <a:off x="3243377" y="4617720"/>
            <a:ext cx="1309421" cy="274320"/>
          </a:xfrm>
          <a:prstGeom prst="roundRect">
            <a:avLst>
              <a:gd name="adj" fmla="val 50000"/>
            </a:avLst>
          </a:prstGeom>
          <a:solidFill>
            <a:schemeClr val="bg1"/>
          </a:solidFill>
          <a:ln w="9525">
            <a:solidFill>
              <a:schemeClr val="accent5"/>
            </a:solidFill>
            <a:prstDash val="solid"/>
          </a:ln>
        </p:spPr>
      </p:sp>
      <p:sp>
        <p:nvSpPr>
          <p:cNvPr id="22" name="Text 18"/>
          <p:cNvSpPr txBox="1"/>
          <p:nvPr/>
        </p:nvSpPr>
        <p:spPr>
          <a:xfrm>
            <a:off x="3243377" y="4617720"/>
            <a:ext cx="1309421" cy="274320"/>
          </a:xfrm>
          <a:prstGeom prst="rect">
            <a:avLst/>
          </a:prstGeom>
          <a:noFill/>
          <a:ln/>
        </p:spPr>
        <p:txBody>
          <a:bodyPr wrap="square" lIns="0" tIns="0" rIns="0" bIns="0" rtlCol="0" anchor="ctr"/>
          <a:lstStyle/>
          <a:p>
            <a:pPr algn="ctr" indent="0" marL="0">
              <a:buNone/>
            </a:pPr>
            <a:r>
              <a:rPr lang="en-US" sz="1000" dirty="0">
                <a:solidFill>
                  <a:schemeClr val="accent6"/>
                </a:solidFill>
              </a:rPr>
              <a:t>Scan data (.STL)</a:t>
            </a:r>
            <a:endParaRPr lang="en-US" sz="1000" dirty="0"/>
          </a:p>
        </p:txBody>
      </p:sp>
      <p:sp>
        <p:nvSpPr>
          <p:cNvPr id="23" name="Shape 19"/>
          <p:cNvSpPr/>
          <p:nvPr/>
        </p:nvSpPr>
        <p:spPr>
          <a:xfrm>
            <a:off x="609905" y="4965192"/>
            <a:ext cx="1836115" cy="274320"/>
          </a:xfrm>
          <a:prstGeom prst="roundRect">
            <a:avLst>
              <a:gd name="adj" fmla="val 50000"/>
            </a:avLst>
          </a:prstGeom>
          <a:solidFill>
            <a:schemeClr val="bg1"/>
          </a:solidFill>
          <a:ln w="9525">
            <a:solidFill>
              <a:schemeClr val="accent5"/>
            </a:solidFill>
            <a:prstDash val="solid"/>
          </a:ln>
        </p:spPr>
      </p:sp>
      <p:sp>
        <p:nvSpPr>
          <p:cNvPr id="24" name="Text 20"/>
          <p:cNvSpPr txBox="1"/>
          <p:nvPr/>
        </p:nvSpPr>
        <p:spPr>
          <a:xfrm>
            <a:off x="609905" y="4965192"/>
            <a:ext cx="1836115" cy="274320"/>
          </a:xfrm>
          <a:prstGeom prst="rect">
            <a:avLst/>
          </a:prstGeom>
          <a:noFill/>
          <a:ln/>
        </p:spPr>
        <p:txBody>
          <a:bodyPr wrap="square" lIns="0" tIns="0" rIns="0" bIns="0" rtlCol="0" anchor="ctr"/>
          <a:lstStyle/>
          <a:p>
            <a:pPr algn="ctr" indent="0" marL="0">
              <a:buNone/>
            </a:pPr>
            <a:r>
              <a:rPr lang="en-US" sz="1000" dirty="0">
                <a:solidFill>
                  <a:schemeClr val="accent6"/>
                </a:solidFill>
              </a:rPr>
              <a:t>2D drawings (.PDF, .DWG)</a:t>
            </a:r>
            <a:endParaRPr lang="en-US" sz="1000" dirty="0"/>
          </a:p>
        </p:txBody>
      </p:sp>
      <p:sp>
        <p:nvSpPr>
          <p:cNvPr id="25" name="Shape 21"/>
          <p:cNvSpPr/>
          <p:nvPr/>
        </p:nvSpPr>
        <p:spPr>
          <a:xfrm>
            <a:off x="2519172" y="4965192"/>
            <a:ext cx="1901952" cy="274320"/>
          </a:xfrm>
          <a:prstGeom prst="roundRect">
            <a:avLst>
              <a:gd name="adj" fmla="val 50000"/>
            </a:avLst>
          </a:prstGeom>
          <a:solidFill>
            <a:schemeClr val="bg1"/>
          </a:solidFill>
          <a:ln w="9525">
            <a:solidFill>
              <a:schemeClr val="accent5"/>
            </a:solidFill>
            <a:prstDash val="solid"/>
          </a:ln>
        </p:spPr>
      </p:sp>
      <p:sp>
        <p:nvSpPr>
          <p:cNvPr id="26" name="Text 22"/>
          <p:cNvSpPr txBox="1"/>
          <p:nvPr/>
        </p:nvSpPr>
        <p:spPr>
          <a:xfrm>
            <a:off x="2519172" y="4965192"/>
            <a:ext cx="1901952" cy="274320"/>
          </a:xfrm>
          <a:prstGeom prst="rect">
            <a:avLst/>
          </a:prstGeom>
          <a:noFill/>
          <a:ln/>
        </p:spPr>
        <p:txBody>
          <a:bodyPr wrap="square" lIns="0" tIns="0" rIns="0" bIns="0" rtlCol="0" anchor="ctr"/>
          <a:lstStyle/>
          <a:p>
            <a:pPr algn="ctr" indent="0" marL="0">
              <a:buNone/>
            </a:pPr>
            <a:r>
              <a:rPr lang="en-US" sz="1000" dirty="0">
                <a:solidFill>
                  <a:schemeClr val="accent6"/>
                </a:solidFill>
              </a:rPr>
              <a:t>Deviation report vs. scan</a:t>
            </a:r>
            <a:endParaRPr lang="en-US" sz="1000" dirty="0"/>
          </a:p>
        </p:txBody>
      </p:sp>
      <p:sp>
        <p:nvSpPr>
          <p:cNvPr id="27" name="Text 23"/>
          <p:cNvSpPr txBox="1"/>
          <p:nvPr/>
        </p:nvSpPr>
        <p:spPr>
          <a:xfrm>
            <a:off x="609905" y="5367528"/>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INDUSTRIES</a:t>
            </a:r>
            <a:endParaRPr lang="en-US" sz="900" dirty="0"/>
          </a:p>
        </p:txBody>
      </p:sp>
      <p:sp>
        <p:nvSpPr>
          <p:cNvPr id="28" name="Shape 24"/>
          <p:cNvSpPr/>
          <p:nvPr/>
        </p:nvSpPr>
        <p:spPr>
          <a:xfrm>
            <a:off x="609905" y="5596128"/>
            <a:ext cx="914400" cy="274320"/>
          </a:xfrm>
          <a:prstGeom prst="roundRect">
            <a:avLst>
              <a:gd name="adj" fmla="val 50000"/>
            </a:avLst>
          </a:prstGeom>
          <a:solidFill>
            <a:schemeClr val="bg2"/>
          </a:solidFill>
          <a:ln w="9525">
            <a:solidFill>
              <a:schemeClr val="accent2"/>
            </a:solidFill>
            <a:prstDash val="solid"/>
          </a:ln>
        </p:spPr>
      </p:sp>
      <p:sp>
        <p:nvSpPr>
          <p:cNvPr id="29" name="Text 25"/>
          <p:cNvSpPr txBox="1"/>
          <p:nvPr/>
        </p:nvSpPr>
        <p:spPr>
          <a:xfrm>
            <a:off x="609905" y="5596128"/>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Automobile</a:t>
            </a:r>
            <a:endParaRPr lang="en-US" sz="1000" dirty="0"/>
          </a:p>
        </p:txBody>
      </p:sp>
      <p:sp>
        <p:nvSpPr>
          <p:cNvPr id="30" name="Shape 26"/>
          <p:cNvSpPr/>
          <p:nvPr/>
        </p:nvSpPr>
        <p:spPr>
          <a:xfrm>
            <a:off x="1597457" y="5596128"/>
            <a:ext cx="848563" cy="274320"/>
          </a:xfrm>
          <a:prstGeom prst="roundRect">
            <a:avLst>
              <a:gd name="adj" fmla="val 50000"/>
            </a:avLst>
          </a:prstGeom>
          <a:solidFill>
            <a:schemeClr val="bg2"/>
          </a:solidFill>
          <a:ln w="9525">
            <a:solidFill>
              <a:schemeClr val="accent2"/>
            </a:solidFill>
            <a:prstDash val="solid"/>
          </a:ln>
        </p:spPr>
      </p:sp>
      <p:sp>
        <p:nvSpPr>
          <p:cNvPr id="31" name="Text 27"/>
          <p:cNvSpPr txBox="1"/>
          <p:nvPr/>
        </p:nvSpPr>
        <p:spPr>
          <a:xfrm>
            <a:off x="1597457" y="5596128"/>
            <a:ext cx="848563" cy="274320"/>
          </a:xfrm>
          <a:prstGeom prst="rect">
            <a:avLst/>
          </a:prstGeom>
          <a:noFill/>
          <a:ln/>
        </p:spPr>
        <p:txBody>
          <a:bodyPr wrap="square" lIns="0" tIns="0" rIns="0" bIns="0" rtlCol="0" anchor="ctr"/>
          <a:lstStyle/>
          <a:p>
            <a:pPr algn="ctr" indent="0" marL="0">
              <a:buNone/>
            </a:pPr>
            <a:r>
              <a:rPr lang="en-US" sz="1000" dirty="0">
                <a:solidFill>
                  <a:schemeClr val="accent3"/>
                </a:solidFill>
              </a:rPr>
              <a:t>Aerospace</a:t>
            </a:r>
            <a:endParaRPr lang="en-US" sz="1000" dirty="0"/>
          </a:p>
        </p:txBody>
      </p:sp>
      <p:sp>
        <p:nvSpPr>
          <p:cNvPr id="32" name="Shape 28"/>
          <p:cNvSpPr/>
          <p:nvPr/>
        </p:nvSpPr>
        <p:spPr>
          <a:xfrm>
            <a:off x="2519172" y="5596128"/>
            <a:ext cx="914400" cy="274320"/>
          </a:xfrm>
          <a:prstGeom prst="roundRect">
            <a:avLst>
              <a:gd name="adj" fmla="val 50000"/>
            </a:avLst>
          </a:prstGeom>
          <a:solidFill>
            <a:schemeClr val="bg2"/>
          </a:solidFill>
          <a:ln w="9525">
            <a:solidFill>
              <a:schemeClr val="accent2"/>
            </a:solidFill>
            <a:prstDash val="solid"/>
          </a:ln>
        </p:spPr>
      </p:sp>
      <p:sp>
        <p:nvSpPr>
          <p:cNvPr id="33" name="Text 29"/>
          <p:cNvSpPr txBox="1"/>
          <p:nvPr/>
        </p:nvSpPr>
        <p:spPr>
          <a:xfrm>
            <a:off x="2519172" y="5596128"/>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Healthcare</a:t>
            </a:r>
            <a:endParaRPr lang="en-US" sz="10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806440" y="548640"/>
            <a:ext cx="576072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( 02.3 ) — SERVICES</a:t>
            </a:r>
            <a:endParaRPr lang="en-US" sz="1000" dirty="0"/>
          </a:p>
        </p:txBody>
      </p:sp>
      <p:sp>
        <p:nvSpPr>
          <p:cNvPr id="3" name="Text 1"/>
          <p:cNvSpPr/>
          <p:nvPr>
            <p:ph idx="103" type="title" hasCustomPrompt="1"/>
          </p:nvPr>
        </p:nvSpPr>
        <p:spPr>
          <a:xfrm>
            <a:off x="5806440" y="822960"/>
            <a:ext cx="5760720" cy="64008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Scan to BIM</a:t>
            </a:r>
            <a:endParaRPr lang="en-US" sz="3200" dirty="0"/>
          </a:p>
        </p:txBody>
      </p:sp>
      <p:pic>
        <p:nvPicPr>
          <p:cNvPr id="5" name="Scan to BIM" descr="C:\Users\ADMIN\Desktop\TEMP\VSHARK_Website\collateral\assets\terrestrial-laser-scanning-of-an-industrial-pump-room-for-scan-to-bim-4x3.jpg">    </p:cNvPr>
          <p:cNvPicPr>
            <a:picLocks noChangeAspect="1"/>
          </p:cNvPicPr>
          <p:nvPr/>
        </p:nvPicPr>
        <p:blipFill>
          <a:blip r:embed="rId1"/>
          <a:srcRect l="0" r="0" t="0" b="0"/>
          <a:stretch/>
        </p:blipFill>
        <p:spPr>
          <a:xfrm>
            <a:off x="609905" y="548640"/>
            <a:ext cx="4846320" cy="3634740"/>
          </a:xfrm>
          <a:prstGeom prst="rect">
            <a:avLst/>
          </a:prstGeom>
        </p:spPr>
      </p:pic>
      <p:sp>
        <p:nvSpPr>
          <p:cNvPr id="6" name="Shape 2"/>
          <p:cNvSpPr/>
          <p:nvPr/>
        </p:nvSpPr>
        <p:spPr>
          <a:xfrm>
            <a:off x="774497" y="3813048"/>
            <a:ext cx="1211580" cy="237744"/>
          </a:xfrm>
          <a:prstGeom prst="rect">
            <a:avLst/>
          </a:prstGeom>
          <a:solidFill>
            <a:schemeClr val="tx2">
              <a:alpha val="85000"/>
            </a:schemeClr>
          </a:solidFill>
          <a:ln/>
        </p:spPr>
      </p:sp>
      <p:sp>
        <p:nvSpPr>
          <p:cNvPr id="7" name="Text 3"/>
          <p:cNvSpPr txBox="1"/>
          <p:nvPr/>
        </p:nvSpPr>
        <p:spPr>
          <a:xfrm>
            <a:off x="774497" y="3813048"/>
            <a:ext cx="121158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SERVICE 03 / 07</a:t>
            </a:r>
            <a:endParaRPr lang="en-US" sz="900" dirty="0"/>
          </a:p>
        </p:txBody>
      </p:sp>
      <p:sp>
        <p:nvSpPr>
          <p:cNvPr id="8" name="Text 4"/>
          <p:cNvSpPr txBox="1"/>
          <p:nvPr/>
        </p:nvSpPr>
        <p:spPr>
          <a:xfrm>
            <a:off x="5806440" y="1463040"/>
            <a:ext cx="5760720" cy="502920"/>
          </a:xfrm>
          <a:prstGeom prst="rect">
            <a:avLst/>
          </a:prstGeom>
          <a:noFill/>
          <a:ln/>
        </p:spPr>
        <p:txBody>
          <a:bodyPr wrap="square" lIns="0" tIns="0" rIns="0" bIns="0" rtlCol="0" anchor="t"/>
          <a:lstStyle/>
          <a:p>
            <a:pPr indent="0" marL="0">
              <a:buNone/>
            </a:pPr>
            <a:r>
              <a:rPr lang="en-US" sz="1400" dirty="0">
                <a:solidFill>
                  <a:schemeClr val="accent1"/>
                </a:solidFill>
                <a:latin typeface="Century Gothic" pitchFamily="34" charset="0"/>
                <a:ea typeface="Century Gothic" pitchFamily="34" charset="-122"/>
                <a:cs typeface="Century Gothic" pitchFamily="34" charset="-120"/>
              </a:rPr>
              <a:t>Existing buildings captured as accurate, intelligent BIM models.</a:t>
            </a:r>
            <a:endParaRPr lang="en-US" sz="1400" dirty="0"/>
          </a:p>
        </p:txBody>
      </p:sp>
      <p:sp>
        <p:nvSpPr>
          <p:cNvPr id="9" name="Text 5"/>
          <p:cNvSpPr txBox="1"/>
          <p:nvPr/>
        </p:nvSpPr>
        <p:spPr>
          <a:xfrm>
            <a:off x="5806440" y="2057400"/>
            <a:ext cx="5760720" cy="1005840"/>
          </a:xfrm>
          <a:prstGeom prst="rect">
            <a:avLst/>
          </a:prstGeom>
          <a:noFill/>
          <a:ln/>
        </p:spPr>
        <p:txBody>
          <a:bodyPr wrap="square" lIns="0" tIns="0" rIns="0" bIns="0" rtlCol="0" anchor="t"/>
          <a:lstStyle/>
          <a:p>
            <a:pPr indent="0" marL="0">
              <a:lnSpc>
                <a:spcPct val="110000"/>
              </a:lnSpc>
              <a:buNone/>
            </a:pPr>
            <a:r>
              <a:rPr lang="en-US" sz="1200" dirty="0">
                <a:solidFill>
                  <a:schemeClr val="accent6"/>
                </a:solidFill>
              </a:rPr>
              <a:t>We laser-scan existing structures and convert the point cloud into detailed BIM models. Architects, engineers and contractors get an accurate as-built foundation for renovation, retrofit and facility-management projects — with every wall, slab, column and service documented.</a:t>
            </a:r>
            <a:endParaRPr lang="en-US" sz="1200" dirty="0"/>
          </a:p>
        </p:txBody>
      </p:sp>
      <p:sp>
        <p:nvSpPr>
          <p:cNvPr id="10" name="Text 6"/>
          <p:cNvSpPr txBox="1"/>
          <p:nvPr/>
        </p:nvSpPr>
        <p:spPr>
          <a:xfrm>
            <a:off x="580644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As-built accuracy</a:t>
            </a:r>
            <a:endParaRPr lang="en-US" sz="1250" dirty="0"/>
          </a:p>
        </p:txBody>
      </p:sp>
      <p:sp>
        <p:nvSpPr>
          <p:cNvPr id="11" name="Text 7"/>
          <p:cNvSpPr txBox="1"/>
          <p:nvPr/>
        </p:nvSpPr>
        <p:spPr>
          <a:xfrm>
            <a:off x="580644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Terrestrial laser scanning records the true geometry of the building, not the original drawings.</a:t>
            </a:r>
            <a:endParaRPr lang="en-US" sz="1050" dirty="0"/>
          </a:p>
        </p:txBody>
      </p:sp>
      <p:sp>
        <p:nvSpPr>
          <p:cNvPr id="12" name="Text 8"/>
          <p:cNvSpPr txBox="1"/>
          <p:nvPr/>
        </p:nvSpPr>
        <p:spPr>
          <a:xfrm>
            <a:off x="873252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LOD 200–400 models</a:t>
            </a:r>
            <a:endParaRPr lang="en-US" sz="1250" dirty="0"/>
          </a:p>
        </p:txBody>
      </p:sp>
      <p:sp>
        <p:nvSpPr>
          <p:cNvPr id="13" name="Text 9"/>
          <p:cNvSpPr txBox="1"/>
          <p:nvPr/>
        </p:nvSpPr>
        <p:spPr>
          <a:xfrm>
            <a:off x="873252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Walls, floors, structure and MEP modelled to the level of detail your project needs.</a:t>
            </a:r>
            <a:endParaRPr lang="en-US" sz="1050" dirty="0"/>
          </a:p>
        </p:txBody>
      </p:sp>
      <p:sp>
        <p:nvSpPr>
          <p:cNvPr id="14" name="Text 10"/>
          <p:cNvSpPr txBox="1"/>
          <p:nvPr/>
        </p:nvSpPr>
        <p:spPr>
          <a:xfrm>
            <a:off x="580644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Clash-ready coordination</a:t>
            </a:r>
            <a:endParaRPr lang="en-US" sz="1250" dirty="0"/>
          </a:p>
        </p:txBody>
      </p:sp>
      <p:sp>
        <p:nvSpPr>
          <p:cNvPr id="15" name="Text 11"/>
          <p:cNvSpPr txBox="1"/>
          <p:nvPr/>
        </p:nvSpPr>
        <p:spPr>
          <a:xfrm>
            <a:off x="580644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Models are set up for coordination with new design work in Revit and Navisworks.</a:t>
            </a:r>
            <a:endParaRPr lang="en-US" sz="1050" dirty="0"/>
          </a:p>
        </p:txBody>
      </p:sp>
      <p:sp>
        <p:nvSpPr>
          <p:cNvPr id="16" name="Text 12"/>
          <p:cNvSpPr txBox="1"/>
          <p:nvPr/>
        </p:nvSpPr>
        <p:spPr>
          <a:xfrm>
            <a:off x="873252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Drawings from the model</a:t>
            </a:r>
            <a:endParaRPr lang="en-US" sz="1250" dirty="0"/>
          </a:p>
        </p:txBody>
      </p:sp>
      <p:sp>
        <p:nvSpPr>
          <p:cNvPr id="17" name="Text 13"/>
          <p:cNvSpPr txBox="1"/>
          <p:nvPr/>
        </p:nvSpPr>
        <p:spPr>
          <a:xfrm>
            <a:off x="873252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Floor plans, sections and elevations exported straight from the BIM.</a:t>
            </a:r>
            <a:endParaRPr lang="en-US" sz="1050" dirty="0"/>
          </a:p>
        </p:txBody>
      </p:sp>
      <p:sp>
        <p:nvSpPr>
          <p:cNvPr id="18" name="Text 14"/>
          <p:cNvSpPr txBox="1"/>
          <p:nvPr/>
        </p:nvSpPr>
        <p:spPr>
          <a:xfrm>
            <a:off x="609905" y="4389120"/>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DELIVERABLES</a:t>
            </a:r>
            <a:endParaRPr lang="en-US" sz="900" dirty="0"/>
          </a:p>
        </p:txBody>
      </p:sp>
      <p:sp>
        <p:nvSpPr>
          <p:cNvPr id="19" name="Shape 15"/>
          <p:cNvSpPr/>
          <p:nvPr/>
        </p:nvSpPr>
        <p:spPr>
          <a:xfrm>
            <a:off x="609905" y="4617720"/>
            <a:ext cx="2560320" cy="274320"/>
          </a:xfrm>
          <a:prstGeom prst="roundRect">
            <a:avLst>
              <a:gd name="adj" fmla="val 50000"/>
            </a:avLst>
          </a:prstGeom>
          <a:solidFill>
            <a:schemeClr val="bg1"/>
          </a:solidFill>
          <a:ln w="9525">
            <a:solidFill>
              <a:schemeClr val="accent5"/>
            </a:solidFill>
            <a:prstDash val="solid"/>
          </a:ln>
        </p:spPr>
      </p:sp>
      <p:sp>
        <p:nvSpPr>
          <p:cNvPr id="20" name="Text 16"/>
          <p:cNvSpPr txBox="1"/>
          <p:nvPr/>
        </p:nvSpPr>
        <p:spPr>
          <a:xfrm>
            <a:off x="609905" y="4617720"/>
            <a:ext cx="2560320" cy="274320"/>
          </a:xfrm>
          <a:prstGeom prst="rect">
            <a:avLst/>
          </a:prstGeom>
          <a:noFill/>
          <a:ln/>
        </p:spPr>
        <p:txBody>
          <a:bodyPr wrap="square" lIns="0" tIns="0" rIns="0" bIns="0" rtlCol="0" anchor="ctr"/>
          <a:lstStyle/>
          <a:p>
            <a:pPr algn="ctr" indent="0" marL="0">
              <a:buNone/>
            </a:pPr>
            <a:r>
              <a:rPr lang="en-US" sz="1000" dirty="0">
                <a:solidFill>
                  <a:schemeClr val="accent6"/>
                </a:solidFill>
              </a:rPr>
              <a:t>Registered point cloud (.E57, .RCP)</a:t>
            </a:r>
            <a:endParaRPr lang="en-US" sz="1000" dirty="0"/>
          </a:p>
        </p:txBody>
      </p:sp>
      <p:sp>
        <p:nvSpPr>
          <p:cNvPr id="21" name="Shape 17"/>
          <p:cNvSpPr/>
          <p:nvPr/>
        </p:nvSpPr>
        <p:spPr>
          <a:xfrm>
            <a:off x="3243377" y="4617720"/>
            <a:ext cx="1441094" cy="274320"/>
          </a:xfrm>
          <a:prstGeom prst="roundRect">
            <a:avLst>
              <a:gd name="adj" fmla="val 50000"/>
            </a:avLst>
          </a:prstGeom>
          <a:solidFill>
            <a:schemeClr val="bg1"/>
          </a:solidFill>
          <a:ln w="9525">
            <a:solidFill>
              <a:schemeClr val="accent5"/>
            </a:solidFill>
            <a:prstDash val="solid"/>
          </a:ln>
        </p:spPr>
      </p:sp>
      <p:sp>
        <p:nvSpPr>
          <p:cNvPr id="22" name="Text 18"/>
          <p:cNvSpPr txBox="1"/>
          <p:nvPr/>
        </p:nvSpPr>
        <p:spPr>
          <a:xfrm>
            <a:off x="3243377" y="4617720"/>
            <a:ext cx="1441094" cy="274320"/>
          </a:xfrm>
          <a:prstGeom prst="rect">
            <a:avLst/>
          </a:prstGeom>
          <a:noFill/>
          <a:ln/>
        </p:spPr>
        <p:txBody>
          <a:bodyPr wrap="square" lIns="0" tIns="0" rIns="0" bIns="0" rtlCol="0" anchor="ctr"/>
          <a:lstStyle/>
          <a:p>
            <a:pPr algn="ctr" indent="0" marL="0">
              <a:buNone/>
            </a:pPr>
            <a:r>
              <a:rPr lang="en-US" sz="1000" dirty="0">
                <a:solidFill>
                  <a:schemeClr val="accent6"/>
                </a:solidFill>
              </a:rPr>
              <a:t>Revit model (.RVT)</a:t>
            </a:r>
            <a:endParaRPr lang="en-US" sz="1000" dirty="0"/>
          </a:p>
        </p:txBody>
      </p:sp>
      <p:sp>
        <p:nvSpPr>
          <p:cNvPr id="23" name="Shape 19"/>
          <p:cNvSpPr/>
          <p:nvPr/>
        </p:nvSpPr>
        <p:spPr>
          <a:xfrm>
            <a:off x="609905" y="4965192"/>
            <a:ext cx="914400" cy="274320"/>
          </a:xfrm>
          <a:prstGeom prst="roundRect">
            <a:avLst>
              <a:gd name="adj" fmla="val 50000"/>
            </a:avLst>
          </a:prstGeom>
          <a:solidFill>
            <a:schemeClr val="bg1"/>
          </a:solidFill>
          <a:ln w="9525">
            <a:solidFill>
              <a:schemeClr val="accent5"/>
            </a:solidFill>
            <a:prstDash val="solid"/>
          </a:ln>
        </p:spPr>
      </p:sp>
      <p:sp>
        <p:nvSpPr>
          <p:cNvPr id="24" name="Text 20"/>
          <p:cNvSpPr txBox="1"/>
          <p:nvPr/>
        </p:nvSpPr>
        <p:spPr>
          <a:xfrm>
            <a:off x="609905" y="4965192"/>
            <a:ext cx="914400" cy="274320"/>
          </a:xfrm>
          <a:prstGeom prst="rect">
            <a:avLst/>
          </a:prstGeom>
          <a:noFill/>
          <a:ln/>
        </p:spPr>
        <p:txBody>
          <a:bodyPr wrap="square" lIns="0" tIns="0" rIns="0" bIns="0" rtlCol="0" anchor="ctr"/>
          <a:lstStyle/>
          <a:p>
            <a:pPr algn="ctr" indent="0" marL="0">
              <a:buNone/>
            </a:pPr>
            <a:r>
              <a:rPr lang="en-US" sz="1000" dirty="0">
                <a:solidFill>
                  <a:schemeClr val="accent6"/>
                </a:solidFill>
              </a:rPr>
              <a:t>IFC export</a:t>
            </a:r>
            <a:endParaRPr lang="en-US" sz="1000" dirty="0"/>
          </a:p>
        </p:txBody>
      </p:sp>
      <p:sp>
        <p:nvSpPr>
          <p:cNvPr id="25" name="Shape 21"/>
          <p:cNvSpPr/>
          <p:nvPr/>
        </p:nvSpPr>
        <p:spPr>
          <a:xfrm>
            <a:off x="1597457" y="4965192"/>
            <a:ext cx="2231136" cy="274320"/>
          </a:xfrm>
          <a:prstGeom prst="roundRect">
            <a:avLst>
              <a:gd name="adj" fmla="val 50000"/>
            </a:avLst>
          </a:prstGeom>
          <a:solidFill>
            <a:schemeClr val="bg1"/>
          </a:solidFill>
          <a:ln w="9525">
            <a:solidFill>
              <a:schemeClr val="accent5"/>
            </a:solidFill>
            <a:prstDash val="solid"/>
          </a:ln>
        </p:spPr>
      </p:sp>
      <p:sp>
        <p:nvSpPr>
          <p:cNvPr id="26" name="Text 22"/>
          <p:cNvSpPr txBox="1"/>
          <p:nvPr/>
        </p:nvSpPr>
        <p:spPr>
          <a:xfrm>
            <a:off x="1597457" y="4965192"/>
            <a:ext cx="2231136" cy="274320"/>
          </a:xfrm>
          <a:prstGeom prst="rect">
            <a:avLst/>
          </a:prstGeom>
          <a:noFill/>
          <a:ln/>
        </p:spPr>
        <p:txBody>
          <a:bodyPr wrap="square" lIns="0" tIns="0" rIns="0" bIns="0" rtlCol="0" anchor="ctr"/>
          <a:lstStyle/>
          <a:p>
            <a:pPr algn="ctr" indent="0" marL="0">
              <a:buNone/>
            </a:pPr>
            <a:r>
              <a:rPr lang="en-US" sz="1000" dirty="0">
                <a:solidFill>
                  <a:schemeClr val="accent6"/>
                </a:solidFill>
              </a:rPr>
              <a:t>2D plans, sections, elevations</a:t>
            </a:r>
            <a:endParaRPr lang="en-US" sz="1000" dirty="0"/>
          </a:p>
        </p:txBody>
      </p:sp>
      <p:sp>
        <p:nvSpPr>
          <p:cNvPr id="27" name="Text 23"/>
          <p:cNvSpPr txBox="1"/>
          <p:nvPr/>
        </p:nvSpPr>
        <p:spPr>
          <a:xfrm>
            <a:off x="609905" y="5367528"/>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INDUSTRIES</a:t>
            </a:r>
            <a:endParaRPr lang="en-US" sz="900" dirty="0"/>
          </a:p>
        </p:txBody>
      </p:sp>
      <p:sp>
        <p:nvSpPr>
          <p:cNvPr id="28" name="Shape 24"/>
          <p:cNvSpPr/>
          <p:nvPr/>
        </p:nvSpPr>
        <p:spPr>
          <a:xfrm>
            <a:off x="609905" y="5596128"/>
            <a:ext cx="1046074" cy="274320"/>
          </a:xfrm>
          <a:prstGeom prst="roundRect">
            <a:avLst>
              <a:gd name="adj" fmla="val 50000"/>
            </a:avLst>
          </a:prstGeom>
          <a:solidFill>
            <a:schemeClr val="bg2"/>
          </a:solidFill>
          <a:ln w="9525">
            <a:solidFill>
              <a:schemeClr val="accent2"/>
            </a:solidFill>
            <a:prstDash val="solid"/>
          </a:ln>
        </p:spPr>
      </p:sp>
      <p:sp>
        <p:nvSpPr>
          <p:cNvPr id="29" name="Text 25"/>
          <p:cNvSpPr txBox="1"/>
          <p:nvPr/>
        </p:nvSpPr>
        <p:spPr>
          <a:xfrm>
            <a:off x="609905" y="5596128"/>
            <a:ext cx="1046074" cy="274320"/>
          </a:xfrm>
          <a:prstGeom prst="rect">
            <a:avLst/>
          </a:prstGeom>
          <a:noFill/>
          <a:ln/>
        </p:spPr>
        <p:txBody>
          <a:bodyPr wrap="square" lIns="0" tIns="0" rIns="0" bIns="0" rtlCol="0" anchor="ctr"/>
          <a:lstStyle/>
          <a:p>
            <a:pPr algn="ctr" indent="0" marL="0">
              <a:buNone/>
            </a:pPr>
            <a:r>
              <a:rPr lang="en-US" sz="1000" dirty="0">
                <a:solidFill>
                  <a:schemeClr val="accent3"/>
                </a:solidFill>
              </a:rPr>
              <a:t>Construction</a:t>
            </a:r>
            <a:endParaRPr lang="en-US" sz="1000" dirty="0"/>
          </a:p>
        </p:txBody>
      </p:sp>
      <p:sp>
        <p:nvSpPr>
          <p:cNvPr id="30" name="Shape 26"/>
          <p:cNvSpPr/>
          <p:nvPr/>
        </p:nvSpPr>
        <p:spPr>
          <a:xfrm>
            <a:off x="1729130" y="5596128"/>
            <a:ext cx="848563" cy="274320"/>
          </a:xfrm>
          <a:prstGeom prst="roundRect">
            <a:avLst>
              <a:gd name="adj" fmla="val 50000"/>
            </a:avLst>
          </a:prstGeom>
          <a:solidFill>
            <a:schemeClr val="bg2"/>
          </a:solidFill>
          <a:ln w="9525">
            <a:solidFill>
              <a:schemeClr val="accent2"/>
            </a:solidFill>
            <a:prstDash val="solid"/>
          </a:ln>
        </p:spPr>
      </p:sp>
      <p:sp>
        <p:nvSpPr>
          <p:cNvPr id="31" name="Text 27"/>
          <p:cNvSpPr txBox="1"/>
          <p:nvPr/>
        </p:nvSpPr>
        <p:spPr>
          <a:xfrm>
            <a:off x="1729130" y="5596128"/>
            <a:ext cx="848563" cy="274320"/>
          </a:xfrm>
          <a:prstGeom prst="rect">
            <a:avLst/>
          </a:prstGeom>
          <a:noFill/>
          <a:ln/>
        </p:spPr>
        <p:txBody>
          <a:bodyPr wrap="square" lIns="0" tIns="0" rIns="0" bIns="0" rtlCol="0" anchor="ctr"/>
          <a:lstStyle/>
          <a:p>
            <a:pPr algn="ctr" indent="0" marL="0">
              <a:buNone/>
            </a:pPr>
            <a:r>
              <a:rPr lang="en-US" sz="1000" dirty="0">
                <a:solidFill>
                  <a:schemeClr val="accent3"/>
                </a:solidFill>
              </a:rPr>
              <a:t>Education</a:t>
            </a:r>
            <a:endParaRPr lang="en-US" sz="1000" dirty="0"/>
          </a:p>
        </p:txBody>
      </p:sp>
      <p:sp>
        <p:nvSpPr>
          <p:cNvPr id="32" name="Shape 28"/>
          <p:cNvSpPr/>
          <p:nvPr/>
        </p:nvSpPr>
        <p:spPr>
          <a:xfrm>
            <a:off x="2650846" y="5596128"/>
            <a:ext cx="914400" cy="274320"/>
          </a:xfrm>
          <a:prstGeom prst="roundRect">
            <a:avLst>
              <a:gd name="adj" fmla="val 50000"/>
            </a:avLst>
          </a:prstGeom>
          <a:solidFill>
            <a:schemeClr val="bg2"/>
          </a:solidFill>
          <a:ln w="9525">
            <a:solidFill>
              <a:schemeClr val="accent2"/>
            </a:solidFill>
            <a:prstDash val="solid"/>
          </a:ln>
        </p:spPr>
      </p:sp>
      <p:sp>
        <p:nvSpPr>
          <p:cNvPr id="33" name="Text 29"/>
          <p:cNvSpPr txBox="1"/>
          <p:nvPr/>
        </p:nvSpPr>
        <p:spPr>
          <a:xfrm>
            <a:off x="2650846" y="5596128"/>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Healthcare</a:t>
            </a:r>
            <a:endParaRPr lang="en-US" sz="10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806440" y="548640"/>
            <a:ext cx="576072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( 02.4 ) — SERVICES</a:t>
            </a:r>
            <a:endParaRPr lang="en-US" sz="1000" dirty="0"/>
          </a:p>
        </p:txBody>
      </p:sp>
      <p:sp>
        <p:nvSpPr>
          <p:cNvPr id="3" name="Text 1"/>
          <p:cNvSpPr/>
          <p:nvPr>
            <p:ph idx="103" type="title" hasCustomPrompt="1"/>
          </p:nvPr>
        </p:nvSpPr>
        <p:spPr>
          <a:xfrm>
            <a:off x="5806440" y="822960"/>
            <a:ext cx="5760720" cy="64008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Class A Surfacing</a:t>
            </a:r>
            <a:endParaRPr lang="en-US" sz="3200" dirty="0"/>
          </a:p>
        </p:txBody>
      </p:sp>
      <p:pic>
        <p:nvPicPr>
          <p:cNvPr id="5" name="Class A Surfacing" descr="C:\Users\ADMIN\Desktop\TEMP\VSHARK_Website\collateral\assets\class-a-surface-zebra-stripe-analysis-of-a-car-fender-4x3.jpg">    </p:cNvPr>
          <p:cNvPicPr>
            <a:picLocks noChangeAspect="1"/>
          </p:cNvPicPr>
          <p:nvPr/>
        </p:nvPicPr>
        <p:blipFill>
          <a:blip r:embed="rId1"/>
          <a:srcRect l="0" r="0" t="0" b="0"/>
          <a:stretch/>
        </p:blipFill>
        <p:spPr>
          <a:xfrm>
            <a:off x="609905" y="548640"/>
            <a:ext cx="4846320" cy="3634740"/>
          </a:xfrm>
          <a:prstGeom prst="rect">
            <a:avLst/>
          </a:prstGeom>
        </p:spPr>
      </p:pic>
      <p:sp>
        <p:nvSpPr>
          <p:cNvPr id="6" name="Shape 2"/>
          <p:cNvSpPr/>
          <p:nvPr/>
        </p:nvSpPr>
        <p:spPr>
          <a:xfrm>
            <a:off x="774497" y="3813048"/>
            <a:ext cx="1211580" cy="237744"/>
          </a:xfrm>
          <a:prstGeom prst="rect">
            <a:avLst/>
          </a:prstGeom>
          <a:solidFill>
            <a:schemeClr val="tx2">
              <a:alpha val="85000"/>
            </a:schemeClr>
          </a:solidFill>
          <a:ln/>
        </p:spPr>
      </p:sp>
      <p:sp>
        <p:nvSpPr>
          <p:cNvPr id="7" name="Text 3"/>
          <p:cNvSpPr txBox="1"/>
          <p:nvPr/>
        </p:nvSpPr>
        <p:spPr>
          <a:xfrm>
            <a:off x="774497" y="3813048"/>
            <a:ext cx="121158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SERVICE 04 / 07</a:t>
            </a:r>
            <a:endParaRPr lang="en-US" sz="900" dirty="0"/>
          </a:p>
        </p:txBody>
      </p:sp>
      <p:sp>
        <p:nvSpPr>
          <p:cNvPr id="8" name="Text 4"/>
          <p:cNvSpPr txBox="1"/>
          <p:nvPr/>
        </p:nvSpPr>
        <p:spPr>
          <a:xfrm>
            <a:off x="5806440" y="1463040"/>
            <a:ext cx="5760720" cy="502920"/>
          </a:xfrm>
          <a:prstGeom prst="rect">
            <a:avLst/>
          </a:prstGeom>
          <a:noFill/>
          <a:ln/>
        </p:spPr>
        <p:txBody>
          <a:bodyPr wrap="square" lIns="0" tIns="0" rIns="0" bIns="0" rtlCol="0" anchor="t"/>
          <a:lstStyle/>
          <a:p>
            <a:pPr indent="0" marL="0">
              <a:buNone/>
            </a:pPr>
            <a:r>
              <a:rPr lang="en-US" sz="1400" dirty="0">
                <a:solidFill>
                  <a:schemeClr val="accent1"/>
                </a:solidFill>
                <a:latin typeface="Century Gothic" pitchFamily="34" charset="0"/>
                <a:ea typeface="Century Gothic" pitchFamily="34" charset="-122"/>
                <a:cs typeface="Century Gothic" pitchFamily="34" charset="-120"/>
              </a:rPr>
              <a:t>Flawless, curvature-continuous surfaces for visible parts.</a:t>
            </a:r>
            <a:endParaRPr lang="en-US" sz="1400" dirty="0"/>
          </a:p>
        </p:txBody>
      </p:sp>
      <p:sp>
        <p:nvSpPr>
          <p:cNvPr id="9" name="Text 5"/>
          <p:cNvSpPr txBox="1"/>
          <p:nvPr/>
        </p:nvSpPr>
        <p:spPr>
          <a:xfrm>
            <a:off x="5806440" y="2057400"/>
            <a:ext cx="5760720" cy="1005840"/>
          </a:xfrm>
          <a:prstGeom prst="rect">
            <a:avLst/>
          </a:prstGeom>
          <a:noFill/>
          <a:ln/>
        </p:spPr>
        <p:txBody>
          <a:bodyPr wrap="square" lIns="0" tIns="0" rIns="0" bIns="0" rtlCol="0" anchor="t"/>
          <a:lstStyle/>
          <a:p>
            <a:pPr indent="0" marL="0">
              <a:lnSpc>
                <a:spcPct val="110000"/>
              </a:lnSpc>
              <a:buNone/>
            </a:pPr>
            <a:r>
              <a:rPr lang="en-US" sz="1200" dirty="0">
                <a:solidFill>
                  <a:schemeClr val="accent6"/>
                </a:solidFill>
              </a:rPr>
              <a:t>Class A surfaces are the visible skins of a product — car body panels, aircraft fairings, consumer-product housings. We build G2/G3-continuous surfaces with clean patch layouts and verify them with zebra and curvature analysis, so reflections flow without a ripple.</a:t>
            </a:r>
            <a:endParaRPr lang="en-US" sz="1200" dirty="0"/>
          </a:p>
        </p:txBody>
      </p:sp>
      <p:sp>
        <p:nvSpPr>
          <p:cNvPr id="10" name="Text 6"/>
          <p:cNvSpPr txBox="1"/>
          <p:nvPr/>
        </p:nvSpPr>
        <p:spPr>
          <a:xfrm>
            <a:off x="580644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G2 / G3 continuity</a:t>
            </a:r>
            <a:endParaRPr lang="en-US" sz="1250" dirty="0"/>
          </a:p>
        </p:txBody>
      </p:sp>
      <p:sp>
        <p:nvSpPr>
          <p:cNvPr id="11" name="Text 7"/>
          <p:cNvSpPr txBox="1"/>
          <p:nvPr/>
        </p:nvSpPr>
        <p:spPr>
          <a:xfrm>
            <a:off x="580644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Curvature-continuous transitions between every patch for perfect reflections.</a:t>
            </a:r>
            <a:endParaRPr lang="en-US" sz="1050" dirty="0"/>
          </a:p>
        </p:txBody>
      </p:sp>
      <p:sp>
        <p:nvSpPr>
          <p:cNvPr id="12" name="Text 8"/>
          <p:cNvSpPr txBox="1"/>
          <p:nvPr/>
        </p:nvSpPr>
        <p:spPr>
          <a:xfrm>
            <a:off x="873252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Analysis-verified</a:t>
            </a:r>
            <a:endParaRPr lang="en-US" sz="1250" dirty="0"/>
          </a:p>
        </p:txBody>
      </p:sp>
      <p:sp>
        <p:nvSpPr>
          <p:cNvPr id="13" name="Text 9"/>
          <p:cNvSpPr txBox="1"/>
          <p:nvPr/>
        </p:nvSpPr>
        <p:spPr>
          <a:xfrm>
            <a:off x="873252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Zebra stripes, highlight lines and curvature combs checked on every surface.</a:t>
            </a:r>
            <a:endParaRPr lang="en-US" sz="1050" dirty="0"/>
          </a:p>
        </p:txBody>
      </p:sp>
      <p:sp>
        <p:nvSpPr>
          <p:cNvPr id="14" name="Text 10"/>
          <p:cNvSpPr txBox="1"/>
          <p:nvPr/>
        </p:nvSpPr>
        <p:spPr>
          <a:xfrm>
            <a:off x="580644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From scan or sketch</a:t>
            </a:r>
            <a:endParaRPr lang="en-US" sz="1250" dirty="0"/>
          </a:p>
        </p:txBody>
      </p:sp>
      <p:sp>
        <p:nvSpPr>
          <p:cNvPr id="15" name="Text 11"/>
          <p:cNvSpPr txBox="1"/>
          <p:nvPr/>
        </p:nvSpPr>
        <p:spPr>
          <a:xfrm>
            <a:off x="580644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Start from a clay-model scan, a reference surface or concept sketches.</a:t>
            </a:r>
            <a:endParaRPr lang="en-US" sz="1050" dirty="0"/>
          </a:p>
        </p:txBody>
      </p:sp>
      <p:sp>
        <p:nvSpPr>
          <p:cNvPr id="16" name="Text 12"/>
          <p:cNvSpPr txBox="1"/>
          <p:nvPr/>
        </p:nvSpPr>
        <p:spPr>
          <a:xfrm>
            <a:off x="873252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Tooling-ready</a:t>
            </a:r>
            <a:endParaRPr lang="en-US" sz="1250" dirty="0"/>
          </a:p>
        </p:txBody>
      </p:sp>
      <p:sp>
        <p:nvSpPr>
          <p:cNvPr id="17" name="Text 13"/>
          <p:cNvSpPr txBox="1"/>
          <p:nvPr/>
        </p:nvSpPr>
        <p:spPr>
          <a:xfrm>
            <a:off x="873252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Surfaces handed over with draft, flanges and offsets ready for engineering.</a:t>
            </a:r>
            <a:endParaRPr lang="en-US" sz="1050" dirty="0"/>
          </a:p>
        </p:txBody>
      </p:sp>
      <p:sp>
        <p:nvSpPr>
          <p:cNvPr id="18" name="Text 14"/>
          <p:cNvSpPr txBox="1"/>
          <p:nvPr/>
        </p:nvSpPr>
        <p:spPr>
          <a:xfrm>
            <a:off x="609905" y="4389120"/>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DELIVERABLES</a:t>
            </a:r>
            <a:endParaRPr lang="en-US" sz="900" dirty="0"/>
          </a:p>
        </p:txBody>
      </p:sp>
      <p:sp>
        <p:nvSpPr>
          <p:cNvPr id="19" name="Shape 15"/>
          <p:cNvSpPr/>
          <p:nvPr/>
        </p:nvSpPr>
        <p:spPr>
          <a:xfrm>
            <a:off x="609905" y="4617720"/>
            <a:ext cx="2296973" cy="274320"/>
          </a:xfrm>
          <a:prstGeom prst="roundRect">
            <a:avLst>
              <a:gd name="adj" fmla="val 50000"/>
            </a:avLst>
          </a:prstGeom>
          <a:solidFill>
            <a:schemeClr val="bg1"/>
          </a:solidFill>
          <a:ln w="9525">
            <a:solidFill>
              <a:schemeClr val="accent5"/>
            </a:solidFill>
            <a:prstDash val="solid"/>
          </a:ln>
        </p:spPr>
      </p:sp>
      <p:sp>
        <p:nvSpPr>
          <p:cNvPr id="20" name="Text 16"/>
          <p:cNvSpPr txBox="1"/>
          <p:nvPr/>
        </p:nvSpPr>
        <p:spPr>
          <a:xfrm>
            <a:off x="609905" y="4617720"/>
            <a:ext cx="2296973" cy="274320"/>
          </a:xfrm>
          <a:prstGeom prst="rect">
            <a:avLst/>
          </a:prstGeom>
          <a:noFill/>
          <a:ln/>
        </p:spPr>
        <p:txBody>
          <a:bodyPr wrap="square" lIns="0" tIns="0" rIns="0" bIns="0" rtlCol="0" anchor="ctr"/>
          <a:lstStyle/>
          <a:p>
            <a:pPr algn="ctr" indent="0" marL="0">
              <a:buNone/>
            </a:pPr>
            <a:r>
              <a:rPr lang="en-US" sz="1000" dirty="0">
                <a:solidFill>
                  <a:schemeClr val="accent6"/>
                </a:solidFill>
              </a:rPr>
              <a:t>Class A surfaces (.IGES, .STEP)</a:t>
            </a:r>
            <a:endParaRPr lang="en-US" sz="1000" dirty="0"/>
          </a:p>
        </p:txBody>
      </p:sp>
      <p:sp>
        <p:nvSpPr>
          <p:cNvPr id="21" name="Shape 17"/>
          <p:cNvSpPr/>
          <p:nvPr/>
        </p:nvSpPr>
        <p:spPr>
          <a:xfrm>
            <a:off x="2980030" y="4617720"/>
            <a:ext cx="1836115" cy="274320"/>
          </a:xfrm>
          <a:prstGeom prst="roundRect">
            <a:avLst>
              <a:gd name="adj" fmla="val 50000"/>
            </a:avLst>
          </a:prstGeom>
          <a:solidFill>
            <a:schemeClr val="bg1"/>
          </a:solidFill>
          <a:ln w="9525">
            <a:solidFill>
              <a:schemeClr val="accent5"/>
            </a:solidFill>
            <a:prstDash val="solid"/>
          </a:ln>
        </p:spPr>
      </p:sp>
      <p:sp>
        <p:nvSpPr>
          <p:cNvPr id="22" name="Text 18"/>
          <p:cNvSpPr txBox="1"/>
          <p:nvPr/>
        </p:nvSpPr>
        <p:spPr>
          <a:xfrm>
            <a:off x="2980030" y="4617720"/>
            <a:ext cx="1836115" cy="274320"/>
          </a:xfrm>
          <a:prstGeom prst="rect">
            <a:avLst/>
          </a:prstGeom>
          <a:noFill/>
          <a:ln/>
        </p:spPr>
        <p:txBody>
          <a:bodyPr wrap="square" lIns="0" tIns="0" rIns="0" bIns="0" rtlCol="0" anchor="ctr"/>
          <a:lstStyle/>
          <a:p>
            <a:pPr algn="ctr" indent="0" marL="0">
              <a:buNone/>
            </a:pPr>
            <a:r>
              <a:rPr lang="en-US" sz="1000" dirty="0">
                <a:solidFill>
                  <a:schemeClr val="accent6"/>
                </a:solidFill>
              </a:rPr>
              <a:t>Surface-analysis reports</a:t>
            </a:r>
            <a:endParaRPr lang="en-US" sz="1000" dirty="0"/>
          </a:p>
        </p:txBody>
      </p:sp>
      <p:sp>
        <p:nvSpPr>
          <p:cNvPr id="23" name="Shape 19"/>
          <p:cNvSpPr/>
          <p:nvPr/>
        </p:nvSpPr>
        <p:spPr>
          <a:xfrm>
            <a:off x="609905" y="4965192"/>
            <a:ext cx="1441094" cy="274320"/>
          </a:xfrm>
          <a:prstGeom prst="roundRect">
            <a:avLst>
              <a:gd name="adj" fmla="val 50000"/>
            </a:avLst>
          </a:prstGeom>
          <a:solidFill>
            <a:schemeClr val="bg1"/>
          </a:solidFill>
          <a:ln w="9525">
            <a:solidFill>
              <a:schemeClr val="accent5"/>
            </a:solidFill>
            <a:prstDash val="solid"/>
          </a:ln>
        </p:spPr>
      </p:sp>
      <p:sp>
        <p:nvSpPr>
          <p:cNvPr id="24" name="Text 20"/>
          <p:cNvSpPr txBox="1"/>
          <p:nvPr/>
        </p:nvSpPr>
        <p:spPr>
          <a:xfrm>
            <a:off x="609905" y="4965192"/>
            <a:ext cx="1441094" cy="274320"/>
          </a:xfrm>
          <a:prstGeom prst="rect">
            <a:avLst/>
          </a:prstGeom>
          <a:noFill/>
          <a:ln/>
        </p:spPr>
        <p:txBody>
          <a:bodyPr wrap="square" lIns="0" tIns="0" rIns="0" bIns="0" rtlCol="0" anchor="ctr"/>
          <a:lstStyle/>
          <a:p>
            <a:pPr algn="ctr" indent="0" marL="0">
              <a:buNone/>
            </a:pPr>
            <a:r>
              <a:rPr lang="en-US" sz="1000" dirty="0">
                <a:solidFill>
                  <a:schemeClr val="accent6"/>
                </a:solidFill>
              </a:rPr>
              <a:t>Render-ready model</a:t>
            </a:r>
            <a:endParaRPr lang="en-US" sz="1000" dirty="0"/>
          </a:p>
        </p:txBody>
      </p:sp>
      <p:sp>
        <p:nvSpPr>
          <p:cNvPr id="25" name="Text 21"/>
          <p:cNvSpPr txBox="1"/>
          <p:nvPr/>
        </p:nvSpPr>
        <p:spPr>
          <a:xfrm>
            <a:off x="609905" y="5367528"/>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INDUSTRIES</a:t>
            </a:r>
            <a:endParaRPr lang="en-US" sz="900" dirty="0"/>
          </a:p>
        </p:txBody>
      </p:sp>
      <p:sp>
        <p:nvSpPr>
          <p:cNvPr id="26" name="Shape 22"/>
          <p:cNvSpPr/>
          <p:nvPr/>
        </p:nvSpPr>
        <p:spPr>
          <a:xfrm>
            <a:off x="609905" y="5596128"/>
            <a:ext cx="914400" cy="274320"/>
          </a:xfrm>
          <a:prstGeom prst="roundRect">
            <a:avLst>
              <a:gd name="adj" fmla="val 50000"/>
            </a:avLst>
          </a:prstGeom>
          <a:solidFill>
            <a:schemeClr val="bg2"/>
          </a:solidFill>
          <a:ln w="9525">
            <a:solidFill>
              <a:schemeClr val="accent2"/>
            </a:solidFill>
            <a:prstDash val="solid"/>
          </a:ln>
        </p:spPr>
      </p:sp>
      <p:sp>
        <p:nvSpPr>
          <p:cNvPr id="27" name="Text 23"/>
          <p:cNvSpPr txBox="1"/>
          <p:nvPr/>
        </p:nvSpPr>
        <p:spPr>
          <a:xfrm>
            <a:off x="609905" y="5596128"/>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Automobile</a:t>
            </a:r>
            <a:endParaRPr lang="en-US" sz="1000" dirty="0"/>
          </a:p>
        </p:txBody>
      </p:sp>
      <p:sp>
        <p:nvSpPr>
          <p:cNvPr id="28" name="Shape 24"/>
          <p:cNvSpPr/>
          <p:nvPr/>
        </p:nvSpPr>
        <p:spPr>
          <a:xfrm>
            <a:off x="1597457" y="5596128"/>
            <a:ext cx="848563" cy="274320"/>
          </a:xfrm>
          <a:prstGeom prst="roundRect">
            <a:avLst>
              <a:gd name="adj" fmla="val 50000"/>
            </a:avLst>
          </a:prstGeom>
          <a:solidFill>
            <a:schemeClr val="bg2"/>
          </a:solidFill>
          <a:ln w="9525">
            <a:solidFill>
              <a:schemeClr val="accent2"/>
            </a:solidFill>
            <a:prstDash val="solid"/>
          </a:ln>
        </p:spPr>
      </p:sp>
      <p:sp>
        <p:nvSpPr>
          <p:cNvPr id="29" name="Text 25"/>
          <p:cNvSpPr txBox="1"/>
          <p:nvPr/>
        </p:nvSpPr>
        <p:spPr>
          <a:xfrm>
            <a:off x="1597457" y="5596128"/>
            <a:ext cx="848563" cy="274320"/>
          </a:xfrm>
          <a:prstGeom prst="rect">
            <a:avLst/>
          </a:prstGeom>
          <a:noFill/>
          <a:ln/>
        </p:spPr>
        <p:txBody>
          <a:bodyPr wrap="square" lIns="0" tIns="0" rIns="0" bIns="0" rtlCol="0" anchor="ctr"/>
          <a:lstStyle/>
          <a:p>
            <a:pPr algn="ctr" indent="0" marL="0">
              <a:buNone/>
            </a:pPr>
            <a:r>
              <a:rPr lang="en-US" sz="1000" dirty="0">
                <a:solidFill>
                  <a:schemeClr val="accent3"/>
                </a:solidFill>
              </a:rPr>
              <a:t>Aerospace</a:t>
            </a:r>
            <a:endParaRPr lang="en-US" sz="10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806440" y="548640"/>
            <a:ext cx="576072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( 02.5 ) — SERVICES</a:t>
            </a:r>
            <a:endParaRPr lang="en-US" sz="1000" dirty="0"/>
          </a:p>
        </p:txBody>
      </p:sp>
      <p:sp>
        <p:nvSpPr>
          <p:cNvPr id="3" name="Text 1"/>
          <p:cNvSpPr/>
          <p:nvPr>
            <p:ph idx="103" type="title" hasCustomPrompt="1"/>
          </p:nvPr>
        </p:nvSpPr>
        <p:spPr>
          <a:xfrm>
            <a:off x="5806440" y="822960"/>
            <a:ext cx="5760720" cy="64008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Digital Metrology</a:t>
            </a:r>
            <a:endParaRPr lang="en-US" sz="3200" dirty="0"/>
          </a:p>
        </p:txBody>
      </p:sp>
      <p:pic>
        <p:nvPicPr>
          <p:cNvPr id="5" name="Digital Metrology" descr="C:\Users\ADMIN\Desktop\TEMP\VSHARK_Website\collateral\assets\3d-digital-inspection-deviation-colour-map-of-a-cast-transmission-housing-4x3.jpg">    </p:cNvPr>
          <p:cNvPicPr>
            <a:picLocks noChangeAspect="1"/>
          </p:cNvPicPr>
          <p:nvPr/>
        </p:nvPicPr>
        <p:blipFill>
          <a:blip r:embed="rId1"/>
          <a:srcRect l="0" r="0" t="0" b="0"/>
          <a:stretch/>
        </p:blipFill>
        <p:spPr>
          <a:xfrm>
            <a:off x="609905" y="548640"/>
            <a:ext cx="4846320" cy="3634740"/>
          </a:xfrm>
          <a:prstGeom prst="rect">
            <a:avLst/>
          </a:prstGeom>
        </p:spPr>
      </p:pic>
      <p:sp>
        <p:nvSpPr>
          <p:cNvPr id="6" name="Shape 2"/>
          <p:cNvSpPr/>
          <p:nvPr/>
        </p:nvSpPr>
        <p:spPr>
          <a:xfrm>
            <a:off x="774497" y="3813048"/>
            <a:ext cx="1211580" cy="237744"/>
          </a:xfrm>
          <a:prstGeom prst="rect">
            <a:avLst/>
          </a:prstGeom>
          <a:solidFill>
            <a:schemeClr val="tx2">
              <a:alpha val="85000"/>
            </a:schemeClr>
          </a:solidFill>
          <a:ln/>
        </p:spPr>
      </p:sp>
      <p:sp>
        <p:nvSpPr>
          <p:cNvPr id="7" name="Text 3"/>
          <p:cNvSpPr txBox="1"/>
          <p:nvPr/>
        </p:nvSpPr>
        <p:spPr>
          <a:xfrm>
            <a:off x="774497" y="3813048"/>
            <a:ext cx="121158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SERVICE 05 / 07</a:t>
            </a:r>
            <a:endParaRPr lang="en-US" sz="900" dirty="0"/>
          </a:p>
        </p:txBody>
      </p:sp>
      <p:sp>
        <p:nvSpPr>
          <p:cNvPr id="8" name="Text 4"/>
          <p:cNvSpPr txBox="1"/>
          <p:nvPr/>
        </p:nvSpPr>
        <p:spPr>
          <a:xfrm>
            <a:off x="5806440" y="1463040"/>
            <a:ext cx="5760720" cy="502920"/>
          </a:xfrm>
          <a:prstGeom prst="rect">
            <a:avLst/>
          </a:prstGeom>
          <a:noFill/>
          <a:ln/>
        </p:spPr>
        <p:txBody>
          <a:bodyPr wrap="square" lIns="0" tIns="0" rIns="0" bIns="0" rtlCol="0" anchor="t"/>
          <a:lstStyle/>
          <a:p>
            <a:pPr indent="0" marL="0">
              <a:buNone/>
            </a:pPr>
            <a:r>
              <a:rPr lang="en-US" sz="1400" dirty="0">
                <a:solidFill>
                  <a:schemeClr val="accent1"/>
                </a:solidFill>
                <a:latin typeface="Century Gothic" pitchFamily="34" charset="0"/>
                <a:ea typeface="Century Gothic" pitchFamily="34" charset="-122"/>
                <a:cs typeface="Century Gothic" pitchFamily="34" charset="-120"/>
              </a:rPr>
              <a:t>Compare manufactured parts to their CAD — to the micron.</a:t>
            </a:r>
            <a:endParaRPr lang="en-US" sz="1400" dirty="0"/>
          </a:p>
        </p:txBody>
      </p:sp>
      <p:sp>
        <p:nvSpPr>
          <p:cNvPr id="9" name="Text 5"/>
          <p:cNvSpPr txBox="1"/>
          <p:nvPr/>
        </p:nvSpPr>
        <p:spPr>
          <a:xfrm>
            <a:off x="5806440" y="2057400"/>
            <a:ext cx="5760720" cy="1005840"/>
          </a:xfrm>
          <a:prstGeom prst="rect">
            <a:avLst/>
          </a:prstGeom>
          <a:noFill/>
          <a:ln/>
        </p:spPr>
        <p:txBody>
          <a:bodyPr wrap="square" lIns="0" tIns="0" rIns="0" bIns="0" rtlCol="0" anchor="t"/>
          <a:lstStyle/>
          <a:p>
            <a:pPr indent="0" marL="0">
              <a:lnSpc>
                <a:spcPct val="110000"/>
              </a:lnSpc>
              <a:buNone/>
            </a:pPr>
            <a:r>
              <a:rPr lang="en-US" sz="1200" dirty="0">
                <a:solidFill>
                  <a:schemeClr val="accent6"/>
                </a:solidFill>
              </a:rPr>
              <a:t>We inspect manufactured parts by scanning them and comparing the result against the nominal CAD. Colour deviation maps, GD&amp;T checks and first-article reports show exactly where a part is in or out of tolerance — fast, and without contact.</a:t>
            </a:r>
            <a:endParaRPr lang="en-US" sz="1200" dirty="0"/>
          </a:p>
        </p:txBody>
      </p:sp>
      <p:sp>
        <p:nvSpPr>
          <p:cNvPr id="10" name="Text 6"/>
          <p:cNvSpPr txBox="1"/>
          <p:nvPr/>
        </p:nvSpPr>
        <p:spPr>
          <a:xfrm>
            <a:off x="580644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Colour deviation maps</a:t>
            </a:r>
            <a:endParaRPr lang="en-US" sz="1250" dirty="0"/>
          </a:p>
        </p:txBody>
      </p:sp>
      <p:sp>
        <p:nvSpPr>
          <p:cNvPr id="11" name="Text 7"/>
          <p:cNvSpPr txBox="1"/>
          <p:nvPr/>
        </p:nvSpPr>
        <p:spPr>
          <a:xfrm>
            <a:off x="580644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Full-surface comparison against CAD, instantly showing where material is over or under.</a:t>
            </a:r>
            <a:endParaRPr lang="en-US" sz="1050" dirty="0"/>
          </a:p>
        </p:txBody>
      </p:sp>
      <p:sp>
        <p:nvSpPr>
          <p:cNvPr id="12" name="Text 8"/>
          <p:cNvSpPr txBox="1"/>
          <p:nvPr/>
        </p:nvSpPr>
        <p:spPr>
          <a:xfrm>
            <a:off x="873252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GD&amp;T inspection</a:t>
            </a:r>
            <a:endParaRPr lang="en-US" sz="1250" dirty="0"/>
          </a:p>
        </p:txBody>
      </p:sp>
      <p:sp>
        <p:nvSpPr>
          <p:cNvPr id="13" name="Text 9"/>
          <p:cNvSpPr txBox="1"/>
          <p:nvPr/>
        </p:nvSpPr>
        <p:spPr>
          <a:xfrm>
            <a:off x="873252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Flatness, position, profile and more, measured and reported against the drawing.</a:t>
            </a:r>
            <a:endParaRPr lang="en-US" sz="1050" dirty="0"/>
          </a:p>
        </p:txBody>
      </p:sp>
      <p:sp>
        <p:nvSpPr>
          <p:cNvPr id="14" name="Text 10"/>
          <p:cNvSpPr txBox="1"/>
          <p:nvPr/>
        </p:nvSpPr>
        <p:spPr>
          <a:xfrm>
            <a:off x="580644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First-article inspection</a:t>
            </a:r>
            <a:endParaRPr lang="en-US" sz="1250" dirty="0"/>
          </a:p>
        </p:txBody>
      </p:sp>
      <p:sp>
        <p:nvSpPr>
          <p:cNvPr id="15" name="Text 11"/>
          <p:cNvSpPr txBox="1"/>
          <p:nvPr/>
        </p:nvSpPr>
        <p:spPr>
          <a:xfrm>
            <a:off x="580644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Complete FAI reports for new parts, tools and suppliers.</a:t>
            </a:r>
            <a:endParaRPr lang="en-US" sz="1050" dirty="0"/>
          </a:p>
        </p:txBody>
      </p:sp>
      <p:sp>
        <p:nvSpPr>
          <p:cNvPr id="16" name="Text 12"/>
          <p:cNvSpPr txBox="1"/>
          <p:nvPr/>
        </p:nvSpPr>
        <p:spPr>
          <a:xfrm>
            <a:off x="873252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Trend analysis</a:t>
            </a:r>
            <a:endParaRPr lang="en-US" sz="1250" dirty="0"/>
          </a:p>
        </p:txBody>
      </p:sp>
      <p:sp>
        <p:nvSpPr>
          <p:cNvPr id="17" name="Text 13"/>
          <p:cNvSpPr txBox="1"/>
          <p:nvPr/>
        </p:nvSpPr>
        <p:spPr>
          <a:xfrm>
            <a:off x="873252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Repeated inspections track tool wear and process drift over time.</a:t>
            </a:r>
            <a:endParaRPr lang="en-US" sz="1050" dirty="0"/>
          </a:p>
        </p:txBody>
      </p:sp>
      <p:sp>
        <p:nvSpPr>
          <p:cNvPr id="18" name="Text 14"/>
          <p:cNvSpPr txBox="1"/>
          <p:nvPr/>
        </p:nvSpPr>
        <p:spPr>
          <a:xfrm>
            <a:off x="609905" y="4389120"/>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DELIVERABLES</a:t>
            </a:r>
            <a:endParaRPr lang="en-US" sz="900" dirty="0"/>
          </a:p>
        </p:txBody>
      </p:sp>
      <p:sp>
        <p:nvSpPr>
          <p:cNvPr id="19" name="Shape 15"/>
          <p:cNvSpPr/>
          <p:nvPr/>
        </p:nvSpPr>
        <p:spPr>
          <a:xfrm>
            <a:off x="609905" y="4617720"/>
            <a:ext cx="1836115" cy="274320"/>
          </a:xfrm>
          <a:prstGeom prst="roundRect">
            <a:avLst>
              <a:gd name="adj" fmla="val 50000"/>
            </a:avLst>
          </a:prstGeom>
          <a:solidFill>
            <a:schemeClr val="bg1"/>
          </a:solidFill>
          <a:ln w="9525">
            <a:solidFill>
              <a:schemeClr val="accent5"/>
            </a:solidFill>
            <a:prstDash val="solid"/>
          </a:ln>
        </p:spPr>
      </p:sp>
      <p:sp>
        <p:nvSpPr>
          <p:cNvPr id="20" name="Text 16"/>
          <p:cNvSpPr txBox="1"/>
          <p:nvPr/>
        </p:nvSpPr>
        <p:spPr>
          <a:xfrm>
            <a:off x="609905" y="4617720"/>
            <a:ext cx="1836115" cy="274320"/>
          </a:xfrm>
          <a:prstGeom prst="rect">
            <a:avLst/>
          </a:prstGeom>
          <a:noFill/>
          <a:ln/>
        </p:spPr>
        <p:txBody>
          <a:bodyPr wrap="square" lIns="0" tIns="0" rIns="0" bIns="0" rtlCol="0" anchor="ctr"/>
          <a:lstStyle/>
          <a:p>
            <a:pPr algn="ctr" indent="0" marL="0">
              <a:buNone/>
            </a:pPr>
            <a:r>
              <a:rPr lang="en-US" sz="1000" dirty="0">
                <a:solidFill>
                  <a:schemeClr val="accent6"/>
                </a:solidFill>
              </a:rPr>
              <a:t>Inspection report (.PDF)</a:t>
            </a:r>
            <a:endParaRPr lang="en-US" sz="1000" dirty="0"/>
          </a:p>
        </p:txBody>
      </p:sp>
      <p:sp>
        <p:nvSpPr>
          <p:cNvPr id="21" name="Shape 17"/>
          <p:cNvSpPr/>
          <p:nvPr/>
        </p:nvSpPr>
        <p:spPr>
          <a:xfrm>
            <a:off x="2519172" y="4617720"/>
            <a:ext cx="1638605" cy="274320"/>
          </a:xfrm>
          <a:prstGeom prst="roundRect">
            <a:avLst>
              <a:gd name="adj" fmla="val 50000"/>
            </a:avLst>
          </a:prstGeom>
          <a:solidFill>
            <a:schemeClr val="bg1"/>
          </a:solidFill>
          <a:ln w="9525">
            <a:solidFill>
              <a:schemeClr val="accent5"/>
            </a:solidFill>
            <a:prstDash val="solid"/>
          </a:ln>
        </p:spPr>
      </p:sp>
      <p:sp>
        <p:nvSpPr>
          <p:cNvPr id="22" name="Text 18"/>
          <p:cNvSpPr txBox="1"/>
          <p:nvPr/>
        </p:nvSpPr>
        <p:spPr>
          <a:xfrm>
            <a:off x="2519172" y="4617720"/>
            <a:ext cx="1638605" cy="274320"/>
          </a:xfrm>
          <a:prstGeom prst="rect">
            <a:avLst/>
          </a:prstGeom>
          <a:noFill/>
          <a:ln/>
        </p:spPr>
        <p:txBody>
          <a:bodyPr wrap="square" lIns="0" tIns="0" rIns="0" bIns="0" rtlCol="0" anchor="ctr"/>
          <a:lstStyle/>
          <a:p>
            <a:pPr algn="ctr" indent="0" marL="0">
              <a:buNone/>
            </a:pPr>
            <a:r>
              <a:rPr lang="en-US" sz="1000" dirty="0">
                <a:solidFill>
                  <a:schemeClr val="accent6"/>
                </a:solidFill>
              </a:rPr>
              <a:t>Colour deviation maps</a:t>
            </a:r>
            <a:endParaRPr lang="en-US" sz="1000" dirty="0"/>
          </a:p>
        </p:txBody>
      </p:sp>
      <p:sp>
        <p:nvSpPr>
          <p:cNvPr id="23" name="Shape 19"/>
          <p:cNvSpPr/>
          <p:nvPr/>
        </p:nvSpPr>
        <p:spPr>
          <a:xfrm>
            <a:off x="609905" y="4965192"/>
            <a:ext cx="1506931" cy="274320"/>
          </a:xfrm>
          <a:prstGeom prst="roundRect">
            <a:avLst>
              <a:gd name="adj" fmla="val 50000"/>
            </a:avLst>
          </a:prstGeom>
          <a:solidFill>
            <a:schemeClr val="bg1"/>
          </a:solidFill>
          <a:ln w="9525">
            <a:solidFill>
              <a:schemeClr val="accent5"/>
            </a:solidFill>
            <a:prstDash val="solid"/>
          </a:ln>
        </p:spPr>
      </p:sp>
      <p:sp>
        <p:nvSpPr>
          <p:cNvPr id="24" name="Text 20"/>
          <p:cNvSpPr txBox="1"/>
          <p:nvPr/>
        </p:nvSpPr>
        <p:spPr>
          <a:xfrm>
            <a:off x="609905" y="4965192"/>
            <a:ext cx="1506931" cy="274320"/>
          </a:xfrm>
          <a:prstGeom prst="rect">
            <a:avLst/>
          </a:prstGeom>
          <a:noFill/>
          <a:ln/>
        </p:spPr>
        <p:txBody>
          <a:bodyPr wrap="square" lIns="0" tIns="0" rIns="0" bIns="0" rtlCol="0" anchor="ctr"/>
          <a:lstStyle/>
          <a:p>
            <a:pPr algn="ctr" indent="0" marL="0">
              <a:buNone/>
            </a:pPr>
            <a:r>
              <a:rPr lang="en-US" sz="1000" dirty="0">
                <a:solidFill>
                  <a:schemeClr val="accent6"/>
                </a:solidFill>
              </a:rPr>
              <a:t>GD&amp;T results tables</a:t>
            </a:r>
            <a:endParaRPr lang="en-US" sz="1000" dirty="0"/>
          </a:p>
        </p:txBody>
      </p:sp>
      <p:sp>
        <p:nvSpPr>
          <p:cNvPr id="25" name="Shape 21"/>
          <p:cNvSpPr/>
          <p:nvPr/>
        </p:nvSpPr>
        <p:spPr>
          <a:xfrm>
            <a:off x="2189988" y="4965192"/>
            <a:ext cx="1638605" cy="274320"/>
          </a:xfrm>
          <a:prstGeom prst="roundRect">
            <a:avLst>
              <a:gd name="adj" fmla="val 50000"/>
            </a:avLst>
          </a:prstGeom>
          <a:solidFill>
            <a:schemeClr val="bg1"/>
          </a:solidFill>
          <a:ln w="9525">
            <a:solidFill>
              <a:schemeClr val="accent5"/>
            </a:solidFill>
            <a:prstDash val="solid"/>
          </a:ln>
        </p:spPr>
      </p:sp>
      <p:sp>
        <p:nvSpPr>
          <p:cNvPr id="26" name="Text 22"/>
          <p:cNvSpPr txBox="1"/>
          <p:nvPr/>
        </p:nvSpPr>
        <p:spPr>
          <a:xfrm>
            <a:off x="2189988" y="4965192"/>
            <a:ext cx="1638605" cy="274320"/>
          </a:xfrm>
          <a:prstGeom prst="rect">
            <a:avLst/>
          </a:prstGeom>
          <a:noFill/>
          <a:ln/>
        </p:spPr>
        <p:txBody>
          <a:bodyPr wrap="square" lIns="0" tIns="0" rIns="0" bIns="0" rtlCol="0" anchor="ctr"/>
          <a:lstStyle/>
          <a:p>
            <a:pPr algn="ctr" indent="0" marL="0">
              <a:buNone/>
            </a:pPr>
            <a:r>
              <a:rPr lang="en-US" sz="1000" dirty="0">
                <a:solidFill>
                  <a:schemeClr val="accent6"/>
                </a:solidFill>
              </a:rPr>
              <a:t>Scan data for records</a:t>
            </a:r>
            <a:endParaRPr lang="en-US" sz="1000" dirty="0"/>
          </a:p>
        </p:txBody>
      </p:sp>
      <p:sp>
        <p:nvSpPr>
          <p:cNvPr id="27" name="Text 23"/>
          <p:cNvSpPr txBox="1"/>
          <p:nvPr/>
        </p:nvSpPr>
        <p:spPr>
          <a:xfrm>
            <a:off x="609905" y="5367528"/>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INDUSTRIES</a:t>
            </a:r>
            <a:endParaRPr lang="en-US" sz="900" dirty="0"/>
          </a:p>
        </p:txBody>
      </p:sp>
      <p:sp>
        <p:nvSpPr>
          <p:cNvPr id="28" name="Shape 24"/>
          <p:cNvSpPr/>
          <p:nvPr/>
        </p:nvSpPr>
        <p:spPr>
          <a:xfrm>
            <a:off x="609905" y="5596128"/>
            <a:ext cx="848563" cy="274320"/>
          </a:xfrm>
          <a:prstGeom prst="roundRect">
            <a:avLst>
              <a:gd name="adj" fmla="val 50000"/>
            </a:avLst>
          </a:prstGeom>
          <a:solidFill>
            <a:schemeClr val="bg2"/>
          </a:solidFill>
          <a:ln w="9525">
            <a:solidFill>
              <a:schemeClr val="accent2"/>
            </a:solidFill>
            <a:prstDash val="solid"/>
          </a:ln>
        </p:spPr>
      </p:sp>
      <p:sp>
        <p:nvSpPr>
          <p:cNvPr id="29" name="Text 25"/>
          <p:cNvSpPr txBox="1"/>
          <p:nvPr/>
        </p:nvSpPr>
        <p:spPr>
          <a:xfrm>
            <a:off x="609905" y="5596128"/>
            <a:ext cx="848563" cy="274320"/>
          </a:xfrm>
          <a:prstGeom prst="rect">
            <a:avLst/>
          </a:prstGeom>
          <a:noFill/>
          <a:ln/>
        </p:spPr>
        <p:txBody>
          <a:bodyPr wrap="square" lIns="0" tIns="0" rIns="0" bIns="0" rtlCol="0" anchor="ctr"/>
          <a:lstStyle/>
          <a:p>
            <a:pPr algn="ctr" indent="0" marL="0">
              <a:buNone/>
            </a:pPr>
            <a:r>
              <a:rPr lang="en-US" sz="1000" dirty="0">
                <a:solidFill>
                  <a:schemeClr val="accent3"/>
                </a:solidFill>
              </a:rPr>
              <a:t>Aerospace</a:t>
            </a:r>
            <a:endParaRPr lang="en-US" sz="1000" dirty="0"/>
          </a:p>
        </p:txBody>
      </p:sp>
      <p:sp>
        <p:nvSpPr>
          <p:cNvPr id="30" name="Shape 26"/>
          <p:cNvSpPr/>
          <p:nvPr/>
        </p:nvSpPr>
        <p:spPr>
          <a:xfrm>
            <a:off x="1531620" y="5596128"/>
            <a:ext cx="914400" cy="274320"/>
          </a:xfrm>
          <a:prstGeom prst="roundRect">
            <a:avLst>
              <a:gd name="adj" fmla="val 50000"/>
            </a:avLst>
          </a:prstGeom>
          <a:solidFill>
            <a:schemeClr val="bg2"/>
          </a:solidFill>
          <a:ln w="9525">
            <a:solidFill>
              <a:schemeClr val="accent2"/>
            </a:solidFill>
            <a:prstDash val="solid"/>
          </a:ln>
        </p:spPr>
      </p:sp>
      <p:sp>
        <p:nvSpPr>
          <p:cNvPr id="31" name="Text 27"/>
          <p:cNvSpPr txBox="1"/>
          <p:nvPr/>
        </p:nvSpPr>
        <p:spPr>
          <a:xfrm>
            <a:off x="1531620" y="5596128"/>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Automobile</a:t>
            </a:r>
            <a:endParaRPr lang="en-US" sz="1000" dirty="0"/>
          </a:p>
        </p:txBody>
      </p:sp>
      <p:sp>
        <p:nvSpPr>
          <p:cNvPr id="32" name="Shape 28"/>
          <p:cNvSpPr/>
          <p:nvPr/>
        </p:nvSpPr>
        <p:spPr>
          <a:xfrm>
            <a:off x="2519172" y="5596128"/>
            <a:ext cx="914400" cy="274320"/>
          </a:xfrm>
          <a:prstGeom prst="roundRect">
            <a:avLst>
              <a:gd name="adj" fmla="val 50000"/>
            </a:avLst>
          </a:prstGeom>
          <a:solidFill>
            <a:schemeClr val="bg2"/>
          </a:solidFill>
          <a:ln w="9525">
            <a:solidFill>
              <a:schemeClr val="accent2"/>
            </a:solidFill>
            <a:prstDash val="solid"/>
          </a:ln>
        </p:spPr>
      </p:sp>
      <p:sp>
        <p:nvSpPr>
          <p:cNvPr id="33" name="Text 29"/>
          <p:cNvSpPr txBox="1"/>
          <p:nvPr/>
        </p:nvSpPr>
        <p:spPr>
          <a:xfrm>
            <a:off x="2519172" y="5596128"/>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Healthcare</a:t>
            </a:r>
            <a:endParaRPr lang="en-US" sz="10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806440" y="548640"/>
            <a:ext cx="576072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( 02.6 ) — SERVICES</a:t>
            </a:r>
            <a:endParaRPr lang="en-US" sz="1000" dirty="0"/>
          </a:p>
        </p:txBody>
      </p:sp>
      <p:sp>
        <p:nvSpPr>
          <p:cNvPr id="3" name="Text 1"/>
          <p:cNvSpPr/>
          <p:nvPr>
            <p:ph idx="103" type="title" hasCustomPrompt="1"/>
          </p:nvPr>
        </p:nvSpPr>
        <p:spPr>
          <a:xfrm>
            <a:off x="5806440" y="822960"/>
            <a:ext cx="5760720" cy="64008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3D Printing</a:t>
            </a:r>
            <a:endParaRPr lang="en-US" sz="3200" dirty="0"/>
          </a:p>
        </p:txBody>
      </p:sp>
      <p:pic>
        <p:nvPicPr>
          <p:cNvPr id="5" name="3D Printing" descr="C:\Users\ADMIN\Desktop\TEMP\VSHARK_Website\collateral\assets\resin-3d-printed-prototype-of-an-engine-crankcase-beside-the-original-casting-4x3.jpg">    </p:cNvPr>
          <p:cNvPicPr>
            <a:picLocks noChangeAspect="1"/>
          </p:cNvPicPr>
          <p:nvPr/>
        </p:nvPicPr>
        <p:blipFill>
          <a:blip r:embed="rId1"/>
          <a:srcRect l="0" r="0" t="0" b="0"/>
          <a:stretch/>
        </p:blipFill>
        <p:spPr>
          <a:xfrm>
            <a:off x="609905" y="548640"/>
            <a:ext cx="4846320" cy="3634740"/>
          </a:xfrm>
          <a:prstGeom prst="rect">
            <a:avLst/>
          </a:prstGeom>
        </p:spPr>
      </p:pic>
      <p:sp>
        <p:nvSpPr>
          <p:cNvPr id="6" name="Shape 2"/>
          <p:cNvSpPr/>
          <p:nvPr/>
        </p:nvSpPr>
        <p:spPr>
          <a:xfrm>
            <a:off x="774497" y="3813048"/>
            <a:ext cx="1211580" cy="237744"/>
          </a:xfrm>
          <a:prstGeom prst="rect">
            <a:avLst/>
          </a:prstGeom>
          <a:solidFill>
            <a:schemeClr val="tx2">
              <a:alpha val="85000"/>
            </a:schemeClr>
          </a:solidFill>
          <a:ln/>
        </p:spPr>
      </p:sp>
      <p:sp>
        <p:nvSpPr>
          <p:cNvPr id="7" name="Text 3"/>
          <p:cNvSpPr txBox="1"/>
          <p:nvPr/>
        </p:nvSpPr>
        <p:spPr>
          <a:xfrm>
            <a:off x="774497" y="3813048"/>
            <a:ext cx="121158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SERVICE 06 / 07</a:t>
            </a:r>
            <a:endParaRPr lang="en-US" sz="900" dirty="0"/>
          </a:p>
        </p:txBody>
      </p:sp>
      <p:sp>
        <p:nvSpPr>
          <p:cNvPr id="8" name="Text 4"/>
          <p:cNvSpPr txBox="1"/>
          <p:nvPr/>
        </p:nvSpPr>
        <p:spPr>
          <a:xfrm>
            <a:off x="5806440" y="1463040"/>
            <a:ext cx="5760720" cy="502920"/>
          </a:xfrm>
          <a:prstGeom prst="rect">
            <a:avLst/>
          </a:prstGeom>
          <a:noFill/>
          <a:ln/>
        </p:spPr>
        <p:txBody>
          <a:bodyPr wrap="square" lIns="0" tIns="0" rIns="0" bIns="0" rtlCol="0" anchor="t"/>
          <a:lstStyle/>
          <a:p>
            <a:pPr indent="0" marL="0">
              <a:buNone/>
            </a:pPr>
            <a:r>
              <a:rPr lang="en-US" sz="1400" dirty="0">
                <a:solidFill>
                  <a:schemeClr val="accent1"/>
                </a:solidFill>
                <a:latin typeface="Century Gothic" pitchFamily="34" charset="0"/>
                <a:ea typeface="Century Gothic" pitchFamily="34" charset="-122"/>
                <a:cs typeface="Century Gothic" pitchFamily="34" charset="-120"/>
              </a:rPr>
              <a:t>Rapid prototypes and functional parts, straight from your model.</a:t>
            </a:r>
            <a:endParaRPr lang="en-US" sz="1400" dirty="0"/>
          </a:p>
        </p:txBody>
      </p:sp>
      <p:sp>
        <p:nvSpPr>
          <p:cNvPr id="9" name="Text 5"/>
          <p:cNvSpPr txBox="1"/>
          <p:nvPr/>
        </p:nvSpPr>
        <p:spPr>
          <a:xfrm>
            <a:off x="5806440" y="2057400"/>
            <a:ext cx="5760720" cy="1005840"/>
          </a:xfrm>
          <a:prstGeom prst="rect">
            <a:avLst/>
          </a:prstGeom>
          <a:noFill/>
          <a:ln/>
        </p:spPr>
        <p:txBody>
          <a:bodyPr wrap="square" lIns="0" tIns="0" rIns="0" bIns="0" rtlCol="0" anchor="t"/>
          <a:lstStyle/>
          <a:p>
            <a:pPr indent="0" marL="0">
              <a:lnSpc>
                <a:spcPct val="110000"/>
              </a:lnSpc>
              <a:buNone/>
            </a:pPr>
            <a:r>
              <a:rPr lang="en-US" sz="1200" dirty="0">
                <a:solidFill>
                  <a:schemeClr val="accent6"/>
                </a:solidFill>
              </a:rPr>
              <a:t>We print prototypes, fit-check models, jigs, fixtures and short-run end-use parts directly from CAD or scan data. Our team also prepares and repairs files — including sculpted character models — so they print right the first time.</a:t>
            </a:r>
            <a:endParaRPr lang="en-US" sz="1200" dirty="0"/>
          </a:p>
        </p:txBody>
      </p:sp>
      <p:sp>
        <p:nvSpPr>
          <p:cNvPr id="10" name="Text 6"/>
          <p:cNvSpPr txBox="1"/>
          <p:nvPr/>
        </p:nvSpPr>
        <p:spPr>
          <a:xfrm>
            <a:off x="580644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Rapid prototyping</a:t>
            </a:r>
            <a:endParaRPr lang="en-US" sz="1250" dirty="0"/>
          </a:p>
        </p:txBody>
      </p:sp>
      <p:sp>
        <p:nvSpPr>
          <p:cNvPr id="11" name="Text 7"/>
          <p:cNvSpPr txBox="1"/>
          <p:nvPr/>
        </p:nvSpPr>
        <p:spPr>
          <a:xfrm>
            <a:off x="580644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Physical parts in days to check form, fit and function before tooling.</a:t>
            </a:r>
            <a:endParaRPr lang="en-US" sz="1050" dirty="0"/>
          </a:p>
        </p:txBody>
      </p:sp>
      <p:sp>
        <p:nvSpPr>
          <p:cNvPr id="12" name="Text 8"/>
          <p:cNvSpPr txBox="1"/>
          <p:nvPr/>
        </p:nvSpPr>
        <p:spPr>
          <a:xfrm>
            <a:off x="873252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FDM and SLA printing</a:t>
            </a:r>
            <a:endParaRPr lang="en-US" sz="1250" dirty="0"/>
          </a:p>
        </p:txBody>
      </p:sp>
      <p:sp>
        <p:nvSpPr>
          <p:cNvPr id="13" name="Text 9"/>
          <p:cNvSpPr txBox="1"/>
          <p:nvPr/>
        </p:nvSpPr>
        <p:spPr>
          <a:xfrm>
            <a:off x="873252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FDM engineering plastics for strong parts, SLA resins for fine detail.</a:t>
            </a:r>
            <a:endParaRPr lang="en-US" sz="1050" dirty="0"/>
          </a:p>
        </p:txBody>
      </p:sp>
      <p:sp>
        <p:nvSpPr>
          <p:cNvPr id="14" name="Text 10"/>
          <p:cNvSpPr txBox="1"/>
          <p:nvPr/>
        </p:nvSpPr>
        <p:spPr>
          <a:xfrm>
            <a:off x="580644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Print-ready preparation</a:t>
            </a:r>
            <a:endParaRPr lang="en-US" sz="1250" dirty="0"/>
          </a:p>
        </p:txBody>
      </p:sp>
      <p:sp>
        <p:nvSpPr>
          <p:cNvPr id="15" name="Text 11"/>
          <p:cNvSpPr txBox="1"/>
          <p:nvPr/>
        </p:nvSpPr>
        <p:spPr>
          <a:xfrm>
            <a:off x="580644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Mesh repair, hollowing, supports and orientation handled for you.</a:t>
            </a:r>
            <a:endParaRPr lang="en-US" sz="1050" dirty="0"/>
          </a:p>
        </p:txBody>
      </p:sp>
      <p:sp>
        <p:nvSpPr>
          <p:cNvPr id="16" name="Text 12"/>
          <p:cNvSpPr txBox="1"/>
          <p:nvPr/>
        </p:nvSpPr>
        <p:spPr>
          <a:xfrm>
            <a:off x="873252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Character &amp; figure models</a:t>
            </a:r>
            <a:endParaRPr lang="en-US" sz="1250" dirty="0"/>
          </a:p>
        </p:txBody>
      </p:sp>
      <p:sp>
        <p:nvSpPr>
          <p:cNvPr id="17" name="Text 13"/>
          <p:cNvSpPr txBox="1"/>
          <p:nvPr/>
        </p:nvSpPr>
        <p:spPr>
          <a:xfrm>
            <a:off x="873252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Digitally sculpted busts and figures prepared for high-detail resin printing.</a:t>
            </a:r>
            <a:endParaRPr lang="en-US" sz="1050" dirty="0"/>
          </a:p>
        </p:txBody>
      </p:sp>
      <p:sp>
        <p:nvSpPr>
          <p:cNvPr id="18" name="Text 14"/>
          <p:cNvSpPr txBox="1"/>
          <p:nvPr/>
        </p:nvSpPr>
        <p:spPr>
          <a:xfrm>
            <a:off x="609905" y="4389120"/>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DELIVERABLES</a:t>
            </a:r>
            <a:endParaRPr lang="en-US" sz="900" dirty="0"/>
          </a:p>
        </p:txBody>
      </p:sp>
      <p:sp>
        <p:nvSpPr>
          <p:cNvPr id="19" name="Shape 15"/>
          <p:cNvSpPr/>
          <p:nvPr/>
        </p:nvSpPr>
        <p:spPr>
          <a:xfrm>
            <a:off x="609905" y="4617720"/>
            <a:ext cx="1111910" cy="274320"/>
          </a:xfrm>
          <a:prstGeom prst="roundRect">
            <a:avLst>
              <a:gd name="adj" fmla="val 50000"/>
            </a:avLst>
          </a:prstGeom>
          <a:solidFill>
            <a:schemeClr val="bg1"/>
          </a:solidFill>
          <a:ln w="9525">
            <a:solidFill>
              <a:schemeClr val="accent5"/>
            </a:solidFill>
            <a:prstDash val="solid"/>
          </a:ln>
        </p:spPr>
      </p:sp>
      <p:sp>
        <p:nvSpPr>
          <p:cNvPr id="20" name="Text 16"/>
          <p:cNvSpPr txBox="1"/>
          <p:nvPr/>
        </p:nvSpPr>
        <p:spPr>
          <a:xfrm>
            <a:off x="609905" y="4617720"/>
            <a:ext cx="1111910" cy="274320"/>
          </a:xfrm>
          <a:prstGeom prst="rect">
            <a:avLst/>
          </a:prstGeom>
          <a:noFill/>
          <a:ln/>
        </p:spPr>
        <p:txBody>
          <a:bodyPr wrap="square" lIns="0" tIns="0" rIns="0" bIns="0" rtlCol="0" anchor="ctr"/>
          <a:lstStyle/>
          <a:p>
            <a:pPr algn="ctr" indent="0" marL="0">
              <a:buNone/>
            </a:pPr>
            <a:r>
              <a:rPr lang="en-US" sz="1000" dirty="0">
                <a:solidFill>
                  <a:schemeClr val="accent6"/>
                </a:solidFill>
              </a:rPr>
              <a:t>Printed parts</a:t>
            </a:r>
            <a:endParaRPr lang="en-US" sz="1000" dirty="0"/>
          </a:p>
        </p:txBody>
      </p:sp>
      <p:sp>
        <p:nvSpPr>
          <p:cNvPr id="21" name="Shape 17"/>
          <p:cNvSpPr/>
          <p:nvPr/>
        </p:nvSpPr>
        <p:spPr>
          <a:xfrm>
            <a:off x="1794967" y="4617720"/>
            <a:ext cx="2231136" cy="274320"/>
          </a:xfrm>
          <a:prstGeom prst="roundRect">
            <a:avLst>
              <a:gd name="adj" fmla="val 50000"/>
            </a:avLst>
          </a:prstGeom>
          <a:solidFill>
            <a:schemeClr val="bg1"/>
          </a:solidFill>
          <a:ln w="9525">
            <a:solidFill>
              <a:schemeClr val="accent5"/>
            </a:solidFill>
            <a:prstDash val="solid"/>
          </a:ln>
        </p:spPr>
      </p:sp>
      <p:sp>
        <p:nvSpPr>
          <p:cNvPr id="22" name="Text 18"/>
          <p:cNvSpPr txBox="1"/>
          <p:nvPr/>
        </p:nvSpPr>
        <p:spPr>
          <a:xfrm>
            <a:off x="1794967" y="4617720"/>
            <a:ext cx="2231136" cy="274320"/>
          </a:xfrm>
          <a:prstGeom prst="rect">
            <a:avLst/>
          </a:prstGeom>
          <a:noFill/>
          <a:ln/>
        </p:spPr>
        <p:txBody>
          <a:bodyPr wrap="square" lIns="0" tIns="0" rIns="0" bIns="0" rtlCol="0" anchor="ctr"/>
          <a:lstStyle/>
          <a:p>
            <a:pPr algn="ctr" indent="0" marL="0">
              <a:buNone/>
            </a:pPr>
            <a:r>
              <a:rPr lang="en-US" sz="1000" dirty="0">
                <a:solidFill>
                  <a:schemeClr val="accent6"/>
                </a:solidFill>
              </a:rPr>
              <a:t>Print-ready files (.STL, .3MF)</a:t>
            </a:r>
            <a:endParaRPr lang="en-US" sz="1000" dirty="0"/>
          </a:p>
        </p:txBody>
      </p:sp>
      <p:sp>
        <p:nvSpPr>
          <p:cNvPr id="23" name="Shape 19"/>
          <p:cNvSpPr/>
          <p:nvPr/>
        </p:nvSpPr>
        <p:spPr>
          <a:xfrm>
            <a:off x="609905" y="4965192"/>
            <a:ext cx="2296973" cy="274320"/>
          </a:xfrm>
          <a:prstGeom prst="roundRect">
            <a:avLst>
              <a:gd name="adj" fmla="val 50000"/>
            </a:avLst>
          </a:prstGeom>
          <a:solidFill>
            <a:schemeClr val="bg1"/>
          </a:solidFill>
          <a:ln w="9525">
            <a:solidFill>
              <a:schemeClr val="accent5"/>
            </a:solidFill>
            <a:prstDash val="solid"/>
          </a:ln>
        </p:spPr>
      </p:sp>
      <p:sp>
        <p:nvSpPr>
          <p:cNvPr id="24" name="Text 20"/>
          <p:cNvSpPr txBox="1"/>
          <p:nvPr/>
        </p:nvSpPr>
        <p:spPr>
          <a:xfrm>
            <a:off x="609905" y="4965192"/>
            <a:ext cx="2296973" cy="274320"/>
          </a:xfrm>
          <a:prstGeom prst="rect">
            <a:avLst/>
          </a:prstGeom>
          <a:noFill/>
          <a:ln/>
        </p:spPr>
        <p:txBody>
          <a:bodyPr wrap="square" lIns="0" tIns="0" rIns="0" bIns="0" rtlCol="0" anchor="ctr"/>
          <a:lstStyle/>
          <a:p>
            <a:pPr algn="ctr" indent="0" marL="0">
              <a:buNone/>
            </a:pPr>
            <a:r>
              <a:rPr lang="en-US" sz="1000" dirty="0">
                <a:solidFill>
                  <a:schemeClr val="accent6"/>
                </a:solidFill>
              </a:rPr>
              <a:t>Finishing / painting on request</a:t>
            </a:r>
            <a:endParaRPr lang="en-US" sz="1000" dirty="0"/>
          </a:p>
        </p:txBody>
      </p:sp>
      <p:sp>
        <p:nvSpPr>
          <p:cNvPr id="25" name="Shape 21"/>
          <p:cNvSpPr/>
          <p:nvPr/>
        </p:nvSpPr>
        <p:spPr>
          <a:xfrm>
            <a:off x="2980030" y="4965192"/>
            <a:ext cx="1836115" cy="274320"/>
          </a:xfrm>
          <a:prstGeom prst="roundRect">
            <a:avLst>
              <a:gd name="adj" fmla="val 50000"/>
            </a:avLst>
          </a:prstGeom>
          <a:solidFill>
            <a:schemeClr val="bg1"/>
          </a:solidFill>
          <a:ln w="9525">
            <a:solidFill>
              <a:schemeClr val="accent5"/>
            </a:solidFill>
            <a:prstDash val="solid"/>
          </a:ln>
        </p:spPr>
      </p:sp>
      <p:sp>
        <p:nvSpPr>
          <p:cNvPr id="26" name="Text 22"/>
          <p:cNvSpPr txBox="1"/>
          <p:nvPr/>
        </p:nvSpPr>
        <p:spPr>
          <a:xfrm>
            <a:off x="2980030" y="4965192"/>
            <a:ext cx="1836115" cy="274320"/>
          </a:xfrm>
          <a:prstGeom prst="rect">
            <a:avLst/>
          </a:prstGeom>
          <a:noFill/>
          <a:ln/>
        </p:spPr>
        <p:txBody>
          <a:bodyPr wrap="square" lIns="0" tIns="0" rIns="0" bIns="0" rtlCol="0" anchor="ctr"/>
          <a:lstStyle/>
          <a:p>
            <a:pPr algn="ctr" indent="0" marL="0">
              <a:buNone/>
            </a:pPr>
            <a:r>
              <a:rPr lang="en-US" sz="1000" dirty="0">
                <a:solidFill>
                  <a:schemeClr val="accent6"/>
                </a:solidFill>
              </a:rPr>
              <a:t>Small production batches</a:t>
            </a:r>
            <a:endParaRPr lang="en-US" sz="1000" dirty="0"/>
          </a:p>
        </p:txBody>
      </p:sp>
      <p:sp>
        <p:nvSpPr>
          <p:cNvPr id="27" name="Text 23"/>
          <p:cNvSpPr txBox="1"/>
          <p:nvPr/>
        </p:nvSpPr>
        <p:spPr>
          <a:xfrm>
            <a:off x="609905" y="5367528"/>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INDUSTRIES</a:t>
            </a:r>
            <a:endParaRPr lang="en-US" sz="900" dirty="0"/>
          </a:p>
        </p:txBody>
      </p:sp>
      <p:sp>
        <p:nvSpPr>
          <p:cNvPr id="28" name="Shape 24"/>
          <p:cNvSpPr/>
          <p:nvPr/>
        </p:nvSpPr>
        <p:spPr>
          <a:xfrm>
            <a:off x="609905" y="5596128"/>
            <a:ext cx="848563" cy="274320"/>
          </a:xfrm>
          <a:prstGeom prst="roundRect">
            <a:avLst>
              <a:gd name="adj" fmla="val 50000"/>
            </a:avLst>
          </a:prstGeom>
          <a:solidFill>
            <a:schemeClr val="bg2"/>
          </a:solidFill>
          <a:ln w="9525">
            <a:solidFill>
              <a:schemeClr val="accent2"/>
            </a:solidFill>
            <a:prstDash val="solid"/>
          </a:ln>
        </p:spPr>
      </p:sp>
      <p:sp>
        <p:nvSpPr>
          <p:cNvPr id="29" name="Text 25"/>
          <p:cNvSpPr txBox="1"/>
          <p:nvPr/>
        </p:nvSpPr>
        <p:spPr>
          <a:xfrm>
            <a:off x="609905" y="5596128"/>
            <a:ext cx="848563" cy="274320"/>
          </a:xfrm>
          <a:prstGeom prst="rect">
            <a:avLst/>
          </a:prstGeom>
          <a:noFill/>
          <a:ln/>
        </p:spPr>
        <p:txBody>
          <a:bodyPr wrap="square" lIns="0" tIns="0" rIns="0" bIns="0" rtlCol="0" anchor="ctr"/>
          <a:lstStyle/>
          <a:p>
            <a:pPr algn="ctr" indent="0" marL="0">
              <a:buNone/>
            </a:pPr>
            <a:r>
              <a:rPr lang="en-US" sz="1000" dirty="0">
                <a:solidFill>
                  <a:schemeClr val="accent3"/>
                </a:solidFill>
              </a:rPr>
              <a:t>Education</a:t>
            </a:r>
            <a:endParaRPr lang="en-US" sz="1000" dirty="0"/>
          </a:p>
        </p:txBody>
      </p:sp>
      <p:sp>
        <p:nvSpPr>
          <p:cNvPr id="30" name="Shape 26"/>
          <p:cNvSpPr/>
          <p:nvPr/>
        </p:nvSpPr>
        <p:spPr>
          <a:xfrm>
            <a:off x="1531620" y="5596128"/>
            <a:ext cx="914400" cy="274320"/>
          </a:xfrm>
          <a:prstGeom prst="roundRect">
            <a:avLst>
              <a:gd name="adj" fmla="val 50000"/>
            </a:avLst>
          </a:prstGeom>
          <a:solidFill>
            <a:schemeClr val="bg2"/>
          </a:solidFill>
          <a:ln w="9525">
            <a:solidFill>
              <a:schemeClr val="accent2"/>
            </a:solidFill>
            <a:prstDash val="solid"/>
          </a:ln>
        </p:spPr>
      </p:sp>
      <p:sp>
        <p:nvSpPr>
          <p:cNvPr id="31" name="Text 27"/>
          <p:cNvSpPr txBox="1"/>
          <p:nvPr/>
        </p:nvSpPr>
        <p:spPr>
          <a:xfrm>
            <a:off x="1531620" y="5596128"/>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Healthcare</a:t>
            </a:r>
            <a:endParaRPr lang="en-US" sz="1000" dirty="0"/>
          </a:p>
        </p:txBody>
      </p:sp>
      <p:sp>
        <p:nvSpPr>
          <p:cNvPr id="32" name="Shape 28"/>
          <p:cNvSpPr/>
          <p:nvPr/>
        </p:nvSpPr>
        <p:spPr>
          <a:xfrm>
            <a:off x="2519172" y="5596128"/>
            <a:ext cx="848563" cy="274320"/>
          </a:xfrm>
          <a:prstGeom prst="roundRect">
            <a:avLst>
              <a:gd name="adj" fmla="val 50000"/>
            </a:avLst>
          </a:prstGeom>
          <a:solidFill>
            <a:schemeClr val="bg2"/>
          </a:solidFill>
          <a:ln w="9525">
            <a:solidFill>
              <a:schemeClr val="accent2"/>
            </a:solidFill>
            <a:prstDash val="solid"/>
          </a:ln>
        </p:spPr>
      </p:sp>
      <p:sp>
        <p:nvSpPr>
          <p:cNvPr id="33" name="Text 29"/>
          <p:cNvSpPr txBox="1"/>
          <p:nvPr/>
        </p:nvSpPr>
        <p:spPr>
          <a:xfrm>
            <a:off x="2519172" y="5596128"/>
            <a:ext cx="848563" cy="274320"/>
          </a:xfrm>
          <a:prstGeom prst="rect">
            <a:avLst/>
          </a:prstGeom>
          <a:noFill/>
          <a:ln/>
        </p:spPr>
        <p:txBody>
          <a:bodyPr wrap="square" lIns="0" tIns="0" rIns="0" bIns="0" rtlCol="0" anchor="ctr"/>
          <a:lstStyle/>
          <a:p>
            <a:pPr algn="ctr" indent="0" marL="0">
              <a:buNone/>
            </a:pPr>
            <a:r>
              <a:rPr lang="en-US" sz="1000" dirty="0">
                <a:solidFill>
                  <a:schemeClr val="accent3"/>
                </a:solidFill>
              </a:rPr>
              <a:t>Jewellery</a:t>
            </a:r>
            <a:endParaRPr lang="en-US" sz="1000" dirty="0"/>
          </a:p>
        </p:txBody>
      </p:sp>
      <p:sp>
        <p:nvSpPr>
          <p:cNvPr id="34" name="Shape 30"/>
          <p:cNvSpPr/>
          <p:nvPr/>
        </p:nvSpPr>
        <p:spPr>
          <a:xfrm>
            <a:off x="3440887" y="5596128"/>
            <a:ext cx="914400" cy="274320"/>
          </a:xfrm>
          <a:prstGeom prst="roundRect">
            <a:avLst>
              <a:gd name="adj" fmla="val 50000"/>
            </a:avLst>
          </a:prstGeom>
          <a:solidFill>
            <a:schemeClr val="bg2"/>
          </a:solidFill>
          <a:ln w="9525">
            <a:solidFill>
              <a:schemeClr val="accent2"/>
            </a:solidFill>
            <a:prstDash val="solid"/>
          </a:ln>
        </p:spPr>
      </p:sp>
      <p:sp>
        <p:nvSpPr>
          <p:cNvPr id="35" name="Text 31"/>
          <p:cNvSpPr txBox="1"/>
          <p:nvPr/>
        </p:nvSpPr>
        <p:spPr>
          <a:xfrm>
            <a:off x="3440887" y="5596128"/>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Automobile</a:t>
            </a:r>
            <a:endParaRPr lang="en-US" sz="10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806440" y="548640"/>
            <a:ext cx="576072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( 02.7 ) — SERVICES</a:t>
            </a:r>
            <a:endParaRPr lang="en-US" sz="1000" dirty="0"/>
          </a:p>
        </p:txBody>
      </p:sp>
      <p:sp>
        <p:nvSpPr>
          <p:cNvPr id="3" name="Text 1"/>
          <p:cNvSpPr/>
          <p:nvPr>
            <p:ph idx="103" type="title" hasCustomPrompt="1"/>
          </p:nvPr>
        </p:nvSpPr>
        <p:spPr>
          <a:xfrm>
            <a:off x="5806440" y="822960"/>
            <a:ext cx="5760720" cy="64008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Product Rendering</a:t>
            </a:r>
            <a:endParaRPr lang="en-US" sz="3200" dirty="0"/>
          </a:p>
        </p:txBody>
      </p:sp>
      <p:pic>
        <p:nvPicPr>
          <p:cNvPr id="5" name="Product Rendering" descr="C:\Users\ADMIN\Desktop\TEMP\VSHARK_Website\collateral\assets\product-rendering-of-wireless-earbuds-from-clay-model-to-photorealistic-render-4x3.jpg">    </p:cNvPr>
          <p:cNvPicPr>
            <a:picLocks noChangeAspect="1"/>
          </p:cNvPicPr>
          <p:nvPr/>
        </p:nvPicPr>
        <p:blipFill>
          <a:blip r:embed="rId1"/>
          <a:srcRect l="0" r="0" t="0" b="0"/>
          <a:stretch/>
        </p:blipFill>
        <p:spPr>
          <a:xfrm>
            <a:off x="609905" y="548640"/>
            <a:ext cx="4846320" cy="3634740"/>
          </a:xfrm>
          <a:prstGeom prst="rect">
            <a:avLst/>
          </a:prstGeom>
        </p:spPr>
      </p:pic>
      <p:sp>
        <p:nvSpPr>
          <p:cNvPr id="6" name="Shape 2"/>
          <p:cNvSpPr/>
          <p:nvPr/>
        </p:nvSpPr>
        <p:spPr>
          <a:xfrm>
            <a:off x="774497" y="3813048"/>
            <a:ext cx="1211580" cy="237744"/>
          </a:xfrm>
          <a:prstGeom prst="rect">
            <a:avLst/>
          </a:prstGeom>
          <a:solidFill>
            <a:schemeClr val="tx2">
              <a:alpha val="85000"/>
            </a:schemeClr>
          </a:solidFill>
          <a:ln/>
        </p:spPr>
      </p:sp>
      <p:sp>
        <p:nvSpPr>
          <p:cNvPr id="7" name="Text 3"/>
          <p:cNvSpPr txBox="1"/>
          <p:nvPr/>
        </p:nvSpPr>
        <p:spPr>
          <a:xfrm>
            <a:off x="774497" y="3813048"/>
            <a:ext cx="121158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SERVICE 07 / 07</a:t>
            </a:r>
            <a:endParaRPr lang="en-US" sz="900" dirty="0"/>
          </a:p>
        </p:txBody>
      </p:sp>
      <p:sp>
        <p:nvSpPr>
          <p:cNvPr id="8" name="Text 4"/>
          <p:cNvSpPr txBox="1"/>
          <p:nvPr/>
        </p:nvSpPr>
        <p:spPr>
          <a:xfrm>
            <a:off x="5806440" y="1463040"/>
            <a:ext cx="5760720" cy="502920"/>
          </a:xfrm>
          <a:prstGeom prst="rect">
            <a:avLst/>
          </a:prstGeom>
          <a:noFill/>
          <a:ln/>
        </p:spPr>
        <p:txBody>
          <a:bodyPr wrap="square" lIns="0" tIns="0" rIns="0" bIns="0" rtlCol="0" anchor="t"/>
          <a:lstStyle/>
          <a:p>
            <a:pPr indent="0" marL="0">
              <a:buNone/>
            </a:pPr>
            <a:r>
              <a:rPr lang="en-US" sz="1400" dirty="0">
                <a:solidFill>
                  <a:schemeClr val="accent1"/>
                </a:solidFill>
                <a:latin typeface="Century Gothic" pitchFamily="34" charset="0"/>
                <a:ea typeface="Century Gothic" pitchFamily="34" charset="-122"/>
                <a:cs typeface="Century Gothic" pitchFamily="34" charset="-120"/>
              </a:rPr>
              <a:t>Photoreal visuals that sell a product before it is ever made.</a:t>
            </a:r>
            <a:endParaRPr lang="en-US" sz="1400" dirty="0"/>
          </a:p>
        </p:txBody>
      </p:sp>
      <p:sp>
        <p:nvSpPr>
          <p:cNvPr id="9" name="Text 5"/>
          <p:cNvSpPr txBox="1"/>
          <p:nvPr/>
        </p:nvSpPr>
        <p:spPr>
          <a:xfrm>
            <a:off x="5806440" y="2057400"/>
            <a:ext cx="5760720" cy="1005840"/>
          </a:xfrm>
          <a:prstGeom prst="rect">
            <a:avLst/>
          </a:prstGeom>
          <a:noFill/>
          <a:ln/>
        </p:spPr>
        <p:txBody>
          <a:bodyPr wrap="square" lIns="0" tIns="0" rIns="0" bIns="0" rtlCol="0" anchor="t"/>
          <a:lstStyle/>
          <a:p>
            <a:pPr indent="0" marL="0">
              <a:lnSpc>
                <a:spcPct val="110000"/>
              </a:lnSpc>
              <a:buNone/>
            </a:pPr>
            <a:r>
              <a:rPr lang="en-US" sz="1200" dirty="0">
                <a:solidFill>
                  <a:schemeClr val="accent6"/>
                </a:solidFill>
              </a:rPr>
              <a:t>We turn CAD and design models into photorealistic images and animations for marketing, presentations and design reviews. Materials, lighting and scenes are tuned so your product looks real — and looks its best — before the first unit is built.</a:t>
            </a:r>
            <a:endParaRPr lang="en-US" sz="1200" dirty="0"/>
          </a:p>
        </p:txBody>
      </p:sp>
      <p:sp>
        <p:nvSpPr>
          <p:cNvPr id="10" name="Text 6"/>
          <p:cNvSpPr txBox="1"/>
          <p:nvPr/>
        </p:nvSpPr>
        <p:spPr>
          <a:xfrm>
            <a:off x="580644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Photoreal stills</a:t>
            </a:r>
            <a:endParaRPr lang="en-US" sz="1250" dirty="0"/>
          </a:p>
        </p:txBody>
      </p:sp>
      <p:sp>
        <p:nvSpPr>
          <p:cNvPr id="11" name="Text 7"/>
          <p:cNvSpPr txBox="1"/>
          <p:nvPr/>
        </p:nvSpPr>
        <p:spPr>
          <a:xfrm>
            <a:off x="580644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Studio and lifestyle shots with accurate materials, finishes and lighting.</a:t>
            </a:r>
            <a:endParaRPr lang="en-US" sz="1050" dirty="0"/>
          </a:p>
        </p:txBody>
      </p:sp>
      <p:sp>
        <p:nvSpPr>
          <p:cNvPr id="12" name="Text 8"/>
          <p:cNvSpPr txBox="1"/>
          <p:nvPr/>
        </p:nvSpPr>
        <p:spPr>
          <a:xfrm>
            <a:off x="8732520" y="3154680"/>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Animations &amp; turntables</a:t>
            </a:r>
            <a:endParaRPr lang="en-US" sz="1250" dirty="0"/>
          </a:p>
        </p:txBody>
      </p:sp>
      <p:sp>
        <p:nvSpPr>
          <p:cNvPr id="13" name="Text 9"/>
          <p:cNvSpPr txBox="1"/>
          <p:nvPr/>
        </p:nvSpPr>
        <p:spPr>
          <a:xfrm>
            <a:off x="8732520" y="3429000"/>
            <a:ext cx="2788920" cy="548640"/>
          </a:xfrm>
          <a:prstGeom prst="rect">
            <a:avLst/>
          </a:prstGeom>
          <a:noFill/>
          <a:ln/>
        </p:spPr>
        <p:txBody>
          <a:bodyPr wrap="square" lIns="0" tIns="0" rIns="0" bIns="0" rtlCol="0" anchor="t"/>
          <a:lstStyle/>
          <a:p>
            <a:pPr indent="0" marL="0">
              <a:buNone/>
            </a:pPr>
            <a:r>
              <a:rPr lang="en-US" sz="1050" dirty="0">
                <a:solidFill>
                  <a:schemeClr val="accent3"/>
                </a:solidFill>
              </a:rPr>
              <a:t>Exploded views, assembly sequences and 360° spins.</a:t>
            </a:r>
            <a:endParaRPr lang="en-US" sz="1050" dirty="0"/>
          </a:p>
        </p:txBody>
      </p:sp>
      <p:sp>
        <p:nvSpPr>
          <p:cNvPr id="14" name="Text 10"/>
          <p:cNvSpPr txBox="1"/>
          <p:nvPr/>
        </p:nvSpPr>
        <p:spPr>
          <a:xfrm>
            <a:off x="580644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Interiors &amp; exhibitions</a:t>
            </a:r>
            <a:endParaRPr lang="en-US" sz="1250" dirty="0"/>
          </a:p>
        </p:txBody>
      </p:sp>
      <p:sp>
        <p:nvSpPr>
          <p:cNvPr id="15" name="Text 11"/>
          <p:cNvSpPr txBox="1"/>
          <p:nvPr/>
        </p:nvSpPr>
        <p:spPr>
          <a:xfrm>
            <a:off x="580644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Spaces, stands and environments visualised before construction.</a:t>
            </a:r>
            <a:endParaRPr lang="en-US" sz="1050" dirty="0"/>
          </a:p>
        </p:txBody>
      </p:sp>
      <p:sp>
        <p:nvSpPr>
          <p:cNvPr id="16" name="Text 12"/>
          <p:cNvSpPr txBox="1"/>
          <p:nvPr/>
        </p:nvSpPr>
        <p:spPr>
          <a:xfrm>
            <a:off x="8732520" y="4005072"/>
            <a:ext cx="2788920" cy="256032"/>
          </a:xfrm>
          <a:prstGeom prst="rect">
            <a:avLst/>
          </a:prstGeom>
          <a:noFill/>
          <a:ln/>
        </p:spPr>
        <p:txBody>
          <a:bodyPr wrap="square" lIns="0" tIns="0" rIns="0" bIns="0" rtlCol="0" anchor="t"/>
          <a:lstStyle/>
          <a:p>
            <a:pPr indent="0" marL="0">
              <a:buNone/>
            </a:pPr>
            <a:r>
              <a:rPr lang="en-US" sz="1250" b="1" dirty="0">
                <a:solidFill>
                  <a:schemeClr val="tx1"/>
                </a:solidFill>
                <a:latin typeface="Century Gothic" pitchFamily="34" charset="0"/>
                <a:ea typeface="Century Gothic" pitchFamily="34" charset="-122"/>
                <a:cs typeface="Century Gothic" pitchFamily="34" charset="-120"/>
              </a:rPr>
              <a:t>Jewellery visualisation</a:t>
            </a:r>
            <a:endParaRPr lang="en-US" sz="1250" dirty="0"/>
          </a:p>
        </p:txBody>
      </p:sp>
      <p:sp>
        <p:nvSpPr>
          <p:cNvPr id="17" name="Text 13"/>
          <p:cNvSpPr txBox="1"/>
          <p:nvPr/>
        </p:nvSpPr>
        <p:spPr>
          <a:xfrm>
            <a:off x="8732520" y="4279392"/>
            <a:ext cx="2788920" cy="548640"/>
          </a:xfrm>
          <a:prstGeom prst="rect">
            <a:avLst/>
          </a:prstGeom>
          <a:noFill/>
          <a:ln/>
        </p:spPr>
        <p:txBody>
          <a:bodyPr wrap="square" lIns="0" tIns="0" rIns="0" bIns="0" rtlCol="0" anchor="t"/>
          <a:lstStyle/>
          <a:p>
            <a:pPr indent="0" marL="0">
              <a:buNone/>
            </a:pPr>
            <a:r>
              <a:rPr lang="en-US" sz="1050" dirty="0">
                <a:solidFill>
                  <a:schemeClr val="accent3"/>
                </a:solidFill>
              </a:rPr>
              <a:t>Metals and gemstones rendered with true reflections and sparkle.</a:t>
            </a:r>
            <a:endParaRPr lang="en-US" sz="1050" dirty="0"/>
          </a:p>
        </p:txBody>
      </p:sp>
      <p:sp>
        <p:nvSpPr>
          <p:cNvPr id="18" name="Text 14"/>
          <p:cNvSpPr txBox="1"/>
          <p:nvPr/>
        </p:nvSpPr>
        <p:spPr>
          <a:xfrm>
            <a:off x="609905" y="4389120"/>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DELIVERABLES</a:t>
            </a:r>
            <a:endParaRPr lang="en-US" sz="900" dirty="0"/>
          </a:p>
        </p:txBody>
      </p:sp>
      <p:sp>
        <p:nvSpPr>
          <p:cNvPr id="19" name="Shape 15"/>
          <p:cNvSpPr/>
          <p:nvPr/>
        </p:nvSpPr>
        <p:spPr>
          <a:xfrm>
            <a:off x="609905" y="4617720"/>
            <a:ext cx="2165299" cy="274320"/>
          </a:xfrm>
          <a:prstGeom prst="roundRect">
            <a:avLst>
              <a:gd name="adj" fmla="val 50000"/>
            </a:avLst>
          </a:prstGeom>
          <a:solidFill>
            <a:schemeClr val="bg1"/>
          </a:solidFill>
          <a:ln w="9525">
            <a:solidFill>
              <a:schemeClr val="accent5"/>
            </a:solidFill>
            <a:prstDash val="solid"/>
          </a:ln>
        </p:spPr>
      </p:sp>
      <p:sp>
        <p:nvSpPr>
          <p:cNvPr id="20" name="Text 16"/>
          <p:cNvSpPr txBox="1"/>
          <p:nvPr/>
        </p:nvSpPr>
        <p:spPr>
          <a:xfrm>
            <a:off x="609905" y="4617720"/>
            <a:ext cx="2165299" cy="274320"/>
          </a:xfrm>
          <a:prstGeom prst="rect">
            <a:avLst/>
          </a:prstGeom>
          <a:noFill/>
          <a:ln/>
        </p:spPr>
        <p:txBody>
          <a:bodyPr wrap="square" lIns="0" tIns="0" rIns="0" bIns="0" rtlCol="0" anchor="ctr"/>
          <a:lstStyle/>
          <a:p>
            <a:pPr algn="ctr" indent="0" marL="0">
              <a:buNone/>
            </a:pPr>
            <a:r>
              <a:rPr lang="en-US" sz="1000" dirty="0">
                <a:solidFill>
                  <a:schemeClr val="accent6"/>
                </a:solidFill>
              </a:rPr>
              <a:t>High-res stills (.PNG, .TIFF)</a:t>
            </a:r>
            <a:endParaRPr lang="en-US" sz="1000" dirty="0"/>
          </a:p>
        </p:txBody>
      </p:sp>
      <p:sp>
        <p:nvSpPr>
          <p:cNvPr id="21" name="Shape 17"/>
          <p:cNvSpPr/>
          <p:nvPr/>
        </p:nvSpPr>
        <p:spPr>
          <a:xfrm>
            <a:off x="2848356" y="4617720"/>
            <a:ext cx="1375258" cy="274320"/>
          </a:xfrm>
          <a:prstGeom prst="roundRect">
            <a:avLst>
              <a:gd name="adj" fmla="val 50000"/>
            </a:avLst>
          </a:prstGeom>
          <a:solidFill>
            <a:schemeClr val="bg1"/>
          </a:solidFill>
          <a:ln w="9525">
            <a:solidFill>
              <a:schemeClr val="accent5"/>
            </a:solidFill>
            <a:prstDash val="solid"/>
          </a:ln>
        </p:spPr>
      </p:sp>
      <p:sp>
        <p:nvSpPr>
          <p:cNvPr id="22" name="Text 18"/>
          <p:cNvSpPr txBox="1"/>
          <p:nvPr/>
        </p:nvSpPr>
        <p:spPr>
          <a:xfrm>
            <a:off x="2848356" y="4617720"/>
            <a:ext cx="1375258" cy="274320"/>
          </a:xfrm>
          <a:prstGeom prst="rect">
            <a:avLst/>
          </a:prstGeom>
          <a:noFill/>
          <a:ln/>
        </p:spPr>
        <p:txBody>
          <a:bodyPr wrap="square" lIns="0" tIns="0" rIns="0" bIns="0" rtlCol="0" anchor="ctr"/>
          <a:lstStyle/>
          <a:p>
            <a:pPr algn="ctr" indent="0" marL="0">
              <a:buNone/>
            </a:pPr>
            <a:r>
              <a:rPr lang="en-US" sz="1000" dirty="0">
                <a:solidFill>
                  <a:schemeClr val="accent6"/>
                </a:solidFill>
              </a:rPr>
              <a:t>Animations (.MP4)</a:t>
            </a:r>
            <a:endParaRPr lang="en-US" sz="1000" dirty="0"/>
          </a:p>
        </p:txBody>
      </p:sp>
      <p:sp>
        <p:nvSpPr>
          <p:cNvPr id="23" name="Shape 19"/>
          <p:cNvSpPr/>
          <p:nvPr/>
        </p:nvSpPr>
        <p:spPr>
          <a:xfrm>
            <a:off x="609905" y="4965192"/>
            <a:ext cx="1243584" cy="274320"/>
          </a:xfrm>
          <a:prstGeom prst="roundRect">
            <a:avLst>
              <a:gd name="adj" fmla="val 50000"/>
            </a:avLst>
          </a:prstGeom>
          <a:solidFill>
            <a:schemeClr val="bg1"/>
          </a:solidFill>
          <a:ln w="9525">
            <a:solidFill>
              <a:schemeClr val="accent5"/>
            </a:solidFill>
            <a:prstDash val="solid"/>
          </a:ln>
        </p:spPr>
      </p:sp>
      <p:sp>
        <p:nvSpPr>
          <p:cNvPr id="24" name="Text 20"/>
          <p:cNvSpPr txBox="1"/>
          <p:nvPr/>
        </p:nvSpPr>
        <p:spPr>
          <a:xfrm>
            <a:off x="609905" y="4965192"/>
            <a:ext cx="1243584" cy="274320"/>
          </a:xfrm>
          <a:prstGeom prst="rect">
            <a:avLst/>
          </a:prstGeom>
          <a:noFill/>
          <a:ln/>
        </p:spPr>
        <p:txBody>
          <a:bodyPr wrap="square" lIns="0" tIns="0" rIns="0" bIns="0" rtlCol="0" anchor="ctr"/>
          <a:lstStyle/>
          <a:p>
            <a:pPr algn="ctr" indent="0" marL="0">
              <a:buNone/>
            </a:pPr>
            <a:r>
              <a:rPr lang="en-US" sz="1000" dirty="0">
                <a:solidFill>
                  <a:schemeClr val="accent6"/>
                </a:solidFill>
              </a:rPr>
              <a:t>360° turntables</a:t>
            </a:r>
            <a:endParaRPr lang="en-US" sz="1000" dirty="0"/>
          </a:p>
        </p:txBody>
      </p:sp>
      <p:sp>
        <p:nvSpPr>
          <p:cNvPr id="25" name="Shape 21"/>
          <p:cNvSpPr/>
          <p:nvPr/>
        </p:nvSpPr>
        <p:spPr>
          <a:xfrm>
            <a:off x="1926641" y="4965192"/>
            <a:ext cx="1572768" cy="274320"/>
          </a:xfrm>
          <a:prstGeom prst="roundRect">
            <a:avLst>
              <a:gd name="adj" fmla="val 50000"/>
            </a:avLst>
          </a:prstGeom>
          <a:solidFill>
            <a:schemeClr val="bg1"/>
          </a:solidFill>
          <a:ln w="9525">
            <a:solidFill>
              <a:schemeClr val="accent5"/>
            </a:solidFill>
            <a:prstDash val="solid"/>
          </a:ln>
        </p:spPr>
      </p:sp>
      <p:sp>
        <p:nvSpPr>
          <p:cNvPr id="26" name="Text 22"/>
          <p:cNvSpPr txBox="1"/>
          <p:nvPr/>
        </p:nvSpPr>
        <p:spPr>
          <a:xfrm>
            <a:off x="1926641" y="4965192"/>
            <a:ext cx="1572768" cy="274320"/>
          </a:xfrm>
          <a:prstGeom prst="rect">
            <a:avLst/>
          </a:prstGeom>
          <a:noFill/>
          <a:ln/>
        </p:spPr>
        <p:txBody>
          <a:bodyPr wrap="square" lIns="0" tIns="0" rIns="0" bIns="0" rtlCol="0" anchor="ctr"/>
          <a:lstStyle/>
          <a:p>
            <a:pPr algn="ctr" indent="0" marL="0">
              <a:buNone/>
            </a:pPr>
            <a:r>
              <a:rPr lang="en-US" sz="1000" dirty="0">
                <a:solidFill>
                  <a:schemeClr val="accent6"/>
                </a:solidFill>
              </a:rPr>
              <a:t>Web-ready image sets</a:t>
            </a:r>
            <a:endParaRPr lang="en-US" sz="1000" dirty="0"/>
          </a:p>
        </p:txBody>
      </p:sp>
      <p:sp>
        <p:nvSpPr>
          <p:cNvPr id="27" name="Text 23"/>
          <p:cNvSpPr txBox="1"/>
          <p:nvPr/>
        </p:nvSpPr>
        <p:spPr>
          <a:xfrm>
            <a:off x="609905" y="5367528"/>
            <a:ext cx="2743200"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INDUSTRIES</a:t>
            </a:r>
            <a:endParaRPr lang="en-US" sz="900" dirty="0"/>
          </a:p>
        </p:txBody>
      </p:sp>
      <p:sp>
        <p:nvSpPr>
          <p:cNvPr id="28" name="Shape 24"/>
          <p:cNvSpPr/>
          <p:nvPr/>
        </p:nvSpPr>
        <p:spPr>
          <a:xfrm>
            <a:off x="609905" y="5596128"/>
            <a:ext cx="848563" cy="274320"/>
          </a:xfrm>
          <a:prstGeom prst="roundRect">
            <a:avLst>
              <a:gd name="adj" fmla="val 50000"/>
            </a:avLst>
          </a:prstGeom>
          <a:solidFill>
            <a:schemeClr val="bg2"/>
          </a:solidFill>
          <a:ln w="9525">
            <a:solidFill>
              <a:schemeClr val="accent2"/>
            </a:solidFill>
            <a:prstDash val="solid"/>
          </a:ln>
        </p:spPr>
      </p:sp>
      <p:sp>
        <p:nvSpPr>
          <p:cNvPr id="29" name="Text 25"/>
          <p:cNvSpPr txBox="1"/>
          <p:nvPr/>
        </p:nvSpPr>
        <p:spPr>
          <a:xfrm>
            <a:off x="609905" y="5596128"/>
            <a:ext cx="848563" cy="274320"/>
          </a:xfrm>
          <a:prstGeom prst="rect">
            <a:avLst/>
          </a:prstGeom>
          <a:noFill/>
          <a:ln/>
        </p:spPr>
        <p:txBody>
          <a:bodyPr wrap="square" lIns="0" tIns="0" rIns="0" bIns="0" rtlCol="0" anchor="ctr"/>
          <a:lstStyle/>
          <a:p>
            <a:pPr algn="ctr" indent="0" marL="0">
              <a:buNone/>
            </a:pPr>
            <a:r>
              <a:rPr lang="en-US" sz="1000" dirty="0">
                <a:solidFill>
                  <a:schemeClr val="accent3"/>
                </a:solidFill>
              </a:rPr>
              <a:t>Jewellery</a:t>
            </a:r>
            <a:endParaRPr lang="en-US" sz="1000" dirty="0"/>
          </a:p>
        </p:txBody>
      </p:sp>
      <p:sp>
        <p:nvSpPr>
          <p:cNvPr id="30" name="Shape 26"/>
          <p:cNvSpPr/>
          <p:nvPr/>
        </p:nvSpPr>
        <p:spPr>
          <a:xfrm>
            <a:off x="1531620" y="5596128"/>
            <a:ext cx="1046074" cy="274320"/>
          </a:xfrm>
          <a:prstGeom prst="roundRect">
            <a:avLst>
              <a:gd name="adj" fmla="val 50000"/>
            </a:avLst>
          </a:prstGeom>
          <a:solidFill>
            <a:schemeClr val="bg2"/>
          </a:solidFill>
          <a:ln w="9525">
            <a:solidFill>
              <a:schemeClr val="accent2"/>
            </a:solidFill>
            <a:prstDash val="solid"/>
          </a:ln>
        </p:spPr>
      </p:sp>
      <p:sp>
        <p:nvSpPr>
          <p:cNvPr id="31" name="Text 27"/>
          <p:cNvSpPr txBox="1"/>
          <p:nvPr/>
        </p:nvSpPr>
        <p:spPr>
          <a:xfrm>
            <a:off x="1531620" y="5596128"/>
            <a:ext cx="1046074" cy="274320"/>
          </a:xfrm>
          <a:prstGeom prst="rect">
            <a:avLst/>
          </a:prstGeom>
          <a:noFill/>
          <a:ln/>
        </p:spPr>
        <p:txBody>
          <a:bodyPr wrap="square" lIns="0" tIns="0" rIns="0" bIns="0" rtlCol="0" anchor="ctr"/>
          <a:lstStyle/>
          <a:p>
            <a:pPr algn="ctr" indent="0" marL="0">
              <a:buNone/>
            </a:pPr>
            <a:r>
              <a:rPr lang="en-US" sz="1000" dirty="0">
                <a:solidFill>
                  <a:schemeClr val="accent3"/>
                </a:solidFill>
              </a:rPr>
              <a:t>Construction</a:t>
            </a:r>
            <a:endParaRPr lang="en-US" sz="1000" dirty="0"/>
          </a:p>
        </p:txBody>
      </p:sp>
      <p:sp>
        <p:nvSpPr>
          <p:cNvPr id="32" name="Shape 28"/>
          <p:cNvSpPr/>
          <p:nvPr/>
        </p:nvSpPr>
        <p:spPr>
          <a:xfrm>
            <a:off x="2650846" y="5596128"/>
            <a:ext cx="914400" cy="274320"/>
          </a:xfrm>
          <a:prstGeom prst="roundRect">
            <a:avLst>
              <a:gd name="adj" fmla="val 50000"/>
            </a:avLst>
          </a:prstGeom>
          <a:solidFill>
            <a:schemeClr val="bg2"/>
          </a:solidFill>
          <a:ln w="9525">
            <a:solidFill>
              <a:schemeClr val="accent2"/>
            </a:solidFill>
            <a:prstDash val="solid"/>
          </a:ln>
        </p:spPr>
      </p:sp>
      <p:sp>
        <p:nvSpPr>
          <p:cNvPr id="33" name="Text 29"/>
          <p:cNvSpPr txBox="1"/>
          <p:nvPr/>
        </p:nvSpPr>
        <p:spPr>
          <a:xfrm>
            <a:off x="2650846" y="5596128"/>
            <a:ext cx="914400" cy="274320"/>
          </a:xfrm>
          <a:prstGeom prst="rect">
            <a:avLst/>
          </a:prstGeom>
          <a:noFill/>
          <a:ln/>
        </p:spPr>
        <p:txBody>
          <a:bodyPr wrap="square" lIns="0" tIns="0" rIns="0" bIns="0" rtlCol="0" anchor="ctr"/>
          <a:lstStyle/>
          <a:p>
            <a:pPr algn="ctr" indent="0" marL="0">
              <a:buNone/>
            </a:pPr>
            <a:r>
              <a:rPr lang="en-US" sz="1000" dirty="0">
                <a:solidFill>
                  <a:schemeClr val="accent3"/>
                </a:solidFill>
              </a:rPr>
              <a:t>Automobile</a:t>
            </a:r>
            <a:endParaRPr lang="en-US" sz="10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609905" y="548640"/>
            <a:ext cx="731520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( 04 ) — PORTFOLIO</a:t>
            </a:r>
            <a:endParaRPr lang="en-US" sz="1000" dirty="0"/>
          </a:p>
        </p:txBody>
      </p:sp>
      <p:sp>
        <p:nvSpPr>
          <p:cNvPr id="3" name="Text 1"/>
          <p:cNvSpPr/>
          <p:nvPr>
            <p:ph idx="103" type="title" hasCustomPrompt="1"/>
          </p:nvPr>
        </p:nvSpPr>
        <p:spPr>
          <a:xfrm>
            <a:off x="609905" y="822960"/>
            <a:ext cx="7498080" cy="73152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Scan in. </a:t>
            </a:r>
            <a:pPr algn="l" indent="0" marL="0">
              <a:buNone/>
            </a:pPr>
            <a:r>
              <a:rPr lang="en-US" sz="3200" dirty="0">
                <a:solidFill>
                  <a:schemeClr val="accent1"/>
                </a:solidFill>
                <a:latin typeface="Century Gothic" pitchFamily="34" charset="0"/>
                <a:ea typeface="Century Gothic" pitchFamily="34" charset="-122"/>
                <a:cs typeface="Century Gothic" pitchFamily="34" charset="-120"/>
              </a:rPr>
              <a:t>CAD out.</a:t>
            </a:r>
            <a:endParaRPr lang="en-US" sz="3200" dirty="0"/>
          </a:p>
        </p:txBody>
      </p:sp>
      <p:sp>
        <p:nvSpPr>
          <p:cNvPr id="5" name="Text 2"/>
          <p:cNvSpPr txBox="1"/>
          <p:nvPr/>
        </p:nvSpPr>
        <p:spPr>
          <a:xfrm>
            <a:off x="8138160" y="868680"/>
            <a:ext cx="3447288" cy="731520"/>
          </a:xfrm>
          <a:prstGeom prst="rect">
            <a:avLst/>
          </a:prstGeom>
          <a:noFill/>
          <a:ln/>
        </p:spPr>
        <p:txBody>
          <a:bodyPr wrap="square" lIns="0" tIns="0" rIns="0" bIns="0" rtlCol="0" anchor="t"/>
          <a:lstStyle/>
          <a:p>
            <a:pPr indent="0" marL="0">
              <a:buNone/>
            </a:pPr>
            <a:r>
              <a:rPr lang="en-US" sz="1200" dirty="0">
                <a:solidFill>
                  <a:schemeClr val="accent6"/>
                </a:solidFill>
              </a:rPr>
              <a:t>Real parts we have captured and rebuilt as editable, manufacturable CAD.</a:t>
            </a:r>
            <a:endParaRPr lang="en-US" sz="1200" dirty="0"/>
          </a:p>
        </p:txBody>
      </p:sp>
      <p:pic>
        <p:nvPicPr>
          <p:cNvPr id="6" name="Engine Cylinder Head scan" descr="C:\Users\ADMIN\Desktop\TEMP\VSHARK_Website\collateral\assets\cylinder-head-scan.jpg">    </p:cNvPr>
          <p:cNvPicPr>
            <a:picLocks noChangeAspect="1"/>
          </p:cNvPicPr>
          <p:nvPr/>
        </p:nvPicPr>
        <p:blipFill>
          <a:blip r:embed="rId1"/>
          <a:srcRect l="0" r="0" t="2133" b="2133"/>
          <a:stretch/>
        </p:blipFill>
        <p:spPr>
          <a:xfrm>
            <a:off x="609905" y="1783080"/>
            <a:ext cx="2651760" cy="1691640"/>
          </a:xfrm>
          <a:prstGeom prst="rect">
            <a:avLst/>
          </a:prstGeom>
        </p:spPr>
      </p:pic>
      <p:pic>
        <p:nvPicPr>
          <p:cNvPr id="7" name="Engine Cylinder Head CAD" descr="C:\Users\ADMIN\Desktop\TEMP\VSHARK_Website\collateral\assets\cylinder-head-cad.jpg">    </p:cNvPr>
          <p:cNvPicPr>
            <a:picLocks noChangeAspect="1"/>
          </p:cNvPicPr>
          <p:nvPr/>
        </p:nvPicPr>
        <p:blipFill>
          <a:blip r:embed="rId2"/>
          <a:srcRect l="0" r="0" t="2133" b="2133"/>
          <a:stretch/>
        </p:blipFill>
        <p:spPr>
          <a:xfrm>
            <a:off x="3353105" y="1783080"/>
            <a:ext cx="2651760" cy="1691640"/>
          </a:xfrm>
          <a:prstGeom prst="rect">
            <a:avLst/>
          </a:prstGeom>
        </p:spPr>
      </p:pic>
      <p:sp>
        <p:nvSpPr>
          <p:cNvPr id="8" name="Shape 3"/>
          <p:cNvSpPr/>
          <p:nvPr/>
        </p:nvSpPr>
        <p:spPr>
          <a:xfrm>
            <a:off x="701345" y="1874520"/>
            <a:ext cx="457200" cy="237744"/>
          </a:xfrm>
          <a:prstGeom prst="rect">
            <a:avLst/>
          </a:prstGeom>
          <a:solidFill>
            <a:schemeClr val="tx2">
              <a:alpha val="85000"/>
            </a:schemeClr>
          </a:solidFill>
          <a:ln/>
        </p:spPr>
      </p:sp>
      <p:sp>
        <p:nvSpPr>
          <p:cNvPr id="9" name="Text 4"/>
          <p:cNvSpPr txBox="1"/>
          <p:nvPr/>
        </p:nvSpPr>
        <p:spPr>
          <a:xfrm>
            <a:off x="701345" y="1874520"/>
            <a:ext cx="45720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SCAN</a:t>
            </a:r>
            <a:endParaRPr lang="en-US" sz="900" dirty="0"/>
          </a:p>
        </p:txBody>
      </p:sp>
      <p:sp>
        <p:nvSpPr>
          <p:cNvPr id="10" name="Shape 5"/>
          <p:cNvSpPr/>
          <p:nvPr/>
        </p:nvSpPr>
        <p:spPr>
          <a:xfrm>
            <a:off x="3444545" y="1874520"/>
            <a:ext cx="388620" cy="237744"/>
          </a:xfrm>
          <a:prstGeom prst="rect">
            <a:avLst/>
          </a:prstGeom>
          <a:solidFill>
            <a:schemeClr val="accent1"/>
          </a:solidFill>
          <a:ln/>
        </p:spPr>
      </p:sp>
      <p:sp>
        <p:nvSpPr>
          <p:cNvPr id="11" name="Text 6"/>
          <p:cNvSpPr txBox="1"/>
          <p:nvPr/>
        </p:nvSpPr>
        <p:spPr>
          <a:xfrm>
            <a:off x="3444545" y="1874520"/>
            <a:ext cx="38862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CAD</a:t>
            </a:r>
            <a:endParaRPr lang="en-US" sz="900" dirty="0"/>
          </a:p>
        </p:txBody>
      </p:sp>
      <p:sp>
        <p:nvSpPr>
          <p:cNvPr id="12" name="Text 7"/>
          <p:cNvSpPr txBox="1"/>
          <p:nvPr/>
        </p:nvSpPr>
        <p:spPr>
          <a:xfrm>
            <a:off x="609905" y="3547872"/>
            <a:ext cx="5394960" cy="365760"/>
          </a:xfrm>
          <a:prstGeom prst="rect">
            <a:avLst/>
          </a:prstGeom>
          <a:noFill/>
          <a:ln/>
        </p:spPr>
        <p:txBody>
          <a:bodyPr wrap="square" lIns="0" tIns="0" rIns="0" bIns="0" rtlCol="0" anchor="t"/>
          <a:lstStyle/>
          <a:p>
            <a:pPr indent="0" marL="0">
              <a:buNone/>
            </a:pPr>
            <a:r>
              <a:rPr lang="en-US" sz="1100" b="1" dirty="0">
                <a:solidFill>
                  <a:schemeClr val="tx1"/>
                </a:solidFill>
                <a:latin typeface="Century Gothic" pitchFamily="34" charset="0"/>
                <a:ea typeface="Century Gothic" pitchFamily="34" charset="-122"/>
                <a:cs typeface="Century Gothic" pitchFamily="34" charset="-120"/>
              </a:rPr>
              <a:t>Engine Cylinder Head  </a:t>
            </a:r>
            <a:pPr indent="0" marL="0">
              <a:buNone/>
            </a:pPr>
            <a:r>
              <a:rPr lang="en-US" sz="1100" dirty="0">
                <a:solidFill>
                  <a:schemeClr val="accent3"/>
                </a:solidFill>
              </a:rPr>
              <a:t>Engine cylinder head scanned and rebuilt as parametric CAD.</a:t>
            </a:r>
            <a:endParaRPr lang="en-US" sz="1100" dirty="0"/>
          </a:p>
        </p:txBody>
      </p:sp>
      <p:pic>
        <p:nvPicPr>
          <p:cNvPr id="13" name="Impeller scan" descr="C:\Users\ADMIN\Desktop\TEMP\VSHARK_Website\collateral\assets\scan-impeller.jpg">    </p:cNvPr>
          <p:cNvPicPr>
            <a:picLocks noChangeAspect="1"/>
          </p:cNvPicPr>
          <p:nvPr/>
        </p:nvPicPr>
        <p:blipFill>
          <a:blip r:embed="rId3"/>
          <a:srcRect l="0" r="0" t="2133" b="2133"/>
          <a:stretch/>
        </p:blipFill>
        <p:spPr>
          <a:xfrm>
            <a:off x="6187745" y="1783080"/>
            <a:ext cx="2651760" cy="1691640"/>
          </a:xfrm>
          <a:prstGeom prst="rect">
            <a:avLst/>
          </a:prstGeom>
        </p:spPr>
      </p:pic>
      <p:pic>
        <p:nvPicPr>
          <p:cNvPr id="14" name="Impeller CAD" descr="C:\Users\ADMIN\Desktop\TEMP\VSHARK_Website\collateral\assets\cad-impeller.jpg">    </p:cNvPr>
          <p:cNvPicPr>
            <a:picLocks noChangeAspect="1"/>
          </p:cNvPicPr>
          <p:nvPr/>
        </p:nvPicPr>
        <p:blipFill>
          <a:blip r:embed="rId4"/>
          <a:srcRect l="0" r="0" t="2133" b="2133"/>
          <a:stretch/>
        </p:blipFill>
        <p:spPr>
          <a:xfrm>
            <a:off x="8930945" y="1783080"/>
            <a:ext cx="2651760" cy="1691640"/>
          </a:xfrm>
          <a:prstGeom prst="rect">
            <a:avLst/>
          </a:prstGeom>
        </p:spPr>
      </p:pic>
      <p:sp>
        <p:nvSpPr>
          <p:cNvPr id="15" name="Shape 8"/>
          <p:cNvSpPr/>
          <p:nvPr/>
        </p:nvSpPr>
        <p:spPr>
          <a:xfrm>
            <a:off x="6279185" y="1874520"/>
            <a:ext cx="457200" cy="237744"/>
          </a:xfrm>
          <a:prstGeom prst="rect">
            <a:avLst/>
          </a:prstGeom>
          <a:solidFill>
            <a:schemeClr val="tx2">
              <a:alpha val="85000"/>
            </a:schemeClr>
          </a:solidFill>
          <a:ln/>
        </p:spPr>
      </p:sp>
      <p:sp>
        <p:nvSpPr>
          <p:cNvPr id="16" name="Text 9"/>
          <p:cNvSpPr txBox="1"/>
          <p:nvPr/>
        </p:nvSpPr>
        <p:spPr>
          <a:xfrm>
            <a:off x="6279185" y="1874520"/>
            <a:ext cx="45720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SCAN</a:t>
            </a:r>
            <a:endParaRPr lang="en-US" sz="900" dirty="0"/>
          </a:p>
        </p:txBody>
      </p:sp>
      <p:sp>
        <p:nvSpPr>
          <p:cNvPr id="17" name="Shape 10"/>
          <p:cNvSpPr/>
          <p:nvPr/>
        </p:nvSpPr>
        <p:spPr>
          <a:xfrm>
            <a:off x="9022385" y="1874520"/>
            <a:ext cx="388620" cy="237744"/>
          </a:xfrm>
          <a:prstGeom prst="rect">
            <a:avLst/>
          </a:prstGeom>
          <a:solidFill>
            <a:schemeClr val="accent1"/>
          </a:solidFill>
          <a:ln/>
        </p:spPr>
      </p:sp>
      <p:sp>
        <p:nvSpPr>
          <p:cNvPr id="18" name="Text 11"/>
          <p:cNvSpPr txBox="1"/>
          <p:nvPr/>
        </p:nvSpPr>
        <p:spPr>
          <a:xfrm>
            <a:off x="9022385" y="1874520"/>
            <a:ext cx="38862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CAD</a:t>
            </a:r>
            <a:endParaRPr lang="en-US" sz="900" dirty="0"/>
          </a:p>
        </p:txBody>
      </p:sp>
      <p:sp>
        <p:nvSpPr>
          <p:cNvPr id="19" name="Text 12"/>
          <p:cNvSpPr txBox="1"/>
          <p:nvPr/>
        </p:nvSpPr>
        <p:spPr>
          <a:xfrm>
            <a:off x="6187745" y="3547872"/>
            <a:ext cx="5394960" cy="365760"/>
          </a:xfrm>
          <a:prstGeom prst="rect">
            <a:avLst/>
          </a:prstGeom>
          <a:noFill/>
          <a:ln/>
        </p:spPr>
        <p:txBody>
          <a:bodyPr wrap="square" lIns="0" tIns="0" rIns="0" bIns="0" rtlCol="0" anchor="t"/>
          <a:lstStyle/>
          <a:p>
            <a:pPr indent="0" marL="0">
              <a:buNone/>
            </a:pPr>
            <a:r>
              <a:rPr lang="en-US" sz="1100" b="1" dirty="0">
                <a:solidFill>
                  <a:schemeClr val="tx1"/>
                </a:solidFill>
                <a:latin typeface="Century Gothic" pitchFamily="34" charset="0"/>
                <a:ea typeface="Century Gothic" pitchFamily="34" charset="-122"/>
                <a:cs typeface="Century Gothic" pitchFamily="34" charset="-120"/>
              </a:rPr>
              <a:t>Impeller  </a:t>
            </a:r>
            <a:pPr indent="0" marL="0">
              <a:buNone/>
            </a:pPr>
            <a:r>
              <a:rPr lang="en-US" sz="1100" dirty="0">
                <a:solidFill>
                  <a:schemeClr val="accent3"/>
                </a:solidFill>
              </a:rPr>
              <a:t>Bladed impeller captured and modelled with precise freeform blade surfaces.</a:t>
            </a:r>
            <a:endParaRPr lang="en-US" sz="1100" dirty="0"/>
          </a:p>
        </p:txBody>
      </p:sp>
      <p:pic>
        <p:nvPicPr>
          <p:cNvPr id="20" name="Motorcycle Tubular Frame scan" descr="C:\Users\ADMIN\Desktop\TEMP\VSHARK_Website\collateral\assets\3d-scan-of-a-motorcycle-tubular-frame.jpg">    </p:cNvPr>
          <p:cNvPicPr>
            <a:picLocks noChangeAspect="1"/>
          </p:cNvPicPr>
          <p:nvPr/>
        </p:nvPicPr>
        <p:blipFill>
          <a:blip r:embed="rId5"/>
          <a:srcRect l="0" r="0" t="2133" b="2133"/>
          <a:stretch/>
        </p:blipFill>
        <p:spPr>
          <a:xfrm>
            <a:off x="609905" y="4023360"/>
            <a:ext cx="2651760" cy="1691640"/>
          </a:xfrm>
          <a:prstGeom prst="rect">
            <a:avLst/>
          </a:prstGeom>
        </p:spPr>
      </p:pic>
      <p:pic>
        <p:nvPicPr>
          <p:cNvPr id="21" name="Motorcycle Tubular Frame CAD" descr="C:\Users\ADMIN\Desktop\TEMP\VSHARK_Website\collateral\assets\cad-model-of-a-motorcycle-tubular-frame.jpg">    </p:cNvPr>
          <p:cNvPicPr>
            <a:picLocks noChangeAspect="1"/>
          </p:cNvPicPr>
          <p:nvPr/>
        </p:nvPicPr>
        <p:blipFill>
          <a:blip r:embed="rId6"/>
          <a:srcRect l="0" r="0" t="2133" b="2133"/>
          <a:stretch/>
        </p:blipFill>
        <p:spPr>
          <a:xfrm>
            <a:off x="3353105" y="4023360"/>
            <a:ext cx="2651760" cy="1691640"/>
          </a:xfrm>
          <a:prstGeom prst="rect">
            <a:avLst/>
          </a:prstGeom>
        </p:spPr>
      </p:pic>
      <p:sp>
        <p:nvSpPr>
          <p:cNvPr id="22" name="Shape 13"/>
          <p:cNvSpPr/>
          <p:nvPr/>
        </p:nvSpPr>
        <p:spPr>
          <a:xfrm>
            <a:off x="701345" y="4114800"/>
            <a:ext cx="457200" cy="237744"/>
          </a:xfrm>
          <a:prstGeom prst="rect">
            <a:avLst/>
          </a:prstGeom>
          <a:solidFill>
            <a:schemeClr val="tx2">
              <a:alpha val="85000"/>
            </a:schemeClr>
          </a:solidFill>
          <a:ln/>
        </p:spPr>
      </p:sp>
      <p:sp>
        <p:nvSpPr>
          <p:cNvPr id="23" name="Text 14"/>
          <p:cNvSpPr txBox="1"/>
          <p:nvPr/>
        </p:nvSpPr>
        <p:spPr>
          <a:xfrm>
            <a:off x="701345" y="4114800"/>
            <a:ext cx="45720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SCAN</a:t>
            </a:r>
            <a:endParaRPr lang="en-US" sz="900" dirty="0"/>
          </a:p>
        </p:txBody>
      </p:sp>
      <p:sp>
        <p:nvSpPr>
          <p:cNvPr id="24" name="Shape 15"/>
          <p:cNvSpPr/>
          <p:nvPr/>
        </p:nvSpPr>
        <p:spPr>
          <a:xfrm>
            <a:off x="3444545" y="4114800"/>
            <a:ext cx="388620" cy="237744"/>
          </a:xfrm>
          <a:prstGeom prst="rect">
            <a:avLst/>
          </a:prstGeom>
          <a:solidFill>
            <a:schemeClr val="accent1"/>
          </a:solidFill>
          <a:ln/>
        </p:spPr>
      </p:sp>
      <p:sp>
        <p:nvSpPr>
          <p:cNvPr id="25" name="Text 16"/>
          <p:cNvSpPr txBox="1"/>
          <p:nvPr/>
        </p:nvSpPr>
        <p:spPr>
          <a:xfrm>
            <a:off x="3444545" y="4114800"/>
            <a:ext cx="38862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CAD</a:t>
            </a:r>
            <a:endParaRPr lang="en-US" sz="900" dirty="0"/>
          </a:p>
        </p:txBody>
      </p:sp>
      <p:sp>
        <p:nvSpPr>
          <p:cNvPr id="26" name="Text 17"/>
          <p:cNvSpPr txBox="1"/>
          <p:nvPr/>
        </p:nvSpPr>
        <p:spPr>
          <a:xfrm>
            <a:off x="609905" y="5788152"/>
            <a:ext cx="5394960" cy="365760"/>
          </a:xfrm>
          <a:prstGeom prst="rect">
            <a:avLst/>
          </a:prstGeom>
          <a:noFill/>
          <a:ln/>
        </p:spPr>
        <p:txBody>
          <a:bodyPr wrap="square" lIns="0" tIns="0" rIns="0" bIns="0" rtlCol="0" anchor="t"/>
          <a:lstStyle/>
          <a:p>
            <a:pPr indent="0" marL="0">
              <a:buNone/>
            </a:pPr>
            <a:r>
              <a:rPr lang="en-US" sz="1100" b="1" dirty="0">
                <a:solidFill>
                  <a:schemeClr val="tx1"/>
                </a:solidFill>
                <a:latin typeface="Century Gothic" pitchFamily="34" charset="0"/>
                <a:ea typeface="Century Gothic" pitchFamily="34" charset="-122"/>
                <a:cs typeface="Century Gothic" pitchFamily="34" charset="-120"/>
              </a:rPr>
              <a:t>Motorcycle Tubular Frame  </a:t>
            </a:r>
            <a:pPr indent="0" marL="0">
              <a:buNone/>
            </a:pPr>
            <a:r>
              <a:rPr lang="en-US" sz="1100" dirty="0">
                <a:solidFill>
                  <a:schemeClr val="accent3"/>
                </a:solidFill>
              </a:rPr>
              <a:t>Tubular motorcycle frame digitised and converted into an editable CAD model.</a:t>
            </a:r>
            <a:endParaRPr lang="en-US" sz="1100" dirty="0"/>
          </a:p>
        </p:txBody>
      </p:sp>
      <p:pic>
        <p:nvPicPr>
          <p:cNvPr id="27" name="Bumper scan" descr="C:\Users\ADMIN\Desktop\TEMP\VSHARK_Website\collateral\assets\bumper-scan.jpg">    </p:cNvPr>
          <p:cNvPicPr>
            <a:picLocks noChangeAspect="1"/>
          </p:cNvPicPr>
          <p:nvPr/>
        </p:nvPicPr>
        <p:blipFill>
          <a:blip r:embed="rId7"/>
          <a:srcRect l="0" r="0" t="2133" b="2133"/>
          <a:stretch/>
        </p:blipFill>
        <p:spPr>
          <a:xfrm>
            <a:off x="6187745" y="4023360"/>
            <a:ext cx="2651760" cy="1691640"/>
          </a:xfrm>
          <a:prstGeom prst="rect">
            <a:avLst/>
          </a:prstGeom>
        </p:spPr>
      </p:pic>
      <p:pic>
        <p:nvPicPr>
          <p:cNvPr id="28" name="Bumper CAD" descr="C:\Users\ADMIN\Desktop\TEMP\VSHARK_Website\collateral\assets\bumper-cad.jpg">    </p:cNvPr>
          <p:cNvPicPr>
            <a:picLocks noChangeAspect="1"/>
          </p:cNvPicPr>
          <p:nvPr/>
        </p:nvPicPr>
        <p:blipFill>
          <a:blip r:embed="rId8"/>
          <a:srcRect l="0" r="0" t="2133" b="2133"/>
          <a:stretch/>
        </p:blipFill>
        <p:spPr>
          <a:xfrm>
            <a:off x="8930945" y="4023360"/>
            <a:ext cx="2651760" cy="1691640"/>
          </a:xfrm>
          <a:prstGeom prst="rect">
            <a:avLst/>
          </a:prstGeom>
        </p:spPr>
      </p:pic>
      <p:sp>
        <p:nvSpPr>
          <p:cNvPr id="29" name="Shape 18"/>
          <p:cNvSpPr/>
          <p:nvPr/>
        </p:nvSpPr>
        <p:spPr>
          <a:xfrm>
            <a:off x="6279185" y="4114800"/>
            <a:ext cx="457200" cy="237744"/>
          </a:xfrm>
          <a:prstGeom prst="rect">
            <a:avLst/>
          </a:prstGeom>
          <a:solidFill>
            <a:schemeClr val="tx2">
              <a:alpha val="85000"/>
            </a:schemeClr>
          </a:solidFill>
          <a:ln/>
        </p:spPr>
      </p:sp>
      <p:sp>
        <p:nvSpPr>
          <p:cNvPr id="30" name="Text 19"/>
          <p:cNvSpPr txBox="1"/>
          <p:nvPr/>
        </p:nvSpPr>
        <p:spPr>
          <a:xfrm>
            <a:off x="6279185" y="4114800"/>
            <a:ext cx="45720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SCAN</a:t>
            </a:r>
            <a:endParaRPr lang="en-US" sz="900" dirty="0"/>
          </a:p>
        </p:txBody>
      </p:sp>
      <p:sp>
        <p:nvSpPr>
          <p:cNvPr id="31" name="Shape 20"/>
          <p:cNvSpPr/>
          <p:nvPr/>
        </p:nvSpPr>
        <p:spPr>
          <a:xfrm>
            <a:off x="9022385" y="4114800"/>
            <a:ext cx="388620" cy="237744"/>
          </a:xfrm>
          <a:prstGeom prst="rect">
            <a:avLst/>
          </a:prstGeom>
          <a:solidFill>
            <a:schemeClr val="accent1"/>
          </a:solidFill>
          <a:ln/>
        </p:spPr>
      </p:sp>
      <p:sp>
        <p:nvSpPr>
          <p:cNvPr id="32" name="Text 21"/>
          <p:cNvSpPr txBox="1"/>
          <p:nvPr/>
        </p:nvSpPr>
        <p:spPr>
          <a:xfrm>
            <a:off x="9022385" y="4114800"/>
            <a:ext cx="388620" cy="237744"/>
          </a:xfrm>
          <a:prstGeom prst="rect">
            <a:avLst/>
          </a:prstGeom>
          <a:noFill/>
          <a:ln/>
        </p:spPr>
        <p:txBody>
          <a:bodyPr wrap="square" lIns="0" tIns="0" rIns="0" bIns="0" rtlCol="0" anchor="ctr"/>
          <a:lstStyle/>
          <a:p>
            <a:pPr algn="ctr" indent="0" marL="0">
              <a:buNone/>
            </a:pPr>
            <a:r>
              <a:rPr lang="en-US" sz="900" spc="100" kern="0" dirty="0">
                <a:solidFill>
                  <a:schemeClr val="bg1"/>
                </a:solidFill>
                <a:latin typeface="Consolas" pitchFamily="34" charset="0"/>
                <a:ea typeface="Consolas" pitchFamily="34" charset="-122"/>
                <a:cs typeface="Consolas" pitchFamily="34" charset="-120"/>
              </a:rPr>
              <a:t>CAD</a:t>
            </a:r>
            <a:endParaRPr lang="en-US" sz="900" dirty="0"/>
          </a:p>
        </p:txBody>
      </p:sp>
      <p:sp>
        <p:nvSpPr>
          <p:cNvPr id="33" name="Text 22"/>
          <p:cNvSpPr txBox="1"/>
          <p:nvPr/>
        </p:nvSpPr>
        <p:spPr>
          <a:xfrm>
            <a:off x="6187745" y="5788152"/>
            <a:ext cx="5394960" cy="365760"/>
          </a:xfrm>
          <a:prstGeom prst="rect">
            <a:avLst/>
          </a:prstGeom>
          <a:noFill/>
          <a:ln/>
        </p:spPr>
        <p:txBody>
          <a:bodyPr wrap="square" lIns="0" tIns="0" rIns="0" bIns="0" rtlCol="0" anchor="t"/>
          <a:lstStyle/>
          <a:p>
            <a:pPr indent="0" marL="0">
              <a:buNone/>
            </a:pPr>
            <a:r>
              <a:rPr lang="en-US" sz="1100" b="1" dirty="0">
                <a:solidFill>
                  <a:schemeClr val="tx1"/>
                </a:solidFill>
                <a:latin typeface="Century Gothic" pitchFamily="34" charset="0"/>
                <a:ea typeface="Century Gothic" pitchFamily="34" charset="-122"/>
                <a:cs typeface="Century Gothic" pitchFamily="34" charset="-120"/>
              </a:rPr>
              <a:t>Bumper  </a:t>
            </a:r>
            <a:pPr indent="0" marL="0">
              <a:buNone/>
            </a:pPr>
            <a:r>
              <a:rPr lang="en-US" sz="1100" dirty="0">
                <a:solidFill>
                  <a:schemeClr val="accent3"/>
                </a:solidFill>
              </a:rPr>
              <a:t>Vehicle bumper scanned and resurfaced for tooling.</a:t>
            </a:r>
            <a:endParaRPr lang="en-US" sz="11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609905" y="548640"/>
            <a:ext cx="731520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( 04 ) — PORTFOLIO</a:t>
            </a:r>
            <a:endParaRPr lang="en-US" sz="1000" dirty="0"/>
          </a:p>
        </p:txBody>
      </p:sp>
      <p:sp>
        <p:nvSpPr>
          <p:cNvPr id="3" name="Text 1"/>
          <p:cNvSpPr/>
          <p:nvPr>
            <p:ph idx="103" type="title" hasCustomPrompt="1"/>
          </p:nvPr>
        </p:nvSpPr>
        <p:spPr>
          <a:xfrm>
            <a:off x="609905" y="822960"/>
            <a:ext cx="7498080" cy="73152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Design &amp; </a:t>
            </a:r>
            <a:pPr algn="l" indent="0" marL="0">
              <a:buNone/>
            </a:pPr>
            <a:r>
              <a:rPr lang="en-US" sz="3200" dirty="0">
                <a:solidFill>
                  <a:schemeClr val="accent1"/>
                </a:solidFill>
                <a:latin typeface="Century Gothic" pitchFamily="34" charset="0"/>
                <a:ea typeface="Century Gothic" pitchFamily="34" charset="-122"/>
                <a:cs typeface="Century Gothic" pitchFamily="34" charset="-120"/>
              </a:rPr>
              <a:t>visualisation</a:t>
            </a:r>
            <a:endParaRPr lang="en-US" sz="3200" dirty="0"/>
          </a:p>
        </p:txBody>
      </p:sp>
      <p:sp>
        <p:nvSpPr>
          <p:cNvPr id="5" name="Text 2"/>
          <p:cNvSpPr txBox="1"/>
          <p:nvPr/>
        </p:nvSpPr>
        <p:spPr>
          <a:xfrm>
            <a:off x="8138160" y="868680"/>
            <a:ext cx="3447288" cy="731520"/>
          </a:xfrm>
          <a:prstGeom prst="rect">
            <a:avLst/>
          </a:prstGeom>
          <a:noFill/>
          <a:ln/>
        </p:spPr>
        <p:txBody>
          <a:bodyPr wrap="square" lIns="0" tIns="0" rIns="0" bIns="0" rtlCol="0" anchor="t"/>
          <a:lstStyle/>
          <a:p>
            <a:pPr indent="0" marL="0">
              <a:buNone/>
            </a:pPr>
            <a:r>
              <a:rPr lang="en-US" sz="1200" dirty="0">
                <a:solidFill>
                  <a:schemeClr val="accent6"/>
                </a:solidFill>
              </a:rPr>
              <a:t>Surfacing, sculpting and photoreal rendering — visuals that sell a product before it is made.</a:t>
            </a:r>
            <a:endParaRPr lang="en-US" sz="1200" dirty="0"/>
          </a:p>
        </p:txBody>
      </p:sp>
      <p:pic>
        <p:nvPicPr>
          <p:cNvPr id="6" name="Product rendering" descr="C:\Users\ADMIN\Desktop\TEMP\VSHARK_Website\collateral\assets\rendeing2.jpg">    </p:cNvPr>
          <p:cNvPicPr>
            <a:picLocks noChangeAspect="1"/>
          </p:cNvPicPr>
          <p:nvPr/>
        </p:nvPicPr>
        <p:blipFill>
          <a:blip r:embed="rId1"/>
          <a:srcRect l="8265" r="8265" t="0" b="0"/>
          <a:stretch/>
        </p:blipFill>
        <p:spPr>
          <a:xfrm>
            <a:off x="609905" y="1783080"/>
            <a:ext cx="5440680" cy="4343400"/>
          </a:xfrm>
          <a:prstGeom prst="rect">
            <a:avLst/>
          </a:prstGeom>
        </p:spPr>
      </p:pic>
      <p:sp>
        <p:nvSpPr>
          <p:cNvPr id="7" name="Shape 3"/>
          <p:cNvSpPr/>
          <p:nvPr/>
        </p:nvSpPr>
        <p:spPr>
          <a:xfrm>
            <a:off x="609905" y="5440680"/>
            <a:ext cx="5440680" cy="685800"/>
          </a:xfrm>
          <a:prstGeom prst="rect">
            <a:avLst/>
          </a:prstGeom>
          <a:solidFill>
            <a:schemeClr val="tx2">
              <a:alpha val="80000"/>
            </a:schemeClr>
          </a:solidFill>
          <a:ln/>
        </p:spPr>
      </p:sp>
      <p:sp>
        <p:nvSpPr>
          <p:cNvPr id="8" name="Text 4"/>
          <p:cNvSpPr txBox="1"/>
          <p:nvPr/>
        </p:nvSpPr>
        <p:spPr>
          <a:xfrm>
            <a:off x="747065" y="5504688"/>
            <a:ext cx="5166360" cy="228600"/>
          </a:xfrm>
          <a:prstGeom prst="rect">
            <a:avLst/>
          </a:prstGeom>
          <a:noFill/>
          <a:ln/>
        </p:spPr>
        <p:txBody>
          <a:bodyPr wrap="square" lIns="0" tIns="0" rIns="0" bIns="0" rtlCol="0" anchor="t"/>
          <a:lstStyle/>
          <a:p>
            <a:pPr indent="0" marL="0">
              <a:buNone/>
            </a:pPr>
            <a:r>
              <a:rPr lang="en-US" sz="1200" b="1" dirty="0">
                <a:solidFill>
                  <a:schemeClr val="bg1"/>
                </a:solidFill>
                <a:latin typeface="Century Gothic" pitchFamily="34" charset="0"/>
                <a:ea typeface="Century Gothic" pitchFamily="34" charset="-122"/>
                <a:cs typeface="Century Gothic" pitchFamily="34" charset="-120"/>
              </a:rPr>
              <a:t>Product rendering</a:t>
            </a:r>
            <a:endParaRPr lang="en-US" sz="1200" dirty="0"/>
          </a:p>
        </p:txBody>
      </p:sp>
      <p:sp>
        <p:nvSpPr>
          <p:cNvPr id="9" name="Text 5"/>
          <p:cNvSpPr txBox="1"/>
          <p:nvPr/>
        </p:nvSpPr>
        <p:spPr>
          <a:xfrm>
            <a:off x="747065" y="5742432"/>
            <a:ext cx="5166360" cy="329184"/>
          </a:xfrm>
          <a:prstGeom prst="rect">
            <a:avLst/>
          </a:prstGeom>
          <a:noFill/>
          <a:ln/>
        </p:spPr>
        <p:txBody>
          <a:bodyPr wrap="square" lIns="0" tIns="0" rIns="0" bIns="0" rtlCol="0" anchor="t"/>
          <a:lstStyle/>
          <a:p>
            <a:pPr indent="0" marL="0">
              <a:buNone/>
            </a:pPr>
            <a:r>
              <a:rPr lang="en-US" sz="950" dirty="0">
                <a:solidFill>
                  <a:schemeClr val="accent5"/>
                </a:solidFill>
              </a:rPr>
              <a:t>Photoreal product visuals: electronics, tools and props.</a:t>
            </a:r>
            <a:endParaRPr lang="en-US" sz="950" dirty="0"/>
          </a:p>
        </p:txBody>
      </p:sp>
      <p:pic>
        <p:nvPicPr>
          <p:cNvPr id="10" name="Eyewear surfacing" descr="C:\Users\ADMIN\Desktop\TEMP\VSHARK_Website\collateral\assets\eye-wear1.jpg">    </p:cNvPr>
          <p:cNvPicPr>
            <a:picLocks noChangeAspect="1"/>
          </p:cNvPicPr>
          <p:nvPr/>
        </p:nvPicPr>
        <p:blipFill>
          <a:blip r:embed="rId2"/>
          <a:srcRect l="8884" r="8884" t="0" b="0"/>
          <a:stretch/>
        </p:blipFill>
        <p:spPr>
          <a:xfrm>
            <a:off x="6187745" y="1783080"/>
            <a:ext cx="2651760" cy="2148840"/>
          </a:xfrm>
          <a:prstGeom prst="rect">
            <a:avLst/>
          </a:prstGeom>
        </p:spPr>
      </p:pic>
      <p:sp>
        <p:nvSpPr>
          <p:cNvPr id="11" name="Shape 6"/>
          <p:cNvSpPr/>
          <p:nvPr/>
        </p:nvSpPr>
        <p:spPr>
          <a:xfrm>
            <a:off x="6187745" y="3246120"/>
            <a:ext cx="2651760" cy="685800"/>
          </a:xfrm>
          <a:prstGeom prst="rect">
            <a:avLst/>
          </a:prstGeom>
          <a:solidFill>
            <a:schemeClr val="tx2">
              <a:alpha val="80000"/>
            </a:schemeClr>
          </a:solidFill>
          <a:ln/>
        </p:spPr>
      </p:sp>
      <p:sp>
        <p:nvSpPr>
          <p:cNvPr id="12" name="Text 7"/>
          <p:cNvSpPr txBox="1"/>
          <p:nvPr/>
        </p:nvSpPr>
        <p:spPr>
          <a:xfrm>
            <a:off x="6324905" y="3310128"/>
            <a:ext cx="2377440" cy="228600"/>
          </a:xfrm>
          <a:prstGeom prst="rect">
            <a:avLst/>
          </a:prstGeom>
          <a:noFill/>
          <a:ln/>
        </p:spPr>
        <p:txBody>
          <a:bodyPr wrap="square" lIns="0" tIns="0" rIns="0" bIns="0" rtlCol="0" anchor="t"/>
          <a:lstStyle/>
          <a:p>
            <a:pPr indent="0" marL="0">
              <a:buNone/>
            </a:pPr>
            <a:r>
              <a:rPr lang="en-US" sz="1200" b="1" dirty="0">
                <a:solidFill>
                  <a:schemeClr val="bg1"/>
                </a:solidFill>
                <a:latin typeface="Century Gothic" pitchFamily="34" charset="0"/>
                <a:ea typeface="Century Gothic" pitchFamily="34" charset="-122"/>
                <a:cs typeface="Century Gothic" pitchFamily="34" charset="-120"/>
              </a:rPr>
              <a:t>Eyewear surfacing</a:t>
            </a:r>
            <a:endParaRPr lang="en-US" sz="1200" dirty="0"/>
          </a:p>
        </p:txBody>
      </p:sp>
      <p:sp>
        <p:nvSpPr>
          <p:cNvPr id="13" name="Text 8"/>
          <p:cNvSpPr txBox="1"/>
          <p:nvPr/>
        </p:nvSpPr>
        <p:spPr>
          <a:xfrm>
            <a:off x="6324905" y="3547872"/>
            <a:ext cx="2377440" cy="329184"/>
          </a:xfrm>
          <a:prstGeom prst="rect">
            <a:avLst/>
          </a:prstGeom>
          <a:noFill/>
          <a:ln/>
        </p:spPr>
        <p:txBody>
          <a:bodyPr wrap="square" lIns="0" tIns="0" rIns="0" bIns="0" rtlCol="0" anchor="t"/>
          <a:lstStyle/>
          <a:p>
            <a:pPr indent="0" marL="0">
              <a:buNone/>
            </a:pPr>
            <a:r>
              <a:rPr lang="en-US" sz="950" dirty="0">
                <a:solidFill>
                  <a:schemeClr val="accent5"/>
                </a:solidFill>
              </a:rPr>
              <a:t>Eyewear frame surfaced over scan data for a custom-fit product.</a:t>
            </a:r>
            <a:endParaRPr lang="en-US" sz="950" dirty="0"/>
          </a:p>
        </p:txBody>
      </p:sp>
      <p:pic>
        <p:nvPicPr>
          <p:cNvPr id="14" name="Jewellery rendering" descr="C:\Users\ADMIN\Desktop\TEMP\VSHARK_Website\collateral\assets\render-ram-ring.jpg">    </p:cNvPr>
          <p:cNvPicPr>
            <a:picLocks noChangeAspect="1"/>
          </p:cNvPicPr>
          <p:nvPr/>
        </p:nvPicPr>
        <p:blipFill>
          <a:blip r:embed="rId3"/>
          <a:srcRect l="0" r="0" t="9483" b="9483"/>
          <a:stretch/>
        </p:blipFill>
        <p:spPr>
          <a:xfrm>
            <a:off x="8930945" y="1783080"/>
            <a:ext cx="2651760" cy="2148840"/>
          </a:xfrm>
          <a:prstGeom prst="rect">
            <a:avLst/>
          </a:prstGeom>
        </p:spPr>
      </p:pic>
      <p:sp>
        <p:nvSpPr>
          <p:cNvPr id="15" name="Shape 9"/>
          <p:cNvSpPr/>
          <p:nvPr/>
        </p:nvSpPr>
        <p:spPr>
          <a:xfrm>
            <a:off x="8930945" y="3246120"/>
            <a:ext cx="2651760" cy="685800"/>
          </a:xfrm>
          <a:prstGeom prst="rect">
            <a:avLst/>
          </a:prstGeom>
          <a:solidFill>
            <a:schemeClr val="tx2">
              <a:alpha val="80000"/>
            </a:schemeClr>
          </a:solidFill>
          <a:ln/>
        </p:spPr>
      </p:sp>
      <p:sp>
        <p:nvSpPr>
          <p:cNvPr id="16" name="Text 10"/>
          <p:cNvSpPr txBox="1"/>
          <p:nvPr/>
        </p:nvSpPr>
        <p:spPr>
          <a:xfrm>
            <a:off x="9068105" y="3310128"/>
            <a:ext cx="2377440" cy="228600"/>
          </a:xfrm>
          <a:prstGeom prst="rect">
            <a:avLst/>
          </a:prstGeom>
          <a:noFill/>
          <a:ln/>
        </p:spPr>
        <p:txBody>
          <a:bodyPr wrap="square" lIns="0" tIns="0" rIns="0" bIns="0" rtlCol="0" anchor="t"/>
          <a:lstStyle/>
          <a:p>
            <a:pPr indent="0" marL="0">
              <a:buNone/>
            </a:pPr>
            <a:r>
              <a:rPr lang="en-US" sz="1200" b="1" dirty="0">
                <a:solidFill>
                  <a:schemeClr val="bg1"/>
                </a:solidFill>
                <a:latin typeface="Century Gothic" pitchFamily="34" charset="0"/>
                <a:ea typeface="Century Gothic" pitchFamily="34" charset="-122"/>
                <a:cs typeface="Century Gothic" pitchFamily="34" charset="-120"/>
              </a:rPr>
              <a:t>Jewellery rendering</a:t>
            </a:r>
            <a:endParaRPr lang="en-US" sz="1200" dirty="0"/>
          </a:p>
        </p:txBody>
      </p:sp>
      <p:sp>
        <p:nvSpPr>
          <p:cNvPr id="17" name="Text 11"/>
          <p:cNvSpPr txBox="1"/>
          <p:nvPr/>
        </p:nvSpPr>
        <p:spPr>
          <a:xfrm>
            <a:off x="9068105" y="3547872"/>
            <a:ext cx="2377440" cy="329184"/>
          </a:xfrm>
          <a:prstGeom prst="rect">
            <a:avLst/>
          </a:prstGeom>
          <a:noFill/>
          <a:ln/>
        </p:spPr>
        <p:txBody>
          <a:bodyPr wrap="square" lIns="0" tIns="0" rIns="0" bIns="0" rtlCol="0" anchor="t"/>
          <a:lstStyle/>
          <a:p>
            <a:pPr indent="0" marL="0">
              <a:buNone/>
            </a:pPr>
            <a:r>
              <a:rPr lang="en-US" sz="950" dirty="0">
                <a:solidFill>
                  <a:schemeClr val="accent5"/>
                </a:solidFill>
              </a:rPr>
              <a:t>Rings rendered with true metal reflections and gemstone sparkle.</a:t>
            </a:r>
            <a:endParaRPr lang="en-US" sz="950" dirty="0"/>
          </a:p>
        </p:txBody>
      </p:sp>
      <p:pic>
        <p:nvPicPr>
          <p:cNvPr id="18" name="Character sculpts" descr="C:\Users\ADMIN\Desktop\TEMP\VSHARK_Website\collateral\assets\rendeing5.jpg">    </p:cNvPr>
          <p:cNvPicPr>
            <a:picLocks noChangeAspect="1"/>
          </p:cNvPicPr>
          <p:nvPr/>
        </p:nvPicPr>
        <p:blipFill>
          <a:blip r:embed="rId4"/>
          <a:srcRect l="8884" r="8884" t="0" b="0"/>
          <a:stretch/>
        </p:blipFill>
        <p:spPr>
          <a:xfrm>
            <a:off x="6187745" y="3977640"/>
            <a:ext cx="2651760" cy="2148840"/>
          </a:xfrm>
          <a:prstGeom prst="rect">
            <a:avLst/>
          </a:prstGeom>
        </p:spPr>
      </p:pic>
      <p:sp>
        <p:nvSpPr>
          <p:cNvPr id="19" name="Shape 12"/>
          <p:cNvSpPr/>
          <p:nvPr/>
        </p:nvSpPr>
        <p:spPr>
          <a:xfrm>
            <a:off x="6187745" y="5440680"/>
            <a:ext cx="2651760" cy="685800"/>
          </a:xfrm>
          <a:prstGeom prst="rect">
            <a:avLst/>
          </a:prstGeom>
          <a:solidFill>
            <a:schemeClr val="tx2">
              <a:alpha val="80000"/>
            </a:schemeClr>
          </a:solidFill>
          <a:ln/>
        </p:spPr>
      </p:sp>
      <p:sp>
        <p:nvSpPr>
          <p:cNvPr id="20" name="Text 13"/>
          <p:cNvSpPr txBox="1"/>
          <p:nvPr/>
        </p:nvSpPr>
        <p:spPr>
          <a:xfrm>
            <a:off x="6324905" y="5504688"/>
            <a:ext cx="2377440" cy="228600"/>
          </a:xfrm>
          <a:prstGeom prst="rect">
            <a:avLst/>
          </a:prstGeom>
          <a:noFill/>
          <a:ln/>
        </p:spPr>
        <p:txBody>
          <a:bodyPr wrap="square" lIns="0" tIns="0" rIns="0" bIns="0" rtlCol="0" anchor="t"/>
          <a:lstStyle/>
          <a:p>
            <a:pPr indent="0" marL="0">
              <a:buNone/>
            </a:pPr>
            <a:r>
              <a:rPr lang="en-US" sz="1200" b="1" dirty="0">
                <a:solidFill>
                  <a:schemeClr val="bg1"/>
                </a:solidFill>
                <a:latin typeface="Century Gothic" pitchFamily="34" charset="0"/>
                <a:ea typeface="Century Gothic" pitchFamily="34" charset="-122"/>
                <a:cs typeface="Century Gothic" pitchFamily="34" charset="-120"/>
              </a:rPr>
              <a:t>Character sculpts</a:t>
            </a:r>
            <a:endParaRPr lang="en-US" sz="1200" dirty="0"/>
          </a:p>
        </p:txBody>
      </p:sp>
      <p:sp>
        <p:nvSpPr>
          <p:cNvPr id="21" name="Text 14"/>
          <p:cNvSpPr txBox="1"/>
          <p:nvPr/>
        </p:nvSpPr>
        <p:spPr>
          <a:xfrm>
            <a:off x="6324905" y="5742432"/>
            <a:ext cx="2377440" cy="329184"/>
          </a:xfrm>
          <a:prstGeom prst="rect">
            <a:avLst/>
          </a:prstGeom>
          <a:noFill/>
          <a:ln/>
        </p:spPr>
        <p:txBody>
          <a:bodyPr wrap="square" lIns="0" tIns="0" rIns="0" bIns="0" rtlCol="0" anchor="t"/>
          <a:lstStyle/>
          <a:p>
            <a:pPr indent="0" marL="0">
              <a:buNone/>
            </a:pPr>
            <a:r>
              <a:rPr lang="en-US" sz="950" dirty="0">
                <a:solidFill>
                  <a:schemeClr val="accent5"/>
                </a:solidFill>
              </a:rPr>
              <a:t>Figures, reliefs and creatures sculpted digitally for high-detail resin printing.</a:t>
            </a:r>
            <a:endParaRPr lang="en-US" sz="950" dirty="0"/>
          </a:p>
        </p:txBody>
      </p:sp>
      <p:pic>
        <p:nvPicPr>
          <p:cNvPr id="22" name="Exhibition stands" descr="C:\Users\ADMIN\Desktop\TEMP\VSHARK_Website\collateral\assets\render-exhibition.jpg">    </p:cNvPr>
          <p:cNvPicPr>
            <a:picLocks noChangeAspect="1"/>
          </p:cNvPicPr>
          <p:nvPr/>
        </p:nvPicPr>
        <p:blipFill>
          <a:blip r:embed="rId5"/>
          <a:srcRect l="15279" r="15279" t="0" b="0"/>
          <a:stretch/>
        </p:blipFill>
        <p:spPr>
          <a:xfrm>
            <a:off x="8930945" y="3977640"/>
            <a:ext cx="2651760" cy="2148840"/>
          </a:xfrm>
          <a:prstGeom prst="rect">
            <a:avLst/>
          </a:prstGeom>
        </p:spPr>
      </p:pic>
      <p:sp>
        <p:nvSpPr>
          <p:cNvPr id="23" name="Shape 15"/>
          <p:cNvSpPr/>
          <p:nvPr/>
        </p:nvSpPr>
        <p:spPr>
          <a:xfrm>
            <a:off x="8930945" y="5440680"/>
            <a:ext cx="2651760" cy="685800"/>
          </a:xfrm>
          <a:prstGeom prst="rect">
            <a:avLst/>
          </a:prstGeom>
          <a:solidFill>
            <a:schemeClr val="tx2">
              <a:alpha val="80000"/>
            </a:schemeClr>
          </a:solidFill>
          <a:ln/>
        </p:spPr>
      </p:sp>
      <p:sp>
        <p:nvSpPr>
          <p:cNvPr id="24" name="Text 16"/>
          <p:cNvSpPr txBox="1"/>
          <p:nvPr/>
        </p:nvSpPr>
        <p:spPr>
          <a:xfrm>
            <a:off x="9068105" y="5504688"/>
            <a:ext cx="2377440" cy="228600"/>
          </a:xfrm>
          <a:prstGeom prst="rect">
            <a:avLst/>
          </a:prstGeom>
          <a:noFill/>
          <a:ln/>
        </p:spPr>
        <p:txBody>
          <a:bodyPr wrap="square" lIns="0" tIns="0" rIns="0" bIns="0" rtlCol="0" anchor="t"/>
          <a:lstStyle/>
          <a:p>
            <a:pPr indent="0" marL="0">
              <a:buNone/>
            </a:pPr>
            <a:r>
              <a:rPr lang="en-US" sz="1200" b="1" dirty="0">
                <a:solidFill>
                  <a:schemeClr val="bg1"/>
                </a:solidFill>
                <a:latin typeface="Century Gothic" pitchFamily="34" charset="0"/>
                <a:ea typeface="Century Gothic" pitchFamily="34" charset="-122"/>
                <a:cs typeface="Century Gothic" pitchFamily="34" charset="-120"/>
              </a:rPr>
              <a:t>Exhibition stands</a:t>
            </a:r>
            <a:endParaRPr lang="en-US" sz="1200" dirty="0"/>
          </a:p>
        </p:txBody>
      </p:sp>
      <p:sp>
        <p:nvSpPr>
          <p:cNvPr id="25" name="Text 17"/>
          <p:cNvSpPr txBox="1"/>
          <p:nvPr/>
        </p:nvSpPr>
        <p:spPr>
          <a:xfrm>
            <a:off x="9068105" y="5742432"/>
            <a:ext cx="2377440" cy="329184"/>
          </a:xfrm>
          <a:prstGeom prst="rect">
            <a:avLst/>
          </a:prstGeom>
          <a:noFill/>
          <a:ln/>
        </p:spPr>
        <p:txBody>
          <a:bodyPr wrap="square" lIns="0" tIns="0" rIns="0" bIns="0" rtlCol="0" anchor="t"/>
          <a:lstStyle/>
          <a:p>
            <a:pPr indent="0" marL="0">
              <a:buNone/>
            </a:pPr>
            <a:r>
              <a:rPr lang="en-US" sz="950" dirty="0">
                <a:solidFill>
                  <a:schemeClr val="accent5"/>
                </a:solidFill>
              </a:rPr>
              <a:t>Exhibition stands and interiors visualised before they are built.</a:t>
            </a:r>
            <a:endParaRPr lang="en-US" sz="95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609905" y="548640"/>
            <a:ext cx="731520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( 05 ) — INDUSTRIES</a:t>
            </a:r>
            <a:endParaRPr lang="en-US" sz="1000" dirty="0"/>
          </a:p>
        </p:txBody>
      </p:sp>
      <p:sp>
        <p:nvSpPr>
          <p:cNvPr id="3" name="Text 1"/>
          <p:cNvSpPr/>
          <p:nvPr>
            <p:ph idx="103" type="title" hasCustomPrompt="1"/>
          </p:nvPr>
        </p:nvSpPr>
        <p:spPr>
          <a:xfrm>
            <a:off x="609905" y="822960"/>
            <a:ext cx="7498080" cy="73152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Industries </a:t>
            </a:r>
            <a:pPr algn="l" indent="0" marL="0">
              <a:buNone/>
            </a:pPr>
            <a:r>
              <a:rPr lang="en-US" sz="3200" dirty="0">
                <a:solidFill>
                  <a:schemeClr val="accent1"/>
                </a:solidFill>
                <a:latin typeface="Century Gothic" pitchFamily="34" charset="0"/>
                <a:ea typeface="Century Gothic" pitchFamily="34" charset="-122"/>
                <a:cs typeface="Century Gothic" pitchFamily="34" charset="-120"/>
              </a:rPr>
              <a:t>we serve</a:t>
            </a:r>
            <a:endParaRPr lang="en-US" sz="3200" dirty="0"/>
          </a:p>
        </p:txBody>
      </p:sp>
      <p:sp>
        <p:nvSpPr>
          <p:cNvPr id="5" name="Text 2"/>
          <p:cNvSpPr txBox="1"/>
          <p:nvPr/>
        </p:nvSpPr>
        <p:spPr>
          <a:xfrm>
            <a:off x="8138160" y="1188720"/>
            <a:ext cx="3447288" cy="274320"/>
          </a:xfrm>
          <a:prstGeom prst="rect">
            <a:avLst/>
          </a:prstGeom>
          <a:noFill/>
          <a:ln/>
        </p:spPr>
        <p:txBody>
          <a:bodyPr wrap="square" lIns="0" tIns="0" rIns="0" bIns="0" rtlCol="0" anchor="t"/>
          <a:lstStyle/>
          <a:p>
            <a:pPr algn="r" indent="0" marL="0">
              <a:buNone/>
            </a:pPr>
            <a:r>
              <a:rPr lang="en-US" sz="1200" dirty="0">
                <a:solidFill>
                  <a:schemeClr val="accent6"/>
                </a:solidFill>
              </a:rPr>
              <a:t>Six sectors, one standard of precision.</a:t>
            </a:r>
            <a:endParaRPr lang="en-US" sz="1200" dirty="0"/>
          </a:p>
        </p:txBody>
      </p:sp>
      <p:pic>
        <p:nvPicPr>
          <p:cNvPr id="6" name="Aerospace" descr="C:\Users\ADMIN\Desktop\TEMP\VSHARK_Website\collateral\assets\3d-laser-scanning-of-a-jet-engine-fan-blade-in-an-aircraft-hangar-4x5.jpg">    </p:cNvPr>
          <p:cNvPicPr>
            <a:picLocks noChangeAspect="1"/>
          </p:cNvPicPr>
          <p:nvPr/>
        </p:nvPicPr>
        <p:blipFill>
          <a:blip r:embed="rId1"/>
          <a:srcRect l="25331" r="25331" t="0" b="0"/>
          <a:stretch/>
        </p:blipFill>
        <p:spPr>
          <a:xfrm>
            <a:off x="609905" y="1783080"/>
            <a:ext cx="1714348" cy="4343400"/>
          </a:xfrm>
          <a:prstGeom prst="rect">
            <a:avLst/>
          </a:prstGeom>
        </p:spPr>
      </p:pic>
      <p:sp>
        <p:nvSpPr>
          <p:cNvPr id="7" name="Shape 3"/>
          <p:cNvSpPr/>
          <p:nvPr/>
        </p:nvSpPr>
        <p:spPr>
          <a:xfrm>
            <a:off x="609905" y="4526280"/>
            <a:ext cx="1714348" cy="1600200"/>
          </a:xfrm>
          <a:prstGeom prst="rect">
            <a:avLst/>
          </a:prstGeom>
          <a:solidFill>
            <a:schemeClr val="tx2">
              <a:alpha val="88000"/>
            </a:schemeClr>
          </a:solidFill>
          <a:ln/>
        </p:spPr>
      </p:sp>
      <p:sp>
        <p:nvSpPr>
          <p:cNvPr id="8" name="Text 4"/>
          <p:cNvSpPr txBox="1"/>
          <p:nvPr/>
        </p:nvSpPr>
        <p:spPr>
          <a:xfrm>
            <a:off x="747065" y="4645152"/>
            <a:ext cx="914400" cy="182880"/>
          </a:xfrm>
          <a:prstGeom prst="rect">
            <a:avLst/>
          </a:prstGeom>
          <a:noFill/>
          <a:ln/>
        </p:spPr>
        <p:txBody>
          <a:bodyPr wrap="square" lIns="0" tIns="0" rIns="0" bIns="0" rtlCol="0" anchor="t"/>
          <a:lstStyle/>
          <a:p>
            <a:pPr indent="0" marL="0">
              <a:buNone/>
            </a:pPr>
            <a:r>
              <a:rPr lang="en-US" sz="900" spc="100" kern="0" dirty="0">
                <a:solidFill>
                  <a:schemeClr val="accent4"/>
                </a:solidFill>
                <a:latin typeface="Consolas" pitchFamily="34" charset="0"/>
                <a:ea typeface="Consolas" pitchFamily="34" charset="-122"/>
                <a:cs typeface="Consolas" pitchFamily="34" charset="-120"/>
              </a:rPr>
              <a:t>01</a:t>
            </a:r>
            <a:endParaRPr lang="en-US" sz="900" dirty="0"/>
          </a:p>
        </p:txBody>
      </p:sp>
      <p:sp>
        <p:nvSpPr>
          <p:cNvPr id="9" name="Text 5"/>
          <p:cNvSpPr txBox="1"/>
          <p:nvPr/>
        </p:nvSpPr>
        <p:spPr>
          <a:xfrm>
            <a:off x="747065" y="4846320"/>
            <a:ext cx="1440028" cy="274320"/>
          </a:xfrm>
          <a:prstGeom prst="rect">
            <a:avLst/>
          </a:prstGeom>
          <a:noFill/>
          <a:ln/>
        </p:spPr>
        <p:txBody>
          <a:bodyPr wrap="square" lIns="0" tIns="0" rIns="0" bIns="0" rtlCol="0" anchor="t"/>
          <a:lstStyle/>
          <a:p>
            <a:pPr indent="0" marL="0">
              <a:buNone/>
            </a:pPr>
            <a:r>
              <a:rPr lang="en-US" sz="1400" b="1" dirty="0">
                <a:solidFill>
                  <a:schemeClr val="bg1"/>
                </a:solidFill>
                <a:latin typeface="Century Gothic" pitchFamily="34" charset="0"/>
                <a:ea typeface="Century Gothic" pitchFamily="34" charset="-122"/>
                <a:cs typeface="Century Gothic" pitchFamily="34" charset="-120"/>
              </a:rPr>
              <a:t>Aerospace</a:t>
            </a:r>
            <a:endParaRPr lang="en-US" sz="1400" dirty="0"/>
          </a:p>
        </p:txBody>
      </p:sp>
      <p:sp>
        <p:nvSpPr>
          <p:cNvPr id="10" name="Text 6"/>
          <p:cNvSpPr txBox="1"/>
          <p:nvPr/>
        </p:nvSpPr>
        <p:spPr>
          <a:xfrm>
            <a:off x="747065" y="5166360"/>
            <a:ext cx="1440028" cy="868680"/>
          </a:xfrm>
          <a:prstGeom prst="rect">
            <a:avLst/>
          </a:prstGeom>
          <a:noFill/>
          <a:ln/>
        </p:spPr>
        <p:txBody>
          <a:bodyPr wrap="square" lIns="0" tIns="0" rIns="0" bIns="0" rtlCol="0" anchor="t"/>
          <a:lstStyle/>
          <a:p>
            <a:pPr indent="0" marL="0">
              <a:buNone/>
            </a:pPr>
            <a:r>
              <a:rPr lang="en-US" sz="1050" dirty="0">
                <a:solidFill>
                  <a:schemeClr val="accent5"/>
                </a:solidFill>
              </a:rPr>
              <a:t>Inspection and reverse engineering of high-precision aircraft components.</a:t>
            </a:r>
            <a:endParaRPr lang="en-US" sz="1050" dirty="0"/>
          </a:p>
        </p:txBody>
      </p:sp>
      <p:pic>
        <p:nvPicPr>
          <p:cNvPr id="11" name="Automobile" descr="C:\Users\ADMIN\Desktop\TEMP\VSHARK_Website\collateral\assets\handheld-3d-scanning-of-a-cast-aluminium-engine-block-4x5.jpg">    </p:cNvPr>
          <p:cNvPicPr>
            <a:picLocks noChangeAspect="1"/>
          </p:cNvPicPr>
          <p:nvPr/>
        </p:nvPicPr>
        <p:blipFill>
          <a:blip r:embed="rId2"/>
          <a:srcRect l="25331" r="25331" t="0" b="0"/>
          <a:stretch/>
        </p:blipFill>
        <p:spPr>
          <a:xfrm>
            <a:off x="2461412" y="1783080"/>
            <a:ext cx="1714348" cy="4343400"/>
          </a:xfrm>
          <a:prstGeom prst="rect">
            <a:avLst/>
          </a:prstGeom>
        </p:spPr>
      </p:pic>
      <p:sp>
        <p:nvSpPr>
          <p:cNvPr id="12" name="Shape 7"/>
          <p:cNvSpPr/>
          <p:nvPr/>
        </p:nvSpPr>
        <p:spPr>
          <a:xfrm>
            <a:off x="2461412" y="4526280"/>
            <a:ext cx="1714348" cy="1600200"/>
          </a:xfrm>
          <a:prstGeom prst="rect">
            <a:avLst/>
          </a:prstGeom>
          <a:solidFill>
            <a:schemeClr val="tx2">
              <a:alpha val="88000"/>
            </a:schemeClr>
          </a:solidFill>
          <a:ln/>
        </p:spPr>
      </p:sp>
      <p:sp>
        <p:nvSpPr>
          <p:cNvPr id="13" name="Text 8"/>
          <p:cNvSpPr txBox="1"/>
          <p:nvPr/>
        </p:nvSpPr>
        <p:spPr>
          <a:xfrm>
            <a:off x="2598572" y="4645152"/>
            <a:ext cx="914400" cy="182880"/>
          </a:xfrm>
          <a:prstGeom prst="rect">
            <a:avLst/>
          </a:prstGeom>
          <a:noFill/>
          <a:ln/>
        </p:spPr>
        <p:txBody>
          <a:bodyPr wrap="square" lIns="0" tIns="0" rIns="0" bIns="0" rtlCol="0" anchor="t"/>
          <a:lstStyle/>
          <a:p>
            <a:pPr indent="0" marL="0">
              <a:buNone/>
            </a:pPr>
            <a:r>
              <a:rPr lang="en-US" sz="900" spc="100" kern="0" dirty="0">
                <a:solidFill>
                  <a:schemeClr val="accent4"/>
                </a:solidFill>
                <a:latin typeface="Consolas" pitchFamily="34" charset="0"/>
                <a:ea typeface="Consolas" pitchFamily="34" charset="-122"/>
                <a:cs typeface="Consolas" pitchFamily="34" charset="-120"/>
              </a:rPr>
              <a:t>02</a:t>
            </a:r>
            <a:endParaRPr lang="en-US" sz="900" dirty="0"/>
          </a:p>
        </p:txBody>
      </p:sp>
      <p:sp>
        <p:nvSpPr>
          <p:cNvPr id="14" name="Text 9"/>
          <p:cNvSpPr txBox="1"/>
          <p:nvPr/>
        </p:nvSpPr>
        <p:spPr>
          <a:xfrm>
            <a:off x="2598572" y="4846320"/>
            <a:ext cx="1440028" cy="274320"/>
          </a:xfrm>
          <a:prstGeom prst="rect">
            <a:avLst/>
          </a:prstGeom>
          <a:noFill/>
          <a:ln/>
        </p:spPr>
        <p:txBody>
          <a:bodyPr wrap="square" lIns="0" tIns="0" rIns="0" bIns="0" rtlCol="0" anchor="t"/>
          <a:lstStyle/>
          <a:p>
            <a:pPr indent="0" marL="0">
              <a:buNone/>
            </a:pPr>
            <a:r>
              <a:rPr lang="en-US" sz="1400" b="1" dirty="0">
                <a:solidFill>
                  <a:schemeClr val="bg1"/>
                </a:solidFill>
                <a:latin typeface="Century Gothic" pitchFamily="34" charset="0"/>
                <a:ea typeface="Century Gothic" pitchFamily="34" charset="-122"/>
                <a:cs typeface="Century Gothic" pitchFamily="34" charset="-120"/>
              </a:rPr>
              <a:t>Automobile</a:t>
            </a:r>
            <a:endParaRPr lang="en-US" sz="1400" dirty="0"/>
          </a:p>
        </p:txBody>
      </p:sp>
      <p:sp>
        <p:nvSpPr>
          <p:cNvPr id="15" name="Text 10"/>
          <p:cNvSpPr txBox="1"/>
          <p:nvPr/>
        </p:nvSpPr>
        <p:spPr>
          <a:xfrm>
            <a:off x="2598572" y="5166360"/>
            <a:ext cx="1440028" cy="868680"/>
          </a:xfrm>
          <a:prstGeom prst="rect">
            <a:avLst/>
          </a:prstGeom>
          <a:noFill/>
          <a:ln/>
        </p:spPr>
        <p:txBody>
          <a:bodyPr wrap="square" lIns="0" tIns="0" rIns="0" bIns="0" rtlCol="0" anchor="t"/>
          <a:lstStyle/>
          <a:p>
            <a:pPr indent="0" marL="0">
              <a:buNone/>
            </a:pPr>
            <a:r>
              <a:rPr lang="en-US" sz="1050" dirty="0">
                <a:solidFill>
                  <a:schemeClr val="accent5"/>
                </a:solidFill>
              </a:rPr>
              <a:t>Body surfacing, part digitising and fixture design for vehicles.</a:t>
            </a:r>
            <a:endParaRPr lang="en-US" sz="1050" dirty="0"/>
          </a:p>
        </p:txBody>
      </p:sp>
      <p:pic>
        <p:nvPicPr>
          <p:cNvPr id="16" name="Construction" descr="C:\Users\ADMIN\Desktop\TEMP\VSHARK_Website\collateral\assets\terrestrial-laser-scanning-of-a-building-under-renovation-for-scan-to-bim-4x5.jpg">    </p:cNvPr>
          <p:cNvPicPr>
            <a:picLocks noChangeAspect="1"/>
          </p:cNvPicPr>
          <p:nvPr/>
        </p:nvPicPr>
        <p:blipFill>
          <a:blip r:embed="rId3"/>
          <a:srcRect l="25331" r="25331" t="0" b="0"/>
          <a:stretch/>
        </p:blipFill>
        <p:spPr>
          <a:xfrm>
            <a:off x="4312920" y="1783080"/>
            <a:ext cx="1714348" cy="4343400"/>
          </a:xfrm>
          <a:prstGeom prst="rect">
            <a:avLst/>
          </a:prstGeom>
        </p:spPr>
      </p:pic>
      <p:sp>
        <p:nvSpPr>
          <p:cNvPr id="17" name="Shape 11"/>
          <p:cNvSpPr/>
          <p:nvPr/>
        </p:nvSpPr>
        <p:spPr>
          <a:xfrm>
            <a:off x="4312920" y="4526280"/>
            <a:ext cx="1714348" cy="1600200"/>
          </a:xfrm>
          <a:prstGeom prst="rect">
            <a:avLst/>
          </a:prstGeom>
          <a:solidFill>
            <a:schemeClr val="tx2">
              <a:alpha val="88000"/>
            </a:schemeClr>
          </a:solidFill>
          <a:ln/>
        </p:spPr>
      </p:sp>
      <p:sp>
        <p:nvSpPr>
          <p:cNvPr id="18" name="Text 12"/>
          <p:cNvSpPr txBox="1"/>
          <p:nvPr/>
        </p:nvSpPr>
        <p:spPr>
          <a:xfrm>
            <a:off x="4450080" y="4645152"/>
            <a:ext cx="914400" cy="182880"/>
          </a:xfrm>
          <a:prstGeom prst="rect">
            <a:avLst/>
          </a:prstGeom>
          <a:noFill/>
          <a:ln/>
        </p:spPr>
        <p:txBody>
          <a:bodyPr wrap="square" lIns="0" tIns="0" rIns="0" bIns="0" rtlCol="0" anchor="t"/>
          <a:lstStyle/>
          <a:p>
            <a:pPr indent="0" marL="0">
              <a:buNone/>
            </a:pPr>
            <a:r>
              <a:rPr lang="en-US" sz="900" spc="100" kern="0" dirty="0">
                <a:solidFill>
                  <a:schemeClr val="accent4"/>
                </a:solidFill>
                <a:latin typeface="Consolas" pitchFamily="34" charset="0"/>
                <a:ea typeface="Consolas" pitchFamily="34" charset="-122"/>
                <a:cs typeface="Consolas" pitchFamily="34" charset="-120"/>
              </a:rPr>
              <a:t>03</a:t>
            </a:r>
            <a:endParaRPr lang="en-US" sz="900" dirty="0"/>
          </a:p>
        </p:txBody>
      </p:sp>
      <p:sp>
        <p:nvSpPr>
          <p:cNvPr id="19" name="Text 13"/>
          <p:cNvSpPr txBox="1"/>
          <p:nvPr/>
        </p:nvSpPr>
        <p:spPr>
          <a:xfrm>
            <a:off x="4450080" y="4846320"/>
            <a:ext cx="1440028" cy="274320"/>
          </a:xfrm>
          <a:prstGeom prst="rect">
            <a:avLst/>
          </a:prstGeom>
          <a:noFill/>
          <a:ln/>
        </p:spPr>
        <p:txBody>
          <a:bodyPr wrap="square" lIns="0" tIns="0" rIns="0" bIns="0" rtlCol="0" anchor="t"/>
          <a:lstStyle/>
          <a:p>
            <a:pPr indent="0" marL="0">
              <a:buNone/>
            </a:pPr>
            <a:r>
              <a:rPr lang="en-US" sz="1400" b="1" dirty="0">
                <a:solidFill>
                  <a:schemeClr val="bg1"/>
                </a:solidFill>
                <a:latin typeface="Century Gothic" pitchFamily="34" charset="0"/>
                <a:ea typeface="Century Gothic" pitchFamily="34" charset="-122"/>
                <a:cs typeface="Century Gothic" pitchFamily="34" charset="-120"/>
              </a:rPr>
              <a:t>Construction</a:t>
            </a:r>
            <a:endParaRPr lang="en-US" sz="1400" dirty="0"/>
          </a:p>
        </p:txBody>
      </p:sp>
      <p:sp>
        <p:nvSpPr>
          <p:cNvPr id="20" name="Text 14"/>
          <p:cNvSpPr txBox="1"/>
          <p:nvPr/>
        </p:nvSpPr>
        <p:spPr>
          <a:xfrm>
            <a:off x="4450080" y="5166360"/>
            <a:ext cx="1440028" cy="868680"/>
          </a:xfrm>
          <a:prstGeom prst="rect">
            <a:avLst/>
          </a:prstGeom>
          <a:noFill/>
          <a:ln/>
        </p:spPr>
        <p:txBody>
          <a:bodyPr wrap="square" lIns="0" tIns="0" rIns="0" bIns="0" rtlCol="0" anchor="t"/>
          <a:lstStyle/>
          <a:p>
            <a:pPr indent="0" marL="0">
              <a:buNone/>
            </a:pPr>
            <a:r>
              <a:rPr lang="en-US" sz="1050" dirty="0">
                <a:solidFill>
                  <a:schemeClr val="accent5"/>
                </a:solidFill>
              </a:rPr>
              <a:t>As-built scanning and BIM models for buildings and sites.</a:t>
            </a:r>
            <a:endParaRPr lang="en-US" sz="1050" dirty="0"/>
          </a:p>
        </p:txBody>
      </p:sp>
      <p:pic>
        <p:nvPicPr>
          <p:cNvPr id="21" name="Healthcare" descr="C:\Users\ADMIN\Desktop\TEMP\VSHARK_Website\collateral\assets\3d-scanning-a-leg-cast-to-make-a-custom-3d-printed-orthotic-brace-4x5.jpg">    </p:cNvPr>
          <p:cNvPicPr>
            <a:picLocks noChangeAspect="1"/>
          </p:cNvPicPr>
          <p:nvPr/>
        </p:nvPicPr>
        <p:blipFill>
          <a:blip r:embed="rId4"/>
          <a:srcRect l="25331" r="25331" t="0" b="0"/>
          <a:stretch/>
        </p:blipFill>
        <p:spPr>
          <a:xfrm>
            <a:off x="6164428" y="1783080"/>
            <a:ext cx="1714348" cy="4343400"/>
          </a:xfrm>
          <a:prstGeom prst="rect">
            <a:avLst/>
          </a:prstGeom>
        </p:spPr>
      </p:pic>
      <p:sp>
        <p:nvSpPr>
          <p:cNvPr id="22" name="Shape 15"/>
          <p:cNvSpPr/>
          <p:nvPr/>
        </p:nvSpPr>
        <p:spPr>
          <a:xfrm>
            <a:off x="6164428" y="4526280"/>
            <a:ext cx="1714348" cy="1600200"/>
          </a:xfrm>
          <a:prstGeom prst="rect">
            <a:avLst/>
          </a:prstGeom>
          <a:solidFill>
            <a:schemeClr val="tx2">
              <a:alpha val="88000"/>
            </a:schemeClr>
          </a:solidFill>
          <a:ln/>
        </p:spPr>
      </p:sp>
      <p:sp>
        <p:nvSpPr>
          <p:cNvPr id="23" name="Text 16"/>
          <p:cNvSpPr txBox="1"/>
          <p:nvPr/>
        </p:nvSpPr>
        <p:spPr>
          <a:xfrm>
            <a:off x="6301588" y="4645152"/>
            <a:ext cx="914400" cy="182880"/>
          </a:xfrm>
          <a:prstGeom prst="rect">
            <a:avLst/>
          </a:prstGeom>
          <a:noFill/>
          <a:ln/>
        </p:spPr>
        <p:txBody>
          <a:bodyPr wrap="square" lIns="0" tIns="0" rIns="0" bIns="0" rtlCol="0" anchor="t"/>
          <a:lstStyle/>
          <a:p>
            <a:pPr indent="0" marL="0">
              <a:buNone/>
            </a:pPr>
            <a:r>
              <a:rPr lang="en-US" sz="900" spc="100" kern="0" dirty="0">
                <a:solidFill>
                  <a:schemeClr val="accent4"/>
                </a:solidFill>
                <a:latin typeface="Consolas" pitchFamily="34" charset="0"/>
                <a:ea typeface="Consolas" pitchFamily="34" charset="-122"/>
                <a:cs typeface="Consolas" pitchFamily="34" charset="-120"/>
              </a:rPr>
              <a:t>04</a:t>
            </a:r>
            <a:endParaRPr lang="en-US" sz="900" dirty="0"/>
          </a:p>
        </p:txBody>
      </p:sp>
      <p:sp>
        <p:nvSpPr>
          <p:cNvPr id="24" name="Text 17"/>
          <p:cNvSpPr txBox="1"/>
          <p:nvPr/>
        </p:nvSpPr>
        <p:spPr>
          <a:xfrm>
            <a:off x="6301588" y="4846320"/>
            <a:ext cx="1440028" cy="274320"/>
          </a:xfrm>
          <a:prstGeom prst="rect">
            <a:avLst/>
          </a:prstGeom>
          <a:noFill/>
          <a:ln/>
        </p:spPr>
        <p:txBody>
          <a:bodyPr wrap="square" lIns="0" tIns="0" rIns="0" bIns="0" rtlCol="0" anchor="t"/>
          <a:lstStyle/>
          <a:p>
            <a:pPr indent="0" marL="0">
              <a:buNone/>
            </a:pPr>
            <a:r>
              <a:rPr lang="en-US" sz="1400" b="1" dirty="0">
                <a:solidFill>
                  <a:schemeClr val="bg1"/>
                </a:solidFill>
                <a:latin typeface="Century Gothic" pitchFamily="34" charset="0"/>
                <a:ea typeface="Century Gothic" pitchFamily="34" charset="-122"/>
                <a:cs typeface="Century Gothic" pitchFamily="34" charset="-120"/>
              </a:rPr>
              <a:t>Healthcare</a:t>
            </a:r>
            <a:endParaRPr lang="en-US" sz="1400" dirty="0"/>
          </a:p>
        </p:txBody>
      </p:sp>
      <p:sp>
        <p:nvSpPr>
          <p:cNvPr id="25" name="Text 18"/>
          <p:cNvSpPr txBox="1"/>
          <p:nvPr/>
        </p:nvSpPr>
        <p:spPr>
          <a:xfrm>
            <a:off x="6301588" y="5166360"/>
            <a:ext cx="1440028" cy="868680"/>
          </a:xfrm>
          <a:prstGeom prst="rect">
            <a:avLst/>
          </a:prstGeom>
          <a:noFill/>
          <a:ln/>
        </p:spPr>
        <p:txBody>
          <a:bodyPr wrap="square" lIns="0" tIns="0" rIns="0" bIns="0" rtlCol="0" anchor="t"/>
          <a:lstStyle/>
          <a:p>
            <a:pPr indent="0" marL="0">
              <a:buNone/>
            </a:pPr>
            <a:r>
              <a:rPr lang="en-US" sz="1050" dirty="0">
                <a:solidFill>
                  <a:schemeClr val="accent5"/>
                </a:solidFill>
              </a:rPr>
              <a:t>Medical devices and custom-fit parts captured and modelled in 3D.</a:t>
            </a:r>
            <a:endParaRPr lang="en-US" sz="1050" dirty="0"/>
          </a:p>
        </p:txBody>
      </p:sp>
      <p:pic>
        <p:nvPicPr>
          <p:cNvPr id="26" name="Education" descr="C:\Users\ADMIN\Desktop\TEMP\VSHARK_Website\collateral\assets\engineering-students-3d-scanning-a-gear-with-a-handheld-3d-scanner-4x5.jpg">    </p:cNvPr>
          <p:cNvPicPr>
            <a:picLocks noChangeAspect="1"/>
          </p:cNvPicPr>
          <p:nvPr/>
        </p:nvPicPr>
        <p:blipFill>
          <a:blip r:embed="rId5"/>
          <a:srcRect l="25331" r="25331" t="0" b="0"/>
          <a:stretch/>
        </p:blipFill>
        <p:spPr>
          <a:xfrm>
            <a:off x="8015935" y="1783080"/>
            <a:ext cx="1714348" cy="4343400"/>
          </a:xfrm>
          <a:prstGeom prst="rect">
            <a:avLst/>
          </a:prstGeom>
        </p:spPr>
      </p:pic>
      <p:sp>
        <p:nvSpPr>
          <p:cNvPr id="27" name="Shape 19"/>
          <p:cNvSpPr/>
          <p:nvPr/>
        </p:nvSpPr>
        <p:spPr>
          <a:xfrm>
            <a:off x="8015935" y="4526280"/>
            <a:ext cx="1714348" cy="1600200"/>
          </a:xfrm>
          <a:prstGeom prst="rect">
            <a:avLst/>
          </a:prstGeom>
          <a:solidFill>
            <a:schemeClr val="tx2">
              <a:alpha val="88000"/>
            </a:schemeClr>
          </a:solidFill>
          <a:ln/>
        </p:spPr>
      </p:sp>
      <p:sp>
        <p:nvSpPr>
          <p:cNvPr id="28" name="Text 20"/>
          <p:cNvSpPr txBox="1"/>
          <p:nvPr/>
        </p:nvSpPr>
        <p:spPr>
          <a:xfrm>
            <a:off x="8153095" y="4645152"/>
            <a:ext cx="914400" cy="182880"/>
          </a:xfrm>
          <a:prstGeom prst="rect">
            <a:avLst/>
          </a:prstGeom>
          <a:noFill/>
          <a:ln/>
        </p:spPr>
        <p:txBody>
          <a:bodyPr wrap="square" lIns="0" tIns="0" rIns="0" bIns="0" rtlCol="0" anchor="t"/>
          <a:lstStyle/>
          <a:p>
            <a:pPr indent="0" marL="0">
              <a:buNone/>
            </a:pPr>
            <a:r>
              <a:rPr lang="en-US" sz="900" spc="100" kern="0" dirty="0">
                <a:solidFill>
                  <a:schemeClr val="accent4"/>
                </a:solidFill>
                <a:latin typeface="Consolas" pitchFamily="34" charset="0"/>
                <a:ea typeface="Consolas" pitchFamily="34" charset="-122"/>
                <a:cs typeface="Consolas" pitchFamily="34" charset="-120"/>
              </a:rPr>
              <a:t>05</a:t>
            </a:r>
            <a:endParaRPr lang="en-US" sz="900" dirty="0"/>
          </a:p>
        </p:txBody>
      </p:sp>
      <p:sp>
        <p:nvSpPr>
          <p:cNvPr id="29" name="Text 21"/>
          <p:cNvSpPr txBox="1"/>
          <p:nvPr/>
        </p:nvSpPr>
        <p:spPr>
          <a:xfrm>
            <a:off x="8153095" y="4846320"/>
            <a:ext cx="1440028" cy="274320"/>
          </a:xfrm>
          <a:prstGeom prst="rect">
            <a:avLst/>
          </a:prstGeom>
          <a:noFill/>
          <a:ln/>
        </p:spPr>
        <p:txBody>
          <a:bodyPr wrap="square" lIns="0" tIns="0" rIns="0" bIns="0" rtlCol="0" anchor="t"/>
          <a:lstStyle/>
          <a:p>
            <a:pPr indent="0" marL="0">
              <a:buNone/>
            </a:pPr>
            <a:r>
              <a:rPr lang="en-US" sz="1400" b="1" dirty="0">
                <a:solidFill>
                  <a:schemeClr val="bg1"/>
                </a:solidFill>
                <a:latin typeface="Century Gothic" pitchFamily="34" charset="0"/>
                <a:ea typeface="Century Gothic" pitchFamily="34" charset="-122"/>
                <a:cs typeface="Century Gothic" pitchFamily="34" charset="-120"/>
              </a:rPr>
              <a:t>Education</a:t>
            </a:r>
            <a:endParaRPr lang="en-US" sz="1400" dirty="0"/>
          </a:p>
        </p:txBody>
      </p:sp>
      <p:sp>
        <p:nvSpPr>
          <p:cNvPr id="30" name="Text 22"/>
          <p:cNvSpPr txBox="1"/>
          <p:nvPr/>
        </p:nvSpPr>
        <p:spPr>
          <a:xfrm>
            <a:off x="8153095" y="5166360"/>
            <a:ext cx="1440028" cy="868680"/>
          </a:xfrm>
          <a:prstGeom prst="rect">
            <a:avLst/>
          </a:prstGeom>
          <a:noFill/>
          <a:ln/>
        </p:spPr>
        <p:txBody>
          <a:bodyPr wrap="square" lIns="0" tIns="0" rIns="0" bIns="0" rtlCol="0" anchor="t"/>
          <a:lstStyle/>
          <a:p>
            <a:pPr indent="0" marL="0">
              <a:buNone/>
            </a:pPr>
            <a:r>
              <a:rPr lang="en-US" sz="1050" dirty="0">
                <a:solidFill>
                  <a:schemeClr val="accent5"/>
                </a:solidFill>
              </a:rPr>
              <a:t>Scanning and 3D printing support for labs, research and teaching.</a:t>
            </a:r>
            <a:endParaRPr lang="en-US" sz="1050" dirty="0"/>
          </a:p>
        </p:txBody>
      </p:sp>
      <p:pic>
        <p:nvPicPr>
          <p:cNvPr id="31" name="Jewellery" descr="C:\Users\ADMIN\Desktop\TEMP\VSHARK_Website\collateral\assets\gold-temple-pendant-beside-its-3d-printed-resin-casting-pattern-4x5.jpg">    </p:cNvPr>
          <p:cNvPicPr>
            <a:picLocks noChangeAspect="1"/>
          </p:cNvPicPr>
          <p:nvPr/>
        </p:nvPicPr>
        <p:blipFill>
          <a:blip r:embed="rId6"/>
          <a:srcRect l="25331" r="25331" t="0" b="0"/>
          <a:stretch/>
        </p:blipFill>
        <p:spPr>
          <a:xfrm>
            <a:off x="9867443" y="1783080"/>
            <a:ext cx="1714348" cy="4343400"/>
          </a:xfrm>
          <a:prstGeom prst="rect">
            <a:avLst/>
          </a:prstGeom>
        </p:spPr>
      </p:pic>
      <p:sp>
        <p:nvSpPr>
          <p:cNvPr id="32" name="Shape 23"/>
          <p:cNvSpPr/>
          <p:nvPr/>
        </p:nvSpPr>
        <p:spPr>
          <a:xfrm>
            <a:off x="9867443" y="4526280"/>
            <a:ext cx="1714348" cy="1600200"/>
          </a:xfrm>
          <a:prstGeom prst="rect">
            <a:avLst/>
          </a:prstGeom>
          <a:solidFill>
            <a:schemeClr val="tx2">
              <a:alpha val="88000"/>
            </a:schemeClr>
          </a:solidFill>
          <a:ln/>
        </p:spPr>
      </p:sp>
      <p:sp>
        <p:nvSpPr>
          <p:cNvPr id="33" name="Text 24"/>
          <p:cNvSpPr txBox="1"/>
          <p:nvPr/>
        </p:nvSpPr>
        <p:spPr>
          <a:xfrm>
            <a:off x="10004603" y="4645152"/>
            <a:ext cx="914400" cy="182880"/>
          </a:xfrm>
          <a:prstGeom prst="rect">
            <a:avLst/>
          </a:prstGeom>
          <a:noFill/>
          <a:ln/>
        </p:spPr>
        <p:txBody>
          <a:bodyPr wrap="square" lIns="0" tIns="0" rIns="0" bIns="0" rtlCol="0" anchor="t"/>
          <a:lstStyle/>
          <a:p>
            <a:pPr indent="0" marL="0">
              <a:buNone/>
            </a:pPr>
            <a:r>
              <a:rPr lang="en-US" sz="900" spc="100" kern="0" dirty="0">
                <a:solidFill>
                  <a:schemeClr val="accent4"/>
                </a:solidFill>
                <a:latin typeface="Consolas" pitchFamily="34" charset="0"/>
                <a:ea typeface="Consolas" pitchFamily="34" charset="-122"/>
                <a:cs typeface="Consolas" pitchFamily="34" charset="-120"/>
              </a:rPr>
              <a:t>06</a:t>
            </a:r>
            <a:endParaRPr lang="en-US" sz="900" dirty="0"/>
          </a:p>
        </p:txBody>
      </p:sp>
      <p:sp>
        <p:nvSpPr>
          <p:cNvPr id="34" name="Text 25"/>
          <p:cNvSpPr txBox="1"/>
          <p:nvPr/>
        </p:nvSpPr>
        <p:spPr>
          <a:xfrm>
            <a:off x="10004603" y="4846320"/>
            <a:ext cx="1440028" cy="274320"/>
          </a:xfrm>
          <a:prstGeom prst="rect">
            <a:avLst/>
          </a:prstGeom>
          <a:noFill/>
          <a:ln/>
        </p:spPr>
        <p:txBody>
          <a:bodyPr wrap="square" lIns="0" tIns="0" rIns="0" bIns="0" rtlCol="0" anchor="t"/>
          <a:lstStyle/>
          <a:p>
            <a:pPr indent="0" marL="0">
              <a:buNone/>
            </a:pPr>
            <a:r>
              <a:rPr lang="en-US" sz="1400" b="1" dirty="0">
                <a:solidFill>
                  <a:schemeClr val="bg1"/>
                </a:solidFill>
                <a:latin typeface="Century Gothic" pitchFamily="34" charset="0"/>
                <a:ea typeface="Century Gothic" pitchFamily="34" charset="-122"/>
                <a:cs typeface="Century Gothic" pitchFamily="34" charset="-120"/>
              </a:rPr>
              <a:t>Jewellery</a:t>
            </a:r>
            <a:endParaRPr lang="en-US" sz="1400" dirty="0"/>
          </a:p>
        </p:txBody>
      </p:sp>
      <p:sp>
        <p:nvSpPr>
          <p:cNvPr id="35" name="Text 26"/>
          <p:cNvSpPr txBox="1"/>
          <p:nvPr/>
        </p:nvSpPr>
        <p:spPr>
          <a:xfrm>
            <a:off x="10004603" y="5166360"/>
            <a:ext cx="1440028" cy="868680"/>
          </a:xfrm>
          <a:prstGeom prst="rect">
            <a:avLst/>
          </a:prstGeom>
          <a:noFill/>
          <a:ln/>
        </p:spPr>
        <p:txBody>
          <a:bodyPr wrap="square" lIns="0" tIns="0" rIns="0" bIns="0" rtlCol="0" anchor="t"/>
          <a:lstStyle/>
          <a:p>
            <a:pPr indent="0" marL="0">
              <a:buNone/>
            </a:pPr>
            <a:r>
              <a:rPr lang="en-US" sz="1050" dirty="0">
                <a:solidFill>
                  <a:schemeClr val="accent5"/>
                </a:solidFill>
              </a:rPr>
              <a:t>Fine-detail scanning and printing for jewellery design and casting.</a:t>
            </a:r>
            <a:endParaRPr lang="en-US" sz="105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609905" y="548640"/>
            <a:ext cx="731520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( 06 ) — PRODUCTS</a:t>
            </a:r>
            <a:endParaRPr lang="en-US" sz="1000" dirty="0"/>
          </a:p>
        </p:txBody>
      </p:sp>
      <p:sp>
        <p:nvSpPr>
          <p:cNvPr id="3" name="Text 1"/>
          <p:cNvSpPr/>
          <p:nvPr>
            <p:ph idx="103" type="title" hasCustomPrompt="1"/>
          </p:nvPr>
        </p:nvSpPr>
        <p:spPr>
          <a:xfrm>
            <a:off x="609905" y="822960"/>
            <a:ext cx="7498080" cy="73152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Professional </a:t>
            </a:r>
            <a:pPr algn="l" indent="0" marL="0">
              <a:buNone/>
            </a:pPr>
            <a:r>
              <a:rPr lang="en-US" sz="3200" dirty="0">
                <a:solidFill>
                  <a:schemeClr val="accent1"/>
                </a:solidFill>
                <a:latin typeface="Century Gothic" pitchFamily="34" charset="0"/>
                <a:ea typeface="Century Gothic" pitchFamily="34" charset="-122"/>
                <a:cs typeface="Century Gothic" pitchFamily="34" charset="-120"/>
              </a:rPr>
              <a:t>3D scanners</a:t>
            </a:r>
            <a:endParaRPr lang="en-US" sz="3200" dirty="0"/>
          </a:p>
        </p:txBody>
      </p:sp>
      <p:sp>
        <p:nvSpPr>
          <p:cNvPr id="5" name="Text 2"/>
          <p:cNvSpPr txBox="1"/>
          <p:nvPr/>
        </p:nvSpPr>
        <p:spPr>
          <a:xfrm>
            <a:off x="8138160" y="868680"/>
            <a:ext cx="3447288" cy="731520"/>
          </a:xfrm>
          <a:prstGeom prst="rect">
            <a:avLst/>
          </a:prstGeom>
          <a:noFill/>
          <a:ln/>
        </p:spPr>
        <p:txBody>
          <a:bodyPr wrap="square" lIns="0" tIns="0" rIns="0" bIns="0" rtlCol="0" anchor="t"/>
          <a:lstStyle/>
          <a:p>
            <a:pPr indent="0" marL="0">
              <a:buNone/>
            </a:pPr>
            <a:r>
              <a:rPr lang="en-US" sz="1200" dirty="0">
                <a:solidFill>
                  <a:schemeClr val="accent6"/>
                </a:solidFill>
              </a:rPr>
              <a:t>Vertex blue-laser and optical-tracking scanners — sold, set up and supported by VShark.</a:t>
            </a:r>
            <a:endParaRPr lang="en-US" sz="1200" dirty="0"/>
          </a:p>
        </p:txBody>
      </p:sp>
      <p:sp>
        <p:nvSpPr>
          <p:cNvPr id="6" name="Product Vertex3D"/>
          <p:cNvSpPr/>
          <p:nvPr/>
        </p:nvSpPr>
        <p:spPr>
          <a:xfrm>
            <a:off x="609905" y="1783080"/>
            <a:ext cx="3538728" cy="1417320"/>
          </a:xfrm>
          <a:prstGeom prst="roundRect">
            <a:avLst>
              <a:gd name="adj" fmla="val 5161"/>
            </a:avLst>
          </a:prstGeom>
          <a:solidFill>
            <a:schemeClr val="bg1"/>
          </a:solidFill>
          <a:ln w="9525">
            <a:solidFill>
              <a:schemeClr val="accent5"/>
            </a:solidFill>
            <a:prstDash val="solid"/>
          </a:ln>
        </p:spPr>
      </p:sp>
      <p:pic>
        <p:nvPicPr>
          <p:cNvPr id="7" name="Vertex3D" descr="C:\Users\ADMIN\Desktop\TEMP\VSHARK_Website\img\products\vertex3d.png">    </p:cNvPr>
          <p:cNvPicPr>
            <a:picLocks noChangeAspect="1"/>
          </p:cNvPicPr>
          <p:nvPr/>
        </p:nvPicPr>
        <p:blipFill>
          <a:blip r:embed="rId1"/>
          <a:stretch>
            <a:fillRect/>
          </a:stretch>
        </p:blipFill>
        <p:spPr>
          <a:xfrm>
            <a:off x="747065" y="1892808"/>
            <a:ext cx="1188720" cy="1188720"/>
          </a:xfrm>
          <a:prstGeom prst="rect">
            <a:avLst/>
          </a:prstGeom>
        </p:spPr>
      </p:pic>
      <p:sp>
        <p:nvSpPr>
          <p:cNvPr id="8" name="Text 4"/>
          <p:cNvSpPr txBox="1"/>
          <p:nvPr/>
        </p:nvSpPr>
        <p:spPr>
          <a:xfrm>
            <a:off x="2072945" y="1965960"/>
            <a:ext cx="1965960" cy="274320"/>
          </a:xfrm>
          <a:prstGeom prst="rect">
            <a:avLst/>
          </a:prstGeom>
          <a:noFill/>
          <a:ln/>
        </p:spPr>
        <p:txBody>
          <a:bodyPr wrap="square" lIns="0" tIns="0" rIns="0" bIns="0" rtlCol="0" anchor="t"/>
          <a:lstStyle/>
          <a:p>
            <a:pPr indent="0" marL="0">
              <a:buNone/>
            </a:pPr>
            <a:r>
              <a:rPr lang="en-US" sz="1500" b="1" dirty="0">
                <a:solidFill>
                  <a:schemeClr val="tx1"/>
                </a:solidFill>
                <a:latin typeface="Century Gothic" pitchFamily="34" charset="0"/>
                <a:ea typeface="Century Gothic" pitchFamily="34" charset="-122"/>
                <a:cs typeface="Century Gothic" pitchFamily="34" charset="-120"/>
              </a:rPr>
              <a:t>Vertex3D</a:t>
            </a:r>
            <a:endParaRPr lang="en-US" sz="1500" dirty="0"/>
          </a:p>
        </p:txBody>
      </p:sp>
      <p:sp>
        <p:nvSpPr>
          <p:cNvPr id="9" name="Text 5"/>
          <p:cNvSpPr txBox="1"/>
          <p:nvPr/>
        </p:nvSpPr>
        <p:spPr>
          <a:xfrm>
            <a:off x="2072945" y="2258568"/>
            <a:ext cx="1965960" cy="365760"/>
          </a:xfrm>
          <a:prstGeom prst="rect">
            <a:avLst/>
          </a:prstGeom>
          <a:noFill/>
          <a:ln/>
        </p:spPr>
        <p:txBody>
          <a:bodyPr wrap="square" lIns="0" tIns="0" rIns="0" bIns="0" rtlCol="0" anchor="t"/>
          <a:lstStyle/>
          <a:p>
            <a:pPr indent="0" marL="0">
              <a:buNone/>
            </a:pPr>
            <a:r>
              <a:rPr lang="en-US" sz="1000" dirty="0">
                <a:solidFill>
                  <a:schemeClr val="accent3"/>
                </a:solidFill>
              </a:rPr>
              <a:t>Handheld blue-laser 3D scanner</a:t>
            </a:r>
            <a:endParaRPr lang="en-US" sz="1000" dirty="0"/>
          </a:p>
        </p:txBody>
      </p:sp>
      <p:sp>
        <p:nvSpPr>
          <p:cNvPr id="10" name="Text 6"/>
          <p:cNvSpPr txBox="1"/>
          <p:nvPr/>
        </p:nvSpPr>
        <p:spPr>
          <a:xfrm>
            <a:off x="2072945" y="2651760"/>
            <a:ext cx="1965960" cy="365760"/>
          </a:xfrm>
          <a:prstGeom prst="rect">
            <a:avLst/>
          </a:prstGeom>
          <a:noFill/>
          <a:ln/>
        </p:spPr>
        <p:txBody>
          <a:bodyPr wrap="square" lIns="0" tIns="0" rIns="0" bIns="0" rtlCol="0" anchor="t"/>
          <a:lstStyle/>
          <a:p>
            <a:pPr indent="0" marL="0">
              <a:buNone/>
            </a:pPr>
            <a:r>
              <a:rPr lang="en-US" sz="2000" dirty="0">
                <a:solidFill>
                  <a:schemeClr val="tx1"/>
                </a:solidFill>
                <a:latin typeface="Century Gothic" pitchFamily="34" charset="0"/>
                <a:ea typeface="Century Gothic" pitchFamily="34" charset="-122"/>
                <a:cs typeface="Century Gothic" pitchFamily="34" charset="-120"/>
              </a:rPr>
              <a:t>0.020</a:t>
            </a:r>
            <a:pPr indent="0" marL="0">
              <a:buNone/>
            </a:pPr>
            <a:r>
              <a:rPr lang="en-US" sz="1000" dirty="0">
                <a:solidFill>
                  <a:schemeClr val="accent3"/>
                </a:solidFill>
                <a:latin typeface="Calibri" pitchFamily="34" charset="0"/>
                <a:ea typeface="Calibri" pitchFamily="34" charset="-122"/>
                <a:cs typeface="Calibri" pitchFamily="34" charset="-120"/>
              </a:rPr>
              <a:t> mm precision</a:t>
            </a:r>
            <a:endParaRPr lang="en-US" sz="2000" dirty="0"/>
          </a:p>
        </p:txBody>
      </p:sp>
      <p:sp>
        <p:nvSpPr>
          <p:cNvPr id="11" name="Product Vertex3D Pro"/>
          <p:cNvSpPr/>
          <p:nvPr/>
        </p:nvSpPr>
        <p:spPr>
          <a:xfrm>
            <a:off x="4331513" y="1783080"/>
            <a:ext cx="3538728" cy="1417320"/>
          </a:xfrm>
          <a:prstGeom prst="roundRect">
            <a:avLst>
              <a:gd name="adj" fmla="val 5161"/>
            </a:avLst>
          </a:prstGeom>
          <a:solidFill>
            <a:schemeClr val="bg1"/>
          </a:solidFill>
          <a:ln w="9525">
            <a:solidFill>
              <a:schemeClr val="accent5"/>
            </a:solidFill>
            <a:prstDash val="solid"/>
          </a:ln>
        </p:spPr>
      </p:sp>
      <p:pic>
        <p:nvPicPr>
          <p:cNvPr id="12" name="Vertex3D Pro" descr="C:\Users\ADMIN\Desktop\TEMP\VSHARK_Website\img\products\vertex3d-pro.png">    </p:cNvPr>
          <p:cNvPicPr>
            <a:picLocks noChangeAspect="1"/>
          </p:cNvPicPr>
          <p:nvPr/>
        </p:nvPicPr>
        <p:blipFill>
          <a:blip r:embed="rId2"/>
          <a:stretch>
            <a:fillRect/>
          </a:stretch>
        </p:blipFill>
        <p:spPr>
          <a:xfrm>
            <a:off x="4468673" y="1892808"/>
            <a:ext cx="1188720" cy="1188720"/>
          </a:xfrm>
          <a:prstGeom prst="rect">
            <a:avLst/>
          </a:prstGeom>
        </p:spPr>
      </p:pic>
      <p:sp>
        <p:nvSpPr>
          <p:cNvPr id="13" name="Text 8"/>
          <p:cNvSpPr txBox="1"/>
          <p:nvPr/>
        </p:nvSpPr>
        <p:spPr>
          <a:xfrm>
            <a:off x="5794553" y="1965960"/>
            <a:ext cx="1965960" cy="274320"/>
          </a:xfrm>
          <a:prstGeom prst="rect">
            <a:avLst/>
          </a:prstGeom>
          <a:noFill/>
          <a:ln/>
        </p:spPr>
        <p:txBody>
          <a:bodyPr wrap="square" lIns="0" tIns="0" rIns="0" bIns="0" rtlCol="0" anchor="t"/>
          <a:lstStyle/>
          <a:p>
            <a:pPr indent="0" marL="0">
              <a:buNone/>
            </a:pPr>
            <a:r>
              <a:rPr lang="en-US" sz="1500" b="1" dirty="0">
                <a:solidFill>
                  <a:schemeClr val="tx1"/>
                </a:solidFill>
                <a:latin typeface="Century Gothic" pitchFamily="34" charset="0"/>
                <a:ea typeface="Century Gothic" pitchFamily="34" charset="-122"/>
                <a:cs typeface="Century Gothic" pitchFamily="34" charset="-120"/>
              </a:rPr>
              <a:t>Vertex3D Pro</a:t>
            </a:r>
            <a:endParaRPr lang="en-US" sz="1500" dirty="0"/>
          </a:p>
        </p:txBody>
      </p:sp>
      <p:sp>
        <p:nvSpPr>
          <p:cNvPr id="14" name="Text 9"/>
          <p:cNvSpPr txBox="1"/>
          <p:nvPr/>
        </p:nvSpPr>
        <p:spPr>
          <a:xfrm>
            <a:off x="5794553" y="2258568"/>
            <a:ext cx="1965960" cy="365760"/>
          </a:xfrm>
          <a:prstGeom prst="rect">
            <a:avLst/>
          </a:prstGeom>
          <a:noFill/>
          <a:ln/>
        </p:spPr>
        <p:txBody>
          <a:bodyPr wrap="square" lIns="0" tIns="0" rIns="0" bIns="0" rtlCol="0" anchor="t"/>
          <a:lstStyle/>
          <a:p>
            <a:pPr indent="0" marL="0">
              <a:buNone/>
            </a:pPr>
            <a:r>
              <a:rPr lang="en-US" sz="1000" dirty="0">
                <a:solidFill>
                  <a:schemeClr val="accent3"/>
                </a:solidFill>
              </a:rPr>
              <a:t>Handheld blue-laser 3D scanner</a:t>
            </a:r>
            <a:endParaRPr lang="en-US" sz="1000" dirty="0"/>
          </a:p>
        </p:txBody>
      </p:sp>
      <p:sp>
        <p:nvSpPr>
          <p:cNvPr id="15" name="Text 10"/>
          <p:cNvSpPr txBox="1"/>
          <p:nvPr/>
        </p:nvSpPr>
        <p:spPr>
          <a:xfrm>
            <a:off x="5794553" y="2651760"/>
            <a:ext cx="1965960" cy="365760"/>
          </a:xfrm>
          <a:prstGeom prst="rect">
            <a:avLst/>
          </a:prstGeom>
          <a:noFill/>
          <a:ln/>
        </p:spPr>
        <p:txBody>
          <a:bodyPr wrap="square" lIns="0" tIns="0" rIns="0" bIns="0" rtlCol="0" anchor="t"/>
          <a:lstStyle/>
          <a:p>
            <a:pPr indent="0" marL="0">
              <a:buNone/>
            </a:pPr>
            <a:r>
              <a:rPr lang="en-US" sz="2000" dirty="0">
                <a:solidFill>
                  <a:schemeClr val="tx1"/>
                </a:solidFill>
                <a:latin typeface="Century Gothic" pitchFamily="34" charset="0"/>
                <a:ea typeface="Century Gothic" pitchFamily="34" charset="-122"/>
                <a:cs typeface="Century Gothic" pitchFamily="34" charset="-120"/>
              </a:rPr>
              <a:t>0.020</a:t>
            </a:r>
            <a:pPr indent="0" marL="0">
              <a:buNone/>
            </a:pPr>
            <a:r>
              <a:rPr lang="en-US" sz="1000" dirty="0">
                <a:solidFill>
                  <a:schemeClr val="accent3"/>
                </a:solidFill>
                <a:latin typeface="Calibri" pitchFamily="34" charset="0"/>
                <a:ea typeface="Calibri" pitchFamily="34" charset="-122"/>
                <a:cs typeface="Calibri" pitchFamily="34" charset="-120"/>
              </a:rPr>
              <a:t> mm precision</a:t>
            </a:r>
            <a:endParaRPr lang="en-US" sz="2000" dirty="0"/>
          </a:p>
        </p:txBody>
      </p:sp>
      <p:sp>
        <p:nvSpPr>
          <p:cNvPr id="16" name="Product Vertex Tracker"/>
          <p:cNvSpPr/>
          <p:nvPr/>
        </p:nvSpPr>
        <p:spPr>
          <a:xfrm>
            <a:off x="8053121" y="1783080"/>
            <a:ext cx="3538728" cy="1417320"/>
          </a:xfrm>
          <a:prstGeom prst="roundRect">
            <a:avLst>
              <a:gd name="adj" fmla="val 5161"/>
            </a:avLst>
          </a:prstGeom>
          <a:solidFill>
            <a:schemeClr val="bg1"/>
          </a:solidFill>
          <a:ln w="9525">
            <a:solidFill>
              <a:schemeClr val="accent5"/>
            </a:solidFill>
            <a:prstDash val="solid"/>
          </a:ln>
        </p:spPr>
      </p:sp>
      <p:pic>
        <p:nvPicPr>
          <p:cNvPr id="17" name="Vertex Tracker" descr="C:\Users\ADMIN\Desktop\TEMP\VSHARK_Website\img\products\vertex-tracker.png">    </p:cNvPr>
          <p:cNvPicPr>
            <a:picLocks noChangeAspect="1"/>
          </p:cNvPicPr>
          <p:nvPr/>
        </p:nvPicPr>
        <p:blipFill>
          <a:blip r:embed="rId3"/>
          <a:stretch>
            <a:fillRect/>
          </a:stretch>
        </p:blipFill>
        <p:spPr>
          <a:xfrm>
            <a:off x="8190281" y="1892808"/>
            <a:ext cx="1188720" cy="1188720"/>
          </a:xfrm>
          <a:prstGeom prst="rect">
            <a:avLst/>
          </a:prstGeom>
        </p:spPr>
      </p:pic>
      <p:sp>
        <p:nvSpPr>
          <p:cNvPr id="18" name="Text 12"/>
          <p:cNvSpPr txBox="1"/>
          <p:nvPr/>
        </p:nvSpPr>
        <p:spPr>
          <a:xfrm>
            <a:off x="9516161" y="1965960"/>
            <a:ext cx="1965960" cy="274320"/>
          </a:xfrm>
          <a:prstGeom prst="rect">
            <a:avLst/>
          </a:prstGeom>
          <a:noFill/>
          <a:ln/>
        </p:spPr>
        <p:txBody>
          <a:bodyPr wrap="square" lIns="0" tIns="0" rIns="0" bIns="0" rtlCol="0" anchor="t"/>
          <a:lstStyle/>
          <a:p>
            <a:pPr indent="0" marL="0">
              <a:buNone/>
            </a:pPr>
            <a:r>
              <a:rPr lang="en-US" sz="1500" b="1" dirty="0">
                <a:solidFill>
                  <a:schemeClr val="tx1"/>
                </a:solidFill>
                <a:latin typeface="Century Gothic" pitchFamily="34" charset="0"/>
                <a:ea typeface="Century Gothic" pitchFamily="34" charset="-122"/>
                <a:cs typeface="Century Gothic" pitchFamily="34" charset="-120"/>
              </a:rPr>
              <a:t>Vertex Tracker</a:t>
            </a:r>
            <a:endParaRPr lang="en-US" sz="1500" dirty="0"/>
          </a:p>
        </p:txBody>
      </p:sp>
      <p:sp>
        <p:nvSpPr>
          <p:cNvPr id="19" name="Text 13"/>
          <p:cNvSpPr txBox="1"/>
          <p:nvPr/>
        </p:nvSpPr>
        <p:spPr>
          <a:xfrm>
            <a:off x="9516161" y="2258568"/>
            <a:ext cx="1965960" cy="365760"/>
          </a:xfrm>
          <a:prstGeom prst="rect">
            <a:avLst/>
          </a:prstGeom>
          <a:noFill/>
          <a:ln/>
        </p:spPr>
        <p:txBody>
          <a:bodyPr wrap="square" lIns="0" tIns="0" rIns="0" bIns="0" rtlCol="0" anchor="t"/>
          <a:lstStyle/>
          <a:p>
            <a:pPr indent="0" marL="0">
              <a:buNone/>
            </a:pPr>
            <a:r>
              <a:rPr lang="en-US" sz="1000" dirty="0">
                <a:solidFill>
                  <a:schemeClr val="accent3"/>
                </a:solidFill>
              </a:rPr>
              <a:t>Optical-tracking 3D scanning system</a:t>
            </a:r>
            <a:endParaRPr lang="en-US" sz="1000" dirty="0"/>
          </a:p>
        </p:txBody>
      </p:sp>
      <p:sp>
        <p:nvSpPr>
          <p:cNvPr id="20" name="Text 14"/>
          <p:cNvSpPr txBox="1"/>
          <p:nvPr/>
        </p:nvSpPr>
        <p:spPr>
          <a:xfrm>
            <a:off x="9516161" y="2651760"/>
            <a:ext cx="1965960" cy="365760"/>
          </a:xfrm>
          <a:prstGeom prst="rect">
            <a:avLst/>
          </a:prstGeom>
          <a:noFill/>
          <a:ln/>
        </p:spPr>
        <p:txBody>
          <a:bodyPr wrap="square" lIns="0" tIns="0" rIns="0" bIns="0" rtlCol="0" anchor="t"/>
          <a:lstStyle/>
          <a:p>
            <a:pPr indent="0" marL="0">
              <a:buNone/>
            </a:pPr>
            <a:r>
              <a:rPr lang="en-US" sz="2000" dirty="0">
                <a:solidFill>
                  <a:schemeClr val="tx1"/>
                </a:solidFill>
                <a:latin typeface="Century Gothic" pitchFamily="34" charset="0"/>
                <a:ea typeface="Century Gothic" pitchFamily="34" charset="-122"/>
                <a:cs typeface="Century Gothic" pitchFamily="34" charset="-120"/>
              </a:rPr>
              <a:t>0.025</a:t>
            </a:r>
            <a:pPr indent="0" marL="0">
              <a:buNone/>
            </a:pPr>
            <a:r>
              <a:rPr lang="en-US" sz="1000" dirty="0">
                <a:solidFill>
                  <a:schemeClr val="accent3"/>
                </a:solidFill>
                <a:latin typeface="Calibri" pitchFamily="34" charset="0"/>
                <a:ea typeface="Calibri" pitchFamily="34" charset="-122"/>
                <a:cs typeface="Calibri" pitchFamily="34" charset="-120"/>
              </a:rPr>
              <a:t> mm precision</a:t>
            </a:r>
            <a:endParaRPr lang="en-US" sz="2000" dirty="0"/>
          </a:p>
        </p:txBody>
      </p:sp>
      <p:graphicFrame>
        <p:nvGraphicFramePr>
          <p:cNvPr id="16" name="Specifications"/>
          <p:cNvGraphicFramePr>
            <a:graphicFrameLocks noGrp="1"/>
          </p:cNvGraphicFramePr>
          <p:nvPr>
            <p:extLst>
              <p:ext uri="{D42A27DB-BD31-4B8C-83A1-F6EECF244321}">
                <p14:modId xmlns:p14="http://schemas.microsoft.com/office/powerpoint/2010/main" val="1579011935"/>
              </p:ext>
            </p:extLst>
          </p:nvPr>
        </p:nvGraphicFramePr>
        <p:xfrm>
          <a:off x="609905" y="3383280"/>
          <a:ext cx="10971886" cy="914400"/>
        </p:xfrm>
        <a:graphic>
          <a:graphicData uri="http://schemas.openxmlformats.org/drawingml/2006/table">
            <a:tbl>
              <a:tblPr/>
              <a:tblGrid>
                <a:gridCol w="2743200"/>
                <a:gridCol w="2743200"/>
                <a:gridCol w="2743200"/>
                <a:gridCol w="2743200"/>
              </a:tblGrid>
              <a:tr h="274320">
                <a:tc>
                  <a:txBody>
                    <a:bodyPr/>
                    <a:lstStyle/>
                    <a:p>
                      <a:pPr indent="0" marL="0">
                        <a:buNone/>
                      </a:pPr>
                      <a:r>
                        <a:rPr lang="en-US" sz="900" dirty="0">
                          <a:solidFill>
                            <a:schemeClr val="accent3"/>
                          </a:solidFill>
                          <a:latin typeface="Consolas" pitchFamily="34" charset="0"/>
                          <a:ea typeface="Consolas" pitchFamily="34" charset="-122"/>
                          <a:cs typeface="Consolas" pitchFamily="34" charset="-120"/>
                        </a:rPr>
                        <a:t>SPECIFICATION</a:t>
                      </a:r>
                      <a:endParaRPr lang="en-US" sz="900" dirty="0">
                        <a:latin typeface="Consolas" charset="0"/>
                        <a:ea typeface="Consolas" charset="0"/>
                        <a:cs typeface="Consolas"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900" dirty="0">
                          <a:solidFill>
                            <a:schemeClr val="accent3"/>
                          </a:solidFill>
                          <a:latin typeface="Consolas" pitchFamily="34" charset="0"/>
                          <a:ea typeface="Consolas" pitchFamily="34" charset="-122"/>
                          <a:cs typeface="Consolas" pitchFamily="34" charset="-120"/>
                        </a:rPr>
                        <a:t>VERTEX3D</a:t>
                      </a:r>
                      <a:endParaRPr lang="en-US" sz="900" dirty="0">
                        <a:latin typeface="Consolas" charset="0"/>
                        <a:ea typeface="Consolas" charset="0"/>
                        <a:cs typeface="Consolas"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900" dirty="0">
                          <a:solidFill>
                            <a:schemeClr val="accent3"/>
                          </a:solidFill>
                          <a:latin typeface="Consolas" pitchFamily="34" charset="0"/>
                          <a:ea typeface="Consolas" pitchFamily="34" charset="-122"/>
                          <a:cs typeface="Consolas" pitchFamily="34" charset="-120"/>
                        </a:rPr>
                        <a:t>VERTEX3D PRO</a:t>
                      </a:r>
                      <a:endParaRPr lang="en-US" sz="900" dirty="0">
                        <a:latin typeface="Consolas" charset="0"/>
                        <a:ea typeface="Consolas" charset="0"/>
                        <a:cs typeface="Consolas"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900" dirty="0">
                          <a:solidFill>
                            <a:schemeClr val="accent3"/>
                          </a:solidFill>
                          <a:latin typeface="Consolas" pitchFamily="34" charset="0"/>
                          <a:ea typeface="Consolas" pitchFamily="34" charset="-122"/>
                          <a:cs typeface="Consolas" pitchFamily="34" charset="-120"/>
                        </a:rPr>
                        <a:t>VERTEX TRACKER</a:t>
                      </a:r>
                      <a:endParaRPr lang="en-US" sz="900" dirty="0">
                        <a:latin typeface="Consolas" charset="0"/>
                        <a:ea typeface="Consolas" charset="0"/>
                        <a:cs typeface="Consolas"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r>
              <a:tr h="274320">
                <a:tc>
                  <a:txBody>
                    <a:bodyPr/>
                    <a:lstStyle/>
                    <a:p>
                      <a:pPr indent="0" marL="0">
                        <a:buNone/>
                      </a:pPr>
                      <a:r>
                        <a:rPr lang="en-US" sz="1050" b="1" dirty="0">
                          <a:solidFill>
                            <a:schemeClr val="tx1"/>
                          </a:solidFill>
                          <a:latin typeface="Calibri" pitchFamily="34" charset="0"/>
                          <a:ea typeface="Calibri" pitchFamily="34" charset="-122"/>
                          <a:cs typeface="Calibri" pitchFamily="34" charset="-120"/>
                        </a:rPr>
                        <a:t>High-speed scanning</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26 crossed blue laser lines</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50 crossed blue laser lines</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50 crossed blue laser lines</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r>
              <a:tr h="274320">
                <a:tc>
                  <a:txBody>
                    <a:bodyPr/>
                    <a:lstStyle/>
                    <a:p>
                      <a:pPr indent="0" marL="0">
                        <a:buNone/>
                      </a:pPr>
                      <a:r>
                        <a:rPr lang="en-US" sz="1050" b="1" dirty="0">
                          <a:solidFill>
                            <a:schemeClr val="tx1"/>
                          </a:solidFill>
                          <a:latin typeface="Calibri" pitchFamily="34" charset="0"/>
                          <a:ea typeface="Calibri" pitchFamily="34" charset="-122"/>
                          <a:cs typeface="Calibri" pitchFamily="34" charset="-120"/>
                        </a:rPr>
                        <a:t>Max. scanning speed</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5,400,000 measurements/s</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7,100,000 measurements/s</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7,100,000 measurements/s</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r>
              <a:tr h="274320">
                <a:tc>
                  <a:txBody>
                    <a:bodyPr/>
                    <a:lstStyle/>
                    <a:p>
                      <a:pPr indent="0" marL="0">
                        <a:buNone/>
                      </a:pPr>
                      <a:r>
                        <a:rPr lang="en-US" sz="1050" b="1" dirty="0">
                          <a:solidFill>
                            <a:schemeClr val="tx1"/>
                          </a:solidFill>
                          <a:latin typeface="Calibri" pitchFamily="34" charset="0"/>
                          <a:ea typeface="Calibri" pitchFamily="34" charset="-122"/>
                          <a:cs typeface="Calibri" pitchFamily="34" charset="-120"/>
                        </a:rPr>
                        <a:t>Max. scanning field</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650 × 550 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650 × 550 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1100 × 800 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r>
              <a:tr h="274320">
                <a:tc>
                  <a:txBody>
                    <a:bodyPr/>
                    <a:lstStyle/>
                    <a:p>
                      <a:pPr indent="0" marL="0">
                        <a:buNone/>
                      </a:pPr>
                      <a:r>
                        <a:rPr lang="en-US" sz="1050" b="1" dirty="0">
                          <a:solidFill>
                            <a:schemeClr val="tx1"/>
                          </a:solidFill>
                          <a:latin typeface="Calibri" pitchFamily="34" charset="0"/>
                          <a:ea typeface="Calibri" pitchFamily="34" charset="-122"/>
                          <a:cs typeface="Calibri" pitchFamily="34" charset="-120"/>
                        </a:rPr>
                        <a:t>Max. resolution</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0.01 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0.01 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0.01 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r>
              <a:tr h="274320">
                <a:tc>
                  <a:txBody>
                    <a:bodyPr/>
                    <a:lstStyle/>
                    <a:p>
                      <a:pPr indent="0" marL="0">
                        <a:buNone/>
                      </a:pPr>
                      <a:r>
                        <a:rPr lang="en-US" sz="1050" b="1" dirty="0">
                          <a:solidFill>
                            <a:schemeClr val="tx1"/>
                          </a:solidFill>
                          <a:latin typeface="Calibri" pitchFamily="34" charset="0"/>
                          <a:ea typeface="Calibri" pitchFamily="34" charset="-122"/>
                          <a:cs typeface="Calibri" pitchFamily="34" charset="-120"/>
                        </a:rPr>
                        <a:t>Volume accuracy</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0.015 mm + 0.035 mm/m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0.015 mm + 0.035 mm/m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10.0 m³: 0.060 mm · 25.0 m³: 0.083 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r>
              <a:tr h="274320">
                <a:tc>
                  <a:txBody>
                    <a:bodyPr/>
                    <a:lstStyle/>
                    <a:p>
                      <a:pPr indent="0" marL="0">
                        <a:buNone/>
                      </a:pPr>
                      <a:r>
                        <a:rPr lang="en-US" sz="1050" b="1" dirty="0">
                          <a:solidFill>
                            <a:schemeClr val="tx1"/>
                          </a:solidFill>
                          <a:latin typeface="Calibri" pitchFamily="34" charset="0"/>
                          <a:ea typeface="Calibri" pitchFamily="34" charset="-122"/>
                          <a:cs typeface="Calibri" pitchFamily="34" charset="-120"/>
                        </a:rPr>
                        <a:t>Recommended sample size</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&gt; 10 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&gt; 10 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10 mm – 8000 mm</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r>
              <a:tr h="274320">
                <a:tc>
                  <a:txBody>
                    <a:bodyPr/>
                    <a:lstStyle/>
                    <a:p>
                      <a:pPr indent="0" marL="0">
                        <a:buNone/>
                      </a:pPr>
                      <a:r>
                        <a:rPr lang="en-US" sz="1050" b="1" dirty="0">
                          <a:solidFill>
                            <a:schemeClr val="tx1"/>
                          </a:solidFill>
                          <a:latin typeface="Calibri" pitchFamily="34" charset="0"/>
                          <a:ea typeface="Calibri" pitchFamily="34" charset="-122"/>
                          <a:cs typeface="Calibri" pitchFamily="34" charset="-120"/>
                        </a:rPr>
                        <a:t>Output formats</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.STL, .PLY, .ASC, .TXT</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.STL, .PLY, .ASC, .TXT</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.STL, .PLY, .ASC, .TXT</a:t>
                      </a:r>
                      <a:endParaRPr lang="en-US" sz="1050" dirty="0">
                        <a:latin typeface="Calibri" charset="0"/>
                        <a:ea typeface="Calibri" charset="0"/>
                        <a:cs typeface="Calibri" charset="0"/>
                      </a:endParaRPr>
                    </a:p>
                  </a:txBody>
                  <a:tcPr marL="73152" marR="73152" marT="0" marB="0" anchor="ctr">
                    <a:lnL w="6350" cap="flat" cmpd="sng" algn="ctr">
                      <a:solidFill>
                        <a:srgbClr val="DADDE1"/>
                      </a:solidFill>
                      <a:prstDash val="solid"/>
                      <a:round/>
                      <a:headEnd type="none" w="med" len="med"/>
                      <a:tailEnd type="none" w="med" len="med"/>
                    </a:lnL>
                    <a:lnR w="6350" cap="flat" cmpd="sng" algn="ctr">
                      <a:solidFill>
                        <a:srgbClr val="DADDE1"/>
                      </a:solidFill>
                      <a:prstDash val="solid"/>
                      <a:round/>
                      <a:headEnd type="none" w="med" len="med"/>
                      <a:tailEnd type="none" w="med" len="med"/>
                    </a:lnR>
                    <a:lnT w="6350" cap="flat" cmpd="sng" algn="ctr">
                      <a:solidFill>
                        <a:srgbClr val="DADDE1"/>
                      </a:solidFill>
                      <a:prstDash val="solid"/>
                      <a:round/>
                      <a:headEnd type="none" w="med" len="med"/>
                      <a:tailEnd type="none" w="med" len="med"/>
                    </a:lnT>
                    <a:lnB w="6350" cap="flat" cmpd="sng" algn="ctr">
                      <a:solidFill>
                        <a:srgbClr val="DADDE1"/>
                      </a:solidFill>
                      <a:prstDash val="solid"/>
                      <a:round/>
                      <a:headEnd type="none" w="med" len="med"/>
                      <a:tailEnd type="none" w="med" len="med"/>
                    </a:lnB>
                  </a:tcPr>
                </a:tc>
              </a:tr>
            </a:tbl>
          </a:graphicData>
        </a:graphic>
      </p:graphicFrame>
      <p:sp>
        <p:nvSpPr>
          <p:cNvPr id="22" name="Text 15"/>
          <p:cNvSpPr txBox="1"/>
          <p:nvPr/>
        </p:nvSpPr>
        <p:spPr>
          <a:xfrm>
            <a:off x="609905" y="5715000"/>
            <a:ext cx="10971886" cy="365760"/>
          </a:xfrm>
          <a:prstGeom prst="rect">
            <a:avLst/>
          </a:prstGeom>
          <a:noFill/>
          <a:ln/>
        </p:spPr>
        <p:txBody>
          <a:bodyPr wrap="square" lIns="0" tIns="0" rIns="0" bIns="0" rtlCol="0" anchor="t"/>
          <a:lstStyle/>
          <a:p>
            <a:pPr indent="0" marL="0">
              <a:buNone/>
            </a:pPr>
            <a:r>
              <a:rPr lang="en-US" sz="900" dirty="0">
                <a:solidFill>
                  <a:schemeClr val="accent1"/>
                </a:solidFill>
                <a:latin typeface="Consolas" pitchFamily="34" charset="0"/>
                <a:ea typeface="Consolas" pitchFamily="34" charset="-122"/>
                <a:cs typeface="Consolas" pitchFamily="34" charset="-120"/>
              </a:rPr>
              <a:t>RECOMMENDED PC   </a:t>
            </a:r>
            <a:pPr indent="0" marL="0">
              <a:buNone/>
            </a:pPr>
            <a:r>
              <a:rPr lang="en-US" sz="1000" dirty="0">
                <a:solidFill>
                  <a:schemeClr val="accent3"/>
                </a:solidFill>
              </a:rPr>
              <a:t>Windows 10 or later (64-bit) · NVIDIA GTX/RTX GPU (e.g. RTX 4060 or higher), 8 GB+ VRAM · Intel Core i7-13700H or better · 32 GB RAM or more</a:t>
            </a:r>
            <a:endParaRPr lang="en-US" sz="10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609905" y="548640"/>
            <a:ext cx="7315200" cy="274320"/>
          </a:xfrm>
          <a:prstGeom prst="rect">
            <a:avLst/>
          </a:prstGeom>
          <a:noFill/>
          <a:ln/>
        </p:spPr>
        <p:txBody>
          <a:bodyPr wrap="square" lIns="0" tIns="0" rIns="0" bIns="0" rtlCol="0" anchor="t"/>
          <a:lstStyle/>
          <a:p>
            <a:pPr indent="0" marL="0">
              <a:buNone/>
            </a:pPr>
            <a:r>
              <a:rPr lang="en-US" sz="1000" dirty="0">
                <a:solidFill>
                  <a:schemeClr val="accent1"/>
                </a:solidFill>
                <a:latin typeface="Consolas" pitchFamily="34" charset="0"/>
                <a:ea typeface="Consolas" pitchFamily="34" charset="-122"/>
                <a:cs typeface="Consolas" pitchFamily="34" charset="-120"/>
              </a:rPr>
              <a:t>( 07 ) — WHAT CLIENTS SAY</a:t>
            </a:r>
            <a:endParaRPr lang="en-US" sz="1000" dirty="0"/>
          </a:p>
        </p:txBody>
      </p:sp>
      <p:sp>
        <p:nvSpPr>
          <p:cNvPr id="3" name="Text 1"/>
          <p:cNvSpPr/>
          <p:nvPr>
            <p:ph idx="103" type="title" hasCustomPrompt="1"/>
          </p:nvPr>
        </p:nvSpPr>
        <p:spPr>
          <a:xfrm>
            <a:off x="609905" y="822960"/>
            <a:ext cx="7498080" cy="731520"/>
          </a:xfrm>
          <a:prstGeom prst="rect">
            <a:avLst/>
          </a:prstGeom>
          <a:noFill/>
          <a:ln/>
        </p:spPr>
        <p:txBody>
          <a:bodyPr wrap="square" lIns="0" tIns="0" rIns="0" bIns="0" rtlCol="0" anchor="t"/>
          <a:lstStyle/>
          <a:p>
            <a:pPr algn="l" indent="0" marL="0">
              <a:buNone/>
            </a:pPr>
            <a:r>
              <a:rPr lang="en-US" sz="3200" dirty="0">
                <a:solidFill>
                  <a:schemeClr val="tx1"/>
                </a:solidFill>
                <a:latin typeface="Century Gothic" pitchFamily="34" charset="0"/>
                <a:ea typeface="Century Gothic" pitchFamily="34" charset="-122"/>
                <a:cs typeface="Century Gothic" pitchFamily="34" charset="-120"/>
              </a:rPr>
              <a:t>Trusted </a:t>
            </a:r>
            <a:pPr algn="l" indent="0" marL="0">
              <a:buNone/>
            </a:pPr>
            <a:r>
              <a:rPr lang="en-US" sz="3200" dirty="0">
                <a:solidFill>
                  <a:schemeClr val="accent1"/>
                </a:solidFill>
                <a:latin typeface="Century Gothic" pitchFamily="34" charset="0"/>
                <a:ea typeface="Century Gothic" pitchFamily="34" charset="-122"/>
                <a:cs typeface="Century Gothic" pitchFamily="34" charset="-120"/>
              </a:rPr>
              <a:t>worldwide</a:t>
            </a:r>
            <a:endParaRPr lang="en-US" sz="3200" dirty="0"/>
          </a:p>
        </p:txBody>
      </p:sp>
      <p:sp>
        <p:nvSpPr>
          <p:cNvPr id="5" name="Text 2"/>
          <p:cNvSpPr txBox="1"/>
          <p:nvPr/>
        </p:nvSpPr>
        <p:spPr>
          <a:xfrm>
            <a:off x="6309360" y="1188720"/>
            <a:ext cx="5276088" cy="274320"/>
          </a:xfrm>
          <a:prstGeom prst="rect">
            <a:avLst/>
          </a:prstGeom>
          <a:noFill/>
          <a:ln/>
        </p:spPr>
        <p:txBody>
          <a:bodyPr wrap="square" lIns="0" tIns="0" rIns="0" bIns="0" rtlCol="0" anchor="t"/>
          <a:lstStyle/>
          <a:p>
            <a:pPr algn="r" indent="0" marL="0">
              <a:buNone/>
            </a:pPr>
            <a:r>
              <a:rPr lang="en-US" sz="1100" spc="100" kern="0" dirty="0">
                <a:solidFill>
                  <a:schemeClr val="accent3"/>
                </a:solidFill>
                <a:latin typeface="Consolas" pitchFamily="34" charset="0"/>
                <a:ea typeface="Consolas" pitchFamily="34" charset="-122"/>
                <a:cs typeface="Consolas" pitchFamily="34" charset="-120"/>
              </a:rPr>
              <a:t>INDIA · UAE · SAUDI ARABIA · USA · UK · GERMANY · CANADA</a:t>
            </a:r>
            <a:endParaRPr lang="en-US" sz="1100" dirty="0"/>
          </a:p>
        </p:txBody>
      </p:sp>
      <p:sp>
        <p:nvSpPr>
          <p:cNvPr id="6" name="Quote Rachel Labonte"/>
          <p:cNvSpPr/>
          <p:nvPr/>
        </p:nvSpPr>
        <p:spPr>
          <a:xfrm>
            <a:off x="609905" y="1783080"/>
            <a:ext cx="3538728" cy="2103120"/>
          </a:xfrm>
          <a:prstGeom prst="roundRect">
            <a:avLst>
              <a:gd name="adj" fmla="val 3478"/>
            </a:avLst>
          </a:prstGeom>
          <a:solidFill>
            <a:schemeClr val="bg1"/>
          </a:solidFill>
          <a:ln w="9525">
            <a:solidFill>
              <a:schemeClr val="accent5"/>
            </a:solidFill>
            <a:prstDash val="solid"/>
          </a:ln>
        </p:spPr>
      </p:sp>
      <p:sp>
        <p:nvSpPr>
          <p:cNvPr id="7" name="Text 4"/>
          <p:cNvSpPr txBox="1"/>
          <p:nvPr/>
        </p:nvSpPr>
        <p:spPr>
          <a:xfrm>
            <a:off x="811073" y="1892808"/>
            <a:ext cx="457200" cy="411480"/>
          </a:xfrm>
          <a:prstGeom prst="rect">
            <a:avLst/>
          </a:prstGeom>
          <a:noFill/>
          <a:ln/>
        </p:spPr>
        <p:txBody>
          <a:bodyPr wrap="square" lIns="0" tIns="0" rIns="0" bIns="0" rtlCol="0" anchor="t"/>
          <a:lstStyle/>
          <a:p>
            <a:pPr indent="0" marL="0">
              <a:buNone/>
            </a:pPr>
            <a:r>
              <a:rPr lang="en-US" sz="3600" dirty="0">
                <a:solidFill>
                  <a:schemeClr val="accent1"/>
                </a:solidFill>
                <a:latin typeface="Century Gothic" pitchFamily="34" charset="0"/>
                <a:ea typeface="Century Gothic" pitchFamily="34" charset="-122"/>
                <a:cs typeface="Century Gothic" pitchFamily="34" charset="-120"/>
              </a:rPr>
              <a:t>“</a:t>
            </a:r>
            <a:endParaRPr lang="en-US" sz="3600" dirty="0"/>
          </a:p>
        </p:txBody>
      </p:sp>
      <p:sp>
        <p:nvSpPr>
          <p:cNvPr id="8" name="Text 5"/>
          <p:cNvSpPr txBox="1"/>
          <p:nvPr/>
        </p:nvSpPr>
        <p:spPr>
          <a:xfrm>
            <a:off x="811073" y="2240280"/>
            <a:ext cx="3136392" cy="1097280"/>
          </a:xfrm>
          <a:prstGeom prst="rect">
            <a:avLst/>
          </a:prstGeom>
          <a:noFill/>
          <a:ln/>
        </p:spPr>
        <p:txBody>
          <a:bodyPr wrap="square" lIns="0" tIns="0" rIns="0" bIns="0" rtlCol="0" anchor="t"/>
          <a:lstStyle/>
          <a:p>
            <a:pPr indent="0" marL="0">
              <a:buNone/>
            </a:pPr>
            <a:r>
              <a:rPr lang="en-US" sz="1150" dirty="0">
                <a:solidFill>
                  <a:schemeClr val="accent6"/>
                </a:solidFill>
              </a:rPr>
              <a:t>VShark Solutions was able to take a relatively poorly scanned object and convert it to a solid model with very accurate dimensions. Their surfacing skills are amazing, and the accuracy is perfect for our needs.</a:t>
            </a:r>
            <a:endParaRPr lang="en-US" sz="1150" dirty="0"/>
          </a:p>
        </p:txBody>
      </p:sp>
      <p:sp>
        <p:nvSpPr>
          <p:cNvPr id="9" name="Text 6"/>
          <p:cNvSpPr txBox="1"/>
          <p:nvPr/>
        </p:nvSpPr>
        <p:spPr>
          <a:xfrm>
            <a:off x="811073" y="3383280"/>
            <a:ext cx="3136392" cy="228600"/>
          </a:xfrm>
          <a:prstGeom prst="rect">
            <a:avLst/>
          </a:prstGeom>
          <a:noFill/>
          <a:ln/>
        </p:spPr>
        <p:txBody>
          <a:bodyPr wrap="square" lIns="0" tIns="0" rIns="0" bIns="0" rtlCol="0" anchor="t"/>
          <a:lstStyle/>
          <a:p>
            <a:pPr indent="0" marL="0">
              <a:buNone/>
            </a:pPr>
            <a:r>
              <a:rPr lang="en-US" sz="1200" b="1" dirty="0">
                <a:solidFill>
                  <a:schemeClr val="tx1"/>
                </a:solidFill>
                <a:latin typeface="Century Gothic" pitchFamily="34" charset="0"/>
                <a:ea typeface="Century Gothic" pitchFamily="34" charset="-122"/>
                <a:cs typeface="Century Gothic" pitchFamily="34" charset="-120"/>
              </a:rPr>
              <a:t>Rachel Labonte</a:t>
            </a:r>
            <a:endParaRPr lang="en-US" sz="1200" dirty="0"/>
          </a:p>
        </p:txBody>
      </p:sp>
      <p:sp>
        <p:nvSpPr>
          <p:cNvPr id="10" name="Text 7"/>
          <p:cNvSpPr txBox="1"/>
          <p:nvPr/>
        </p:nvSpPr>
        <p:spPr>
          <a:xfrm>
            <a:off x="811073" y="3611880"/>
            <a:ext cx="3136392"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CANADA</a:t>
            </a:r>
            <a:endParaRPr lang="en-US" sz="900" dirty="0"/>
          </a:p>
        </p:txBody>
      </p:sp>
      <p:sp>
        <p:nvSpPr>
          <p:cNvPr id="11" name="Quote Mace Roper"/>
          <p:cNvSpPr/>
          <p:nvPr/>
        </p:nvSpPr>
        <p:spPr>
          <a:xfrm>
            <a:off x="4331513" y="1783080"/>
            <a:ext cx="3538728" cy="2103120"/>
          </a:xfrm>
          <a:prstGeom prst="roundRect">
            <a:avLst>
              <a:gd name="adj" fmla="val 3478"/>
            </a:avLst>
          </a:prstGeom>
          <a:solidFill>
            <a:schemeClr val="bg1"/>
          </a:solidFill>
          <a:ln w="9525">
            <a:solidFill>
              <a:schemeClr val="accent5"/>
            </a:solidFill>
            <a:prstDash val="solid"/>
          </a:ln>
        </p:spPr>
      </p:sp>
      <p:sp>
        <p:nvSpPr>
          <p:cNvPr id="12" name="Text 9"/>
          <p:cNvSpPr txBox="1"/>
          <p:nvPr/>
        </p:nvSpPr>
        <p:spPr>
          <a:xfrm>
            <a:off x="4532681" y="1892808"/>
            <a:ext cx="457200" cy="411480"/>
          </a:xfrm>
          <a:prstGeom prst="rect">
            <a:avLst/>
          </a:prstGeom>
          <a:noFill/>
          <a:ln/>
        </p:spPr>
        <p:txBody>
          <a:bodyPr wrap="square" lIns="0" tIns="0" rIns="0" bIns="0" rtlCol="0" anchor="t"/>
          <a:lstStyle/>
          <a:p>
            <a:pPr indent="0" marL="0">
              <a:buNone/>
            </a:pPr>
            <a:r>
              <a:rPr lang="en-US" sz="3600" dirty="0">
                <a:solidFill>
                  <a:schemeClr val="accent1"/>
                </a:solidFill>
                <a:latin typeface="Century Gothic" pitchFamily="34" charset="0"/>
                <a:ea typeface="Century Gothic" pitchFamily="34" charset="-122"/>
                <a:cs typeface="Century Gothic" pitchFamily="34" charset="-120"/>
              </a:rPr>
              <a:t>“</a:t>
            </a:r>
            <a:endParaRPr lang="en-US" sz="3600" dirty="0"/>
          </a:p>
        </p:txBody>
      </p:sp>
      <p:sp>
        <p:nvSpPr>
          <p:cNvPr id="13" name="Text 10"/>
          <p:cNvSpPr txBox="1"/>
          <p:nvPr/>
        </p:nvSpPr>
        <p:spPr>
          <a:xfrm>
            <a:off x="4532681" y="2240280"/>
            <a:ext cx="3136392" cy="1097280"/>
          </a:xfrm>
          <a:prstGeom prst="rect">
            <a:avLst/>
          </a:prstGeom>
          <a:noFill/>
          <a:ln/>
        </p:spPr>
        <p:txBody>
          <a:bodyPr wrap="square" lIns="0" tIns="0" rIns="0" bIns="0" rtlCol="0" anchor="t"/>
          <a:lstStyle/>
          <a:p>
            <a:pPr indent="0" marL="0">
              <a:buNone/>
            </a:pPr>
            <a:r>
              <a:rPr lang="en-US" sz="1150" dirty="0">
                <a:solidFill>
                  <a:schemeClr val="accent6"/>
                </a:solidFill>
              </a:rPr>
              <a:t>VSHARK provided the best engineering service we've ever experienced. Their attention to detail and quick responsiveness made working with them a pleasure. We've collaborated with them many times and will continue to do so.</a:t>
            </a:r>
            <a:endParaRPr lang="en-US" sz="1150" dirty="0"/>
          </a:p>
        </p:txBody>
      </p:sp>
      <p:sp>
        <p:nvSpPr>
          <p:cNvPr id="14" name="Text 11"/>
          <p:cNvSpPr txBox="1"/>
          <p:nvPr/>
        </p:nvSpPr>
        <p:spPr>
          <a:xfrm>
            <a:off x="4532681" y="3383280"/>
            <a:ext cx="3136392" cy="228600"/>
          </a:xfrm>
          <a:prstGeom prst="rect">
            <a:avLst/>
          </a:prstGeom>
          <a:noFill/>
          <a:ln/>
        </p:spPr>
        <p:txBody>
          <a:bodyPr wrap="square" lIns="0" tIns="0" rIns="0" bIns="0" rtlCol="0" anchor="t"/>
          <a:lstStyle/>
          <a:p>
            <a:pPr indent="0" marL="0">
              <a:buNone/>
            </a:pPr>
            <a:r>
              <a:rPr lang="en-US" sz="1200" b="1" dirty="0">
                <a:solidFill>
                  <a:schemeClr val="tx1"/>
                </a:solidFill>
                <a:latin typeface="Century Gothic" pitchFamily="34" charset="0"/>
                <a:ea typeface="Century Gothic" pitchFamily="34" charset="-122"/>
                <a:cs typeface="Century Gothic" pitchFamily="34" charset="-120"/>
              </a:rPr>
              <a:t>Mace Roper</a:t>
            </a:r>
            <a:endParaRPr lang="en-US" sz="1200" dirty="0"/>
          </a:p>
        </p:txBody>
      </p:sp>
      <p:sp>
        <p:nvSpPr>
          <p:cNvPr id="15" name="Text 12"/>
          <p:cNvSpPr txBox="1"/>
          <p:nvPr/>
        </p:nvSpPr>
        <p:spPr>
          <a:xfrm>
            <a:off x="4532681" y="3611880"/>
            <a:ext cx="3136392"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UNITED STATES</a:t>
            </a:r>
            <a:endParaRPr lang="en-US" sz="900" dirty="0"/>
          </a:p>
        </p:txBody>
      </p:sp>
      <p:sp>
        <p:nvSpPr>
          <p:cNvPr id="16" name="Quote Benedikt Klein"/>
          <p:cNvSpPr/>
          <p:nvPr/>
        </p:nvSpPr>
        <p:spPr>
          <a:xfrm>
            <a:off x="8053121" y="1783080"/>
            <a:ext cx="3538728" cy="2103120"/>
          </a:xfrm>
          <a:prstGeom prst="roundRect">
            <a:avLst>
              <a:gd name="adj" fmla="val 3478"/>
            </a:avLst>
          </a:prstGeom>
          <a:solidFill>
            <a:schemeClr val="bg1"/>
          </a:solidFill>
          <a:ln w="9525">
            <a:solidFill>
              <a:schemeClr val="accent5"/>
            </a:solidFill>
            <a:prstDash val="solid"/>
          </a:ln>
        </p:spPr>
      </p:sp>
      <p:sp>
        <p:nvSpPr>
          <p:cNvPr id="17" name="Text 14"/>
          <p:cNvSpPr txBox="1"/>
          <p:nvPr/>
        </p:nvSpPr>
        <p:spPr>
          <a:xfrm>
            <a:off x="8254289" y="1892808"/>
            <a:ext cx="457200" cy="411480"/>
          </a:xfrm>
          <a:prstGeom prst="rect">
            <a:avLst/>
          </a:prstGeom>
          <a:noFill/>
          <a:ln/>
        </p:spPr>
        <p:txBody>
          <a:bodyPr wrap="square" lIns="0" tIns="0" rIns="0" bIns="0" rtlCol="0" anchor="t"/>
          <a:lstStyle/>
          <a:p>
            <a:pPr indent="0" marL="0">
              <a:buNone/>
            </a:pPr>
            <a:r>
              <a:rPr lang="en-US" sz="3600" dirty="0">
                <a:solidFill>
                  <a:schemeClr val="accent1"/>
                </a:solidFill>
                <a:latin typeface="Century Gothic" pitchFamily="34" charset="0"/>
                <a:ea typeface="Century Gothic" pitchFamily="34" charset="-122"/>
                <a:cs typeface="Century Gothic" pitchFamily="34" charset="-120"/>
              </a:rPr>
              <a:t>“</a:t>
            </a:r>
            <a:endParaRPr lang="en-US" sz="3600" dirty="0"/>
          </a:p>
        </p:txBody>
      </p:sp>
      <p:sp>
        <p:nvSpPr>
          <p:cNvPr id="18" name="Text 15"/>
          <p:cNvSpPr txBox="1"/>
          <p:nvPr/>
        </p:nvSpPr>
        <p:spPr>
          <a:xfrm>
            <a:off x="8254289" y="2240280"/>
            <a:ext cx="3136392" cy="1097280"/>
          </a:xfrm>
          <a:prstGeom prst="rect">
            <a:avLst/>
          </a:prstGeom>
          <a:noFill/>
          <a:ln/>
        </p:spPr>
        <p:txBody>
          <a:bodyPr wrap="square" lIns="0" tIns="0" rIns="0" bIns="0" rtlCol="0" anchor="t"/>
          <a:lstStyle/>
          <a:p>
            <a:pPr indent="0" marL="0">
              <a:buNone/>
            </a:pPr>
            <a:r>
              <a:rPr lang="en-US" sz="1150" dirty="0">
                <a:solidFill>
                  <a:schemeClr val="accent6"/>
                </a:solidFill>
              </a:rPr>
              <a:t>Working with VSHARK on a reverse engineering and 3D modelling project was impressive; their professionalism, clear communication, and dedication to quality made the entire process smooth and efficient.</a:t>
            </a:r>
            <a:endParaRPr lang="en-US" sz="1150" dirty="0"/>
          </a:p>
        </p:txBody>
      </p:sp>
      <p:sp>
        <p:nvSpPr>
          <p:cNvPr id="19" name="Text 16"/>
          <p:cNvSpPr txBox="1"/>
          <p:nvPr/>
        </p:nvSpPr>
        <p:spPr>
          <a:xfrm>
            <a:off x="8254289" y="3383280"/>
            <a:ext cx="3136392" cy="228600"/>
          </a:xfrm>
          <a:prstGeom prst="rect">
            <a:avLst/>
          </a:prstGeom>
          <a:noFill/>
          <a:ln/>
        </p:spPr>
        <p:txBody>
          <a:bodyPr wrap="square" lIns="0" tIns="0" rIns="0" bIns="0" rtlCol="0" anchor="t"/>
          <a:lstStyle/>
          <a:p>
            <a:pPr indent="0" marL="0">
              <a:buNone/>
            </a:pPr>
            <a:r>
              <a:rPr lang="en-US" sz="1200" b="1" dirty="0">
                <a:solidFill>
                  <a:schemeClr val="tx1"/>
                </a:solidFill>
                <a:latin typeface="Century Gothic" pitchFamily="34" charset="0"/>
                <a:ea typeface="Century Gothic" pitchFamily="34" charset="-122"/>
                <a:cs typeface="Century Gothic" pitchFamily="34" charset="-120"/>
              </a:rPr>
              <a:t>Benedikt Klein</a:t>
            </a:r>
            <a:endParaRPr lang="en-US" sz="1200" dirty="0"/>
          </a:p>
        </p:txBody>
      </p:sp>
      <p:sp>
        <p:nvSpPr>
          <p:cNvPr id="20" name="Text 17"/>
          <p:cNvSpPr txBox="1"/>
          <p:nvPr/>
        </p:nvSpPr>
        <p:spPr>
          <a:xfrm>
            <a:off x="8254289" y="3611880"/>
            <a:ext cx="3136392"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GERMANY</a:t>
            </a:r>
            <a:endParaRPr lang="en-US" sz="900" dirty="0"/>
          </a:p>
        </p:txBody>
      </p:sp>
      <p:sp>
        <p:nvSpPr>
          <p:cNvPr id="21" name="Quote Xander Elon"/>
          <p:cNvSpPr/>
          <p:nvPr/>
        </p:nvSpPr>
        <p:spPr>
          <a:xfrm>
            <a:off x="609905" y="4023360"/>
            <a:ext cx="3538728" cy="2103120"/>
          </a:xfrm>
          <a:prstGeom prst="roundRect">
            <a:avLst>
              <a:gd name="adj" fmla="val 3478"/>
            </a:avLst>
          </a:prstGeom>
          <a:solidFill>
            <a:schemeClr val="bg1"/>
          </a:solidFill>
          <a:ln w="9525">
            <a:solidFill>
              <a:schemeClr val="accent5"/>
            </a:solidFill>
            <a:prstDash val="solid"/>
          </a:ln>
        </p:spPr>
      </p:sp>
      <p:sp>
        <p:nvSpPr>
          <p:cNvPr id="22" name="Text 19"/>
          <p:cNvSpPr txBox="1"/>
          <p:nvPr/>
        </p:nvSpPr>
        <p:spPr>
          <a:xfrm>
            <a:off x="811073" y="4133088"/>
            <a:ext cx="457200" cy="411480"/>
          </a:xfrm>
          <a:prstGeom prst="rect">
            <a:avLst/>
          </a:prstGeom>
          <a:noFill/>
          <a:ln/>
        </p:spPr>
        <p:txBody>
          <a:bodyPr wrap="square" lIns="0" tIns="0" rIns="0" bIns="0" rtlCol="0" anchor="t"/>
          <a:lstStyle/>
          <a:p>
            <a:pPr indent="0" marL="0">
              <a:buNone/>
            </a:pPr>
            <a:r>
              <a:rPr lang="en-US" sz="3600" dirty="0">
                <a:solidFill>
                  <a:schemeClr val="accent1"/>
                </a:solidFill>
                <a:latin typeface="Century Gothic" pitchFamily="34" charset="0"/>
                <a:ea typeface="Century Gothic" pitchFamily="34" charset="-122"/>
                <a:cs typeface="Century Gothic" pitchFamily="34" charset="-120"/>
              </a:rPr>
              <a:t>“</a:t>
            </a:r>
            <a:endParaRPr lang="en-US" sz="3600" dirty="0"/>
          </a:p>
        </p:txBody>
      </p:sp>
      <p:sp>
        <p:nvSpPr>
          <p:cNvPr id="23" name="Text 20"/>
          <p:cNvSpPr txBox="1"/>
          <p:nvPr/>
        </p:nvSpPr>
        <p:spPr>
          <a:xfrm>
            <a:off x="811073" y="4480560"/>
            <a:ext cx="3136392" cy="1097280"/>
          </a:xfrm>
          <a:prstGeom prst="rect">
            <a:avLst/>
          </a:prstGeom>
          <a:noFill/>
          <a:ln/>
        </p:spPr>
        <p:txBody>
          <a:bodyPr wrap="square" lIns="0" tIns="0" rIns="0" bIns="0" rtlCol="0" anchor="t"/>
          <a:lstStyle/>
          <a:p>
            <a:pPr indent="0" marL="0">
              <a:buNone/>
            </a:pPr>
            <a:r>
              <a:rPr lang="en-US" sz="1150" dirty="0">
                <a:solidFill>
                  <a:schemeClr val="accent6"/>
                </a:solidFill>
              </a:rPr>
              <a:t>Exceptional work and accuracy! I will be using VSHARK skills again; I highly recommend them if you need something converted accurately. No need to look further.</a:t>
            </a:r>
            <a:endParaRPr lang="en-US" sz="1150" dirty="0"/>
          </a:p>
        </p:txBody>
      </p:sp>
      <p:sp>
        <p:nvSpPr>
          <p:cNvPr id="24" name="Text 21"/>
          <p:cNvSpPr txBox="1"/>
          <p:nvPr/>
        </p:nvSpPr>
        <p:spPr>
          <a:xfrm>
            <a:off x="811073" y="5623560"/>
            <a:ext cx="3136392" cy="228600"/>
          </a:xfrm>
          <a:prstGeom prst="rect">
            <a:avLst/>
          </a:prstGeom>
          <a:noFill/>
          <a:ln/>
        </p:spPr>
        <p:txBody>
          <a:bodyPr wrap="square" lIns="0" tIns="0" rIns="0" bIns="0" rtlCol="0" anchor="t"/>
          <a:lstStyle/>
          <a:p>
            <a:pPr indent="0" marL="0">
              <a:buNone/>
            </a:pPr>
            <a:r>
              <a:rPr lang="en-US" sz="1200" b="1" dirty="0">
                <a:solidFill>
                  <a:schemeClr val="tx1"/>
                </a:solidFill>
                <a:latin typeface="Century Gothic" pitchFamily="34" charset="0"/>
                <a:ea typeface="Century Gothic" pitchFamily="34" charset="-122"/>
                <a:cs typeface="Century Gothic" pitchFamily="34" charset="-120"/>
              </a:rPr>
              <a:t>Xander Elon</a:t>
            </a:r>
            <a:endParaRPr lang="en-US" sz="1200" dirty="0"/>
          </a:p>
        </p:txBody>
      </p:sp>
      <p:sp>
        <p:nvSpPr>
          <p:cNvPr id="25" name="Text 22"/>
          <p:cNvSpPr txBox="1"/>
          <p:nvPr/>
        </p:nvSpPr>
        <p:spPr>
          <a:xfrm>
            <a:off x="811073" y="5852160"/>
            <a:ext cx="3136392"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UNITED KINGDOM</a:t>
            </a:r>
            <a:endParaRPr lang="en-US" sz="900" dirty="0"/>
          </a:p>
        </p:txBody>
      </p:sp>
      <p:sp>
        <p:nvSpPr>
          <p:cNvPr id="26" name="Quote Ahtisham Muhammad"/>
          <p:cNvSpPr/>
          <p:nvPr/>
        </p:nvSpPr>
        <p:spPr>
          <a:xfrm>
            <a:off x="4331513" y="4023360"/>
            <a:ext cx="3538728" cy="2103120"/>
          </a:xfrm>
          <a:prstGeom prst="roundRect">
            <a:avLst>
              <a:gd name="adj" fmla="val 3478"/>
            </a:avLst>
          </a:prstGeom>
          <a:solidFill>
            <a:schemeClr val="bg1"/>
          </a:solidFill>
          <a:ln w="9525">
            <a:solidFill>
              <a:schemeClr val="accent5"/>
            </a:solidFill>
            <a:prstDash val="solid"/>
          </a:ln>
        </p:spPr>
      </p:sp>
      <p:sp>
        <p:nvSpPr>
          <p:cNvPr id="27" name="Text 24"/>
          <p:cNvSpPr txBox="1"/>
          <p:nvPr/>
        </p:nvSpPr>
        <p:spPr>
          <a:xfrm>
            <a:off x="4532681" y="4133088"/>
            <a:ext cx="457200" cy="411480"/>
          </a:xfrm>
          <a:prstGeom prst="rect">
            <a:avLst/>
          </a:prstGeom>
          <a:noFill/>
          <a:ln/>
        </p:spPr>
        <p:txBody>
          <a:bodyPr wrap="square" lIns="0" tIns="0" rIns="0" bIns="0" rtlCol="0" anchor="t"/>
          <a:lstStyle/>
          <a:p>
            <a:pPr indent="0" marL="0">
              <a:buNone/>
            </a:pPr>
            <a:r>
              <a:rPr lang="en-US" sz="3600" dirty="0">
                <a:solidFill>
                  <a:schemeClr val="accent1"/>
                </a:solidFill>
                <a:latin typeface="Century Gothic" pitchFamily="34" charset="0"/>
                <a:ea typeface="Century Gothic" pitchFamily="34" charset="-122"/>
                <a:cs typeface="Century Gothic" pitchFamily="34" charset="-120"/>
              </a:rPr>
              <a:t>“</a:t>
            </a:r>
            <a:endParaRPr lang="en-US" sz="3600" dirty="0"/>
          </a:p>
        </p:txBody>
      </p:sp>
      <p:sp>
        <p:nvSpPr>
          <p:cNvPr id="28" name="Text 25"/>
          <p:cNvSpPr txBox="1"/>
          <p:nvPr/>
        </p:nvSpPr>
        <p:spPr>
          <a:xfrm>
            <a:off x="4532681" y="4480560"/>
            <a:ext cx="3136392" cy="1097280"/>
          </a:xfrm>
          <a:prstGeom prst="rect">
            <a:avLst/>
          </a:prstGeom>
          <a:noFill/>
          <a:ln/>
        </p:spPr>
        <p:txBody>
          <a:bodyPr wrap="square" lIns="0" tIns="0" rIns="0" bIns="0" rtlCol="0" anchor="t"/>
          <a:lstStyle/>
          <a:p>
            <a:pPr indent="0" marL="0">
              <a:buNone/>
            </a:pPr>
            <a:r>
              <a:rPr lang="en-US" sz="1150" dirty="0">
                <a:solidFill>
                  <a:schemeClr val="accent6"/>
                </a:solidFill>
              </a:rPr>
              <a:t>VShark Solutions delivered exceptional work beyond my expectations! Their attention to detail and professionalism made the entire process seamless. I highly recommend them for any project.</a:t>
            </a:r>
            <a:endParaRPr lang="en-US" sz="1150" dirty="0"/>
          </a:p>
        </p:txBody>
      </p:sp>
      <p:sp>
        <p:nvSpPr>
          <p:cNvPr id="29" name="Text 26"/>
          <p:cNvSpPr txBox="1"/>
          <p:nvPr/>
        </p:nvSpPr>
        <p:spPr>
          <a:xfrm>
            <a:off x="4532681" y="5623560"/>
            <a:ext cx="3136392" cy="228600"/>
          </a:xfrm>
          <a:prstGeom prst="rect">
            <a:avLst/>
          </a:prstGeom>
          <a:noFill/>
          <a:ln/>
        </p:spPr>
        <p:txBody>
          <a:bodyPr wrap="square" lIns="0" tIns="0" rIns="0" bIns="0" rtlCol="0" anchor="t"/>
          <a:lstStyle/>
          <a:p>
            <a:pPr indent="0" marL="0">
              <a:buNone/>
            </a:pPr>
            <a:r>
              <a:rPr lang="en-US" sz="1200" b="1" dirty="0">
                <a:solidFill>
                  <a:schemeClr val="tx1"/>
                </a:solidFill>
                <a:latin typeface="Century Gothic" pitchFamily="34" charset="0"/>
                <a:ea typeface="Century Gothic" pitchFamily="34" charset="-122"/>
                <a:cs typeface="Century Gothic" pitchFamily="34" charset="-120"/>
              </a:rPr>
              <a:t>Ahtisham Muhammad</a:t>
            </a:r>
            <a:endParaRPr lang="en-US" sz="1200" dirty="0"/>
          </a:p>
        </p:txBody>
      </p:sp>
      <p:sp>
        <p:nvSpPr>
          <p:cNvPr id="30" name="Text 27"/>
          <p:cNvSpPr txBox="1"/>
          <p:nvPr/>
        </p:nvSpPr>
        <p:spPr>
          <a:xfrm>
            <a:off x="4532681" y="5852160"/>
            <a:ext cx="3136392"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SAUDI ARABIA</a:t>
            </a:r>
            <a:endParaRPr lang="en-US" sz="900" dirty="0"/>
          </a:p>
        </p:txBody>
      </p:sp>
      <p:sp>
        <p:nvSpPr>
          <p:cNvPr id="31" name="Quote Mariam Al-Ghayousi"/>
          <p:cNvSpPr/>
          <p:nvPr/>
        </p:nvSpPr>
        <p:spPr>
          <a:xfrm>
            <a:off x="8053121" y="4023360"/>
            <a:ext cx="3538728" cy="2103120"/>
          </a:xfrm>
          <a:prstGeom prst="roundRect">
            <a:avLst>
              <a:gd name="adj" fmla="val 3478"/>
            </a:avLst>
          </a:prstGeom>
          <a:solidFill>
            <a:schemeClr val="bg1"/>
          </a:solidFill>
          <a:ln w="9525">
            <a:solidFill>
              <a:schemeClr val="accent5"/>
            </a:solidFill>
            <a:prstDash val="solid"/>
          </a:ln>
        </p:spPr>
      </p:sp>
      <p:sp>
        <p:nvSpPr>
          <p:cNvPr id="32" name="Text 29"/>
          <p:cNvSpPr txBox="1"/>
          <p:nvPr/>
        </p:nvSpPr>
        <p:spPr>
          <a:xfrm>
            <a:off x="8254289" y="4133088"/>
            <a:ext cx="457200" cy="411480"/>
          </a:xfrm>
          <a:prstGeom prst="rect">
            <a:avLst/>
          </a:prstGeom>
          <a:noFill/>
          <a:ln/>
        </p:spPr>
        <p:txBody>
          <a:bodyPr wrap="square" lIns="0" tIns="0" rIns="0" bIns="0" rtlCol="0" anchor="t"/>
          <a:lstStyle/>
          <a:p>
            <a:pPr indent="0" marL="0">
              <a:buNone/>
            </a:pPr>
            <a:r>
              <a:rPr lang="en-US" sz="3600" dirty="0">
                <a:solidFill>
                  <a:schemeClr val="accent1"/>
                </a:solidFill>
                <a:latin typeface="Century Gothic" pitchFamily="34" charset="0"/>
                <a:ea typeface="Century Gothic" pitchFamily="34" charset="-122"/>
                <a:cs typeface="Century Gothic" pitchFamily="34" charset="-120"/>
              </a:rPr>
              <a:t>“</a:t>
            </a:r>
            <a:endParaRPr lang="en-US" sz="3600" dirty="0"/>
          </a:p>
        </p:txBody>
      </p:sp>
      <p:sp>
        <p:nvSpPr>
          <p:cNvPr id="33" name="Text 30"/>
          <p:cNvSpPr txBox="1"/>
          <p:nvPr/>
        </p:nvSpPr>
        <p:spPr>
          <a:xfrm>
            <a:off x="8254289" y="4480560"/>
            <a:ext cx="3136392" cy="1097280"/>
          </a:xfrm>
          <a:prstGeom prst="rect">
            <a:avLst/>
          </a:prstGeom>
          <a:noFill/>
          <a:ln/>
        </p:spPr>
        <p:txBody>
          <a:bodyPr wrap="square" lIns="0" tIns="0" rIns="0" bIns="0" rtlCol="0" anchor="t"/>
          <a:lstStyle/>
          <a:p>
            <a:pPr indent="0" marL="0">
              <a:buNone/>
            </a:pPr>
            <a:r>
              <a:rPr lang="en-US" sz="1150" dirty="0">
                <a:solidFill>
                  <a:schemeClr val="accent6"/>
                </a:solidFill>
              </a:rPr>
              <a:t>Working with VSHARK Engineers was a fantastic experience. Their creative approach and attention to detail perfectly aligned with our brand, and they were always polite and cooperative throughout the project.</a:t>
            </a:r>
            <a:endParaRPr lang="en-US" sz="1150" dirty="0"/>
          </a:p>
        </p:txBody>
      </p:sp>
      <p:sp>
        <p:nvSpPr>
          <p:cNvPr id="34" name="Text 31"/>
          <p:cNvSpPr txBox="1"/>
          <p:nvPr/>
        </p:nvSpPr>
        <p:spPr>
          <a:xfrm>
            <a:off x="8254289" y="5623560"/>
            <a:ext cx="3136392" cy="228600"/>
          </a:xfrm>
          <a:prstGeom prst="rect">
            <a:avLst/>
          </a:prstGeom>
          <a:noFill/>
          <a:ln/>
        </p:spPr>
        <p:txBody>
          <a:bodyPr wrap="square" lIns="0" tIns="0" rIns="0" bIns="0" rtlCol="0" anchor="t"/>
          <a:lstStyle/>
          <a:p>
            <a:pPr indent="0" marL="0">
              <a:buNone/>
            </a:pPr>
            <a:r>
              <a:rPr lang="en-US" sz="1200" b="1" dirty="0">
                <a:solidFill>
                  <a:schemeClr val="tx1"/>
                </a:solidFill>
                <a:latin typeface="Century Gothic" pitchFamily="34" charset="0"/>
                <a:ea typeface="Century Gothic" pitchFamily="34" charset="-122"/>
                <a:cs typeface="Century Gothic" pitchFamily="34" charset="-120"/>
              </a:rPr>
              <a:t>Mariam Al-Ghayousi</a:t>
            </a:r>
            <a:endParaRPr lang="en-US" sz="1200" dirty="0"/>
          </a:p>
        </p:txBody>
      </p:sp>
      <p:sp>
        <p:nvSpPr>
          <p:cNvPr id="35" name="Text 32"/>
          <p:cNvSpPr txBox="1"/>
          <p:nvPr/>
        </p:nvSpPr>
        <p:spPr>
          <a:xfrm>
            <a:off x="8254289" y="5852160"/>
            <a:ext cx="3136392" cy="182880"/>
          </a:xfrm>
          <a:prstGeom prst="rect">
            <a:avLst/>
          </a:prstGeom>
          <a:noFill/>
          <a:ln/>
        </p:spPr>
        <p:txBody>
          <a:bodyPr wrap="square" lIns="0" tIns="0" rIns="0" bIns="0" rtlCol="0" anchor="t"/>
          <a:lstStyle/>
          <a:p>
            <a:pPr indent="0" marL="0">
              <a:buNone/>
            </a:pPr>
            <a:r>
              <a:rPr lang="en-US" sz="900" spc="100" kern="0" dirty="0">
                <a:solidFill>
                  <a:schemeClr val="accent3"/>
                </a:solidFill>
                <a:latin typeface="Consolas" pitchFamily="34" charset="0"/>
                <a:ea typeface="Consolas" pitchFamily="34" charset="-122"/>
                <a:cs typeface="Consolas" pitchFamily="34" charset="-120"/>
              </a:rPr>
              <a:t>DUBAI</a:t>
            </a:r>
            <a:endParaRPr lang="en-US" sz="900" dirty="0"/>
          </a:p>
        </p:txBody>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609905" y="1600200"/>
            <a:ext cx="5486400" cy="274320"/>
          </a:xfrm>
          <a:prstGeom prst="rect">
            <a:avLst/>
          </a:prstGeom>
          <a:noFill/>
          <a:ln/>
        </p:spPr>
        <p:txBody>
          <a:bodyPr wrap="square" lIns="0" tIns="0" rIns="0" bIns="0" rtlCol="0" anchor="t"/>
          <a:lstStyle/>
          <a:p>
            <a:pPr indent="0" marL="0">
              <a:buNone/>
            </a:pPr>
            <a:r>
              <a:rPr lang="en-US" sz="1000" dirty="0">
                <a:solidFill>
                  <a:schemeClr val="accent4"/>
                </a:solidFill>
                <a:latin typeface="Consolas" pitchFamily="34" charset="0"/>
                <a:ea typeface="Consolas" pitchFamily="34" charset="-122"/>
                <a:cs typeface="Consolas" pitchFamily="34" charset="-120"/>
              </a:rPr>
              <a:t>( 08 ) — GET IN TOUCH</a:t>
            </a:r>
            <a:endParaRPr lang="en-US" sz="1000" dirty="0"/>
          </a:p>
        </p:txBody>
      </p:sp>
      <p:sp>
        <p:nvSpPr>
          <p:cNvPr id="3" name="Text 0"/>
          <p:cNvSpPr/>
          <p:nvPr>
            <p:ph idx="102" type="title" hasCustomPrompt="1"/>
          </p:nvPr>
        </p:nvSpPr>
        <p:spPr>
          <a:xfrm>
            <a:off x="609905" y="1920240"/>
            <a:ext cx="5943600" cy="1371600"/>
          </a:xfrm>
          <a:prstGeom prst="rect">
            <a:avLst/>
          </a:prstGeom>
          <a:noFill/>
          <a:ln/>
        </p:spPr>
        <p:txBody>
          <a:bodyPr wrap="square" lIns="0" tIns="0" rIns="0" bIns="0" rtlCol="0" anchor="t"/>
          <a:lstStyle/>
          <a:p>
            <a:pPr algn="l" indent="0" marL="0">
              <a:buNone/>
            </a:pPr>
            <a:r>
              <a:rPr lang="en-US" sz="4000" dirty="0">
                <a:solidFill>
                  <a:schemeClr val="bg1"/>
                </a:solidFill>
                <a:latin typeface="Century Gothic" pitchFamily="34" charset="0"/>
                <a:ea typeface="Century Gothic" pitchFamily="34" charset="-122"/>
                <a:cs typeface="Century Gothic" pitchFamily="34" charset="-120"/>
              </a:rPr>
              <a:t>Let’s start</a:t>
            </a:r>
            <a:endParaRPr lang="en-US" sz="4000" dirty="0"/>
          </a:p>
          <a:p>
            <a:pPr algn="l" indent="0" marL="0">
              <a:buNone/>
            </a:pPr>
            <a:r>
              <a:rPr lang="en-US" sz="4000" dirty="0">
                <a:solidFill>
                  <a:schemeClr val="accent4"/>
                </a:solidFill>
                <a:latin typeface="Century Gothic" pitchFamily="34" charset="0"/>
                <a:ea typeface="Century Gothic" pitchFamily="34" charset="-122"/>
                <a:cs typeface="Century Gothic" pitchFamily="34" charset="-120"/>
              </a:rPr>
              <a:t>your project.</a:t>
            </a:r>
            <a:endParaRPr lang="en-US" sz="4000" dirty="0"/>
          </a:p>
        </p:txBody>
      </p:sp>
      <p:sp>
        <p:nvSpPr>
          <p:cNvPr id="5" name="Text 2"/>
          <p:cNvSpPr txBox="1"/>
          <p:nvPr/>
        </p:nvSpPr>
        <p:spPr>
          <a:xfrm>
            <a:off x="609905" y="3611880"/>
            <a:ext cx="5486400" cy="731520"/>
          </a:xfrm>
          <a:prstGeom prst="rect">
            <a:avLst/>
          </a:prstGeom>
          <a:noFill/>
          <a:ln/>
        </p:spPr>
        <p:txBody>
          <a:bodyPr wrap="square" lIns="0" tIns="0" rIns="0" bIns="0" rtlCol="0" anchor="t"/>
          <a:lstStyle/>
          <a:p>
            <a:pPr indent="0" marL="0">
              <a:buNone/>
            </a:pPr>
            <a:r>
              <a:rPr lang="en-US" sz="1400" dirty="0">
                <a:solidFill>
                  <a:schemeClr val="accent2"/>
                </a:solidFill>
              </a:rPr>
              <a:t>Send us a photo, drawing or the part itself — we’ll come back with the right approach, timeline and quote.</a:t>
            </a:r>
            <a:endParaRPr lang="en-US" sz="1400" dirty="0"/>
          </a:p>
        </p:txBody>
      </p:sp>
      <p:sp>
        <p:nvSpPr>
          <p:cNvPr id="6" name="Shape 3"/>
          <p:cNvSpPr/>
          <p:nvPr/>
        </p:nvSpPr>
        <p:spPr>
          <a:xfrm>
            <a:off x="6702552" y="1828800"/>
            <a:ext cx="4873752" cy="0"/>
          </a:xfrm>
          <a:prstGeom prst="line">
            <a:avLst/>
          </a:prstGeom>
          <a:noFill/>
          <a:ln w="9525">
            <a:solidFill>
              <a:schemeClr val="accent6"/>
            </a:solidFill>
            <a:prstDash val="solid"/>
          </a:ln>
        </p:spPr>
      </p:sp>
      <p:sp>
        <p:nvSpPr>
          <p:cNvPr id="7" name="Text 4"/>
          <p:cNvSpPr txBox="1"/>
          <p:nvPr/>
        </p:nvSpPr>
        <p:spPr>
          <a:xfrm>
            <a:off x="6702552" y="2048256"/>
            <a:ext cx="1280160" cy="201168"/>
          </a:xfrm>
          <a:prstGeom prst="rect">
            <a:avLst/>
          </a:prstGeom>
          <a:noFill/>
          <a:ln/>
        </p:spPr>
        <p:txBody>
          <a:bodyPr wrap="square" lIns="0" tIns="0" rIns="0" bIns="0" rtlCol="0" anchor="t"/>
          <a:lstStyle/>
          <a:p>
            <a:pPr indent="0" marL="0">
              <a:buNone/>
            </a:pPr>
            <a:r>
              <a:rPr lang="en-US" sz="900" spc="100" kern="0" dirty="0">
                <a:solidFill>
                  <a:schemeClr val="accent2"/>
                </a:solidFill>
                <a:latin typeface="Consolas" pitchFamily="34" charset="0"/>
                <a:ea typeface="Consolas" pitchFamily="34" charset="-122"/>
                <a:cs typeface="Consolas" pitchFamily="34" charset="-120"/>
              </a:rPr>
              <a:t>EMAIL</a:t>
            </a:r>
            <a:endParaRPr lang="en-US" sz="900" dirty="0"/>
          </a:p>
        </p:txBody>
      </p:sp>
      <p:sp>
        <p:nvSpPr>
          <p:cNvPr id="8" name="Text 5"/>
          <p:cNvSpPr txBox="1"/>
          <p:nvPr/>
        </p:nvSpPr>
        <p:spPr>
          <a:xfrm>
            <a:off x="7982712" y="1984248"/>
            <a:ext cx="3566160" cy="320040"/>
          </a:xfrm>
          <a:prstGeom prst="rect">
            <a:avLst/>
          </a:prstGeom>
          <a:noFill/>
          <a:ln/>
        </p:spPr>
        <p:txBody>
          <a:bodyPr wrap="square" lIns="0" tIns="0" rIns="0" bIns="0" rtlCol="0" anchor="t"/>
          <a:lstStyle/>
          <a:p>
            <a:pPr indent="0" marL="0">
              <a:buNone/>
            </a:pPr>
            <a:r>
              <a:rPr lang="en-US" sz="17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info@vsharksolutions.com</a:t>
            </a:r>
            <a:endParaRPr lang="en-US" sz="1700" dirty="0"/>
          </a:p>
        </p:txBody>
      </p:sp>
      <p:sp>
        <p:nvSpPr>
          <p:cNvPr id="9" name="Shape 6"/>
          <p:cNvSpPr/>
          <p:nvPr/>
        </p:nvSpPr>
        <p:spPr>
          <a:xfrm>
            <a:off x="6702552" y="2450592"/>
            <a:ext cx="4873752" cy="0"/>
          </a:xfrm>
          <a:prstGeom prst="line">
            <a:avLst/>
          </a:prstGeom>
          <a:noFill/>
          <a:ln w="9525">
            <a:solidFill>
              <a:schemeClr val="accent6"/>
            </a:solidFill>
            <a:prstDash val="solid"/>
          </a:ln>
        </p:spPr>
      </p:sp>
      <p:sp>
        <p:nvSpPr>
          <p:cNvPr id="10" name="Text 7"/>
          <p:cNvSpPr txBox="1"/>
          <p:nvPr/>
        </p:nvSpPr>
        <p:spPr>
          <a:xfrm>
            <a:off x="6702552" y="2670048"/>
            <a:ext cx="1280160" cy="201168"/>
          </a:xfrm>
          <a:prstGeom prst="rect">
            <a:avLst/>
          </a:prstGeom>
          <a:noFill/>
          <a:ln/>
        </p:spPr>
        <p:txBody>
          <a:bodyPr wrap="square" lIns="0" tIns="0" rIns="0" bIns="0" rtlCol="0" anchor="t"/>
          <a:lstStyle/>
          <a:p>
            <a:pPr indent="0" marL="0">
              <a:buNone/>
            </a:pPr>
            <a:r>
              <a:rPr lang="en-US" sz="900" spc="100" kern="0" dirty="0">
                <a:solidFill>
                  <a:schemeClr val="accent2"/>
                </a:solidFill>
                <a:latin typeface="Consolas" pitchFamily="34" charset="0"/>
                <a:ea typeface="Consolas" pitchFamily="34" charset="-122"/>
                <a:cs typeface="Consolas" pitchFamily="34" charset="-120"/>
              </a:rPr>
              <a:t>INDIA</a:t>
            </a:r>
            <a:endParaRPr lang="en-US" sz="900" dirty="0"/>
          </a:p>
        </p:txBody>
      </p:sp>
      <p:sp>
        <p:nvSpPr>
          <p:cNvPr id="11" name="Text 8"/>
          <p:cNvSpPr txBox="1"/>
          <p:nvPr/>
        </p:nvSpPr>
        <p:spPr>
          <a:xfrm>
            <a:off x="7982712" y="2606040"/>
            <a:ext cx="3566160" cy="320040"/>
          </a:xfrm>
          <a:prstGeom prst="rect">
            <a:avLst/>
          </a:prstGeom>
          <a:noFill/>
          <a:ln/>
        </p:spPr>
        <p:txBody>
          <a:bodyPr wrap="square" lIns="0" tIns="0" rIns="0" bIns="0" rtlCol="0" anchor="t"/>
          <a:lstStyle/>
          <a:p>
            <a:pPr indent="0" marL="0">
              <a:buNone/>
            </a:pPr>
            <a:r>
              <a:rPr lang="en-US" sz="17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+91 95142 48525</a:t>
            </a:r>
            <a:endParaRPr lang="en-US" sz="1700" dirty="0"/>
          </a:p>
        </p:txBody>
      </p:sp>
      <p:sp>
        <p:nvSpPr>
          <p:cNvPr id="12" name="Shape 9"/>
          <p:cNvSpPr/>
          <p:nvPr/>
        </p:nvSpPr>
        <p:spPr>
          <a:xfrm>
            <a:off x="6702552" y="3072384"/>
            <a:ext cx="4873752" cy="0"/>
          </a:xfrm>
          <a:prstGeom prst="line">
            <a:avLst/>
          </a:prstGeom>
          <a:noFill/>
          <a:ln w="9525">
            <a:solidFill>
              <a:schemeClr val="accent6"/>
            </a:solidFill>
            <a:prstDash val="solid"/>
          </a:ln>
        </p:spPr>
      </p:sp>
      <p:sp>
        <p:nvSpPr>
          <p:cNvPr id="13" name="Text 10"/>
          <p:cNvSpPr txBox="1"/>
          <p:nvPr/>
        </p:nvSpPr>
        <p:spPr>
          <a:xfrm>
            <a:off x="6702552" y="3291840"/>
            <a:ext cx="1280160" cy="201168"/>
          </a:xfrm>
          <a:prstGeom prst="rect">
            <a:avLst/>
          </a:prstGeom>
          <a:noFill/>
          <a:ln/>
        </p:spPr>
        <p:txBody>
          <a:bodyPr wrap="square" lIns="0" tIns="0" rIns="0" bIns="0" rtlCol="0" anchor="t"/>
          <a:lstStyle/>
          <a:p>
            <a:pPr indent="0" marL="0">
              <a:buNone/>
            </a:pPr>
            <a:r>
              <a:rPr lang="en-US" sz="900" spc="100" kern="0" dirty="0">
                <a:solidFill>
                  <a:schemeClr val="accent2"/>
                </a:solidFill>
                <a:latin typeface="Consolas" pitchFamily="34" charset="0"/>
                <a:ea typeface="Consolas" pitchFamily="34" charset="-122"/>
                <a:cs typeface="Consolas" pitchFamily="34" charset="-120"/>
              </a:rPr>
              <a:t>UAE</a:t>
            </a:r>
            <a:endParaRPr lang="en-US" sz="900" dirty="0"/>
          </a:p>
        </p:txBody>
      </p:sp>
      <p:sp>
        <p:nvSpPr>
          <p:cNvPr id="14" name="Text 11"/>
          <p:cNvSpPr txBox="1"/>
          <p:nvPr/>
        </p:nvSpPr>
        <p:spPr>
          <a:xfrm>
            <a:off x="7982712" y="3227832"/>
            <a:ext cx="3566160" cy="320040"/>
          </a:xfrm>
          <a:prstGeom prst="rect">
            <a:avLst/>
          </a:prstGeom>
          <a:noFill/>
          <a:ln/>
        </p:spPr>
        <p:txBody>
          <a:bodyPr wrap="square" lIns="0" tIns="0" rIns="0" bIns="0" rtlCol="0" anchor="t"/>
          <a:lstStyle/>
          <a:p>
            <a:pPr indent="0" marL="0">
              <a:buNone/>
            </a:pPr>
            <a:r>
              <a:rPr lang="en-US" sz="1700"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+971 52 248 6238</a:t>
            </a:r>
            <a:endParaRPr lang="en-US" sz="1700" dirty="0"/>
          </a:p>
        </p:txBody>
      </p:sp>
      <p:sp>
        <p:nvSpPr>
          <p:cNvPr id="15" name="Shape 12"/>
          <p:cNvSpPr/>
          <p:nvPr/>
        </p:nvSpPr>
        <p:spPr>
          <a:xfrm>
            <a:off x="6702552" y="3694176"/>
            <a:ext cx="4873752" cy="0"/>
          </a:xfrm>
          <a:prstGeom prst="line">
            <a:avLst/>
          </a:prstGeom>
          <a:noFill/>
          <a:ln w="9525">
            <a:solidFill>
              <a:schemeClr val="accent6"/>
            </a:solidFill>
            <a:prstDash val="solid"/>
          </a:ln>
        </p:spPr>
      </p:sp>
      <p:sp>
        <p:nvSpPr>
          <p:cNvPr id="16" name="Text 13"/>
          <p:cNvSpPr txBox="1"/>
          <p:nvPr/>
        </p:nvSpPr>
        <p:spPr>
          <a:xfrm>
            <a:off x="6702552" y="3913632"/>
            <a:ext cx="1280160" cy="201168"/>
          </a:xfrm>
          <a:prstGeom prst="rect">
            <a:avLst/>
          </a:prstGeom>
          <a:noFill/>
          <a:ln/>
        </p:spPr>
        <p:txBody>
          <a:bodyPr wrap="square" lIns="0" tIns="0" rIns="0" bIns="0" rtlCol="0" anchor="t"/>
          <a:lstStyle/>
          <a:p>
            <a:pPr indent="0" marL="0">
              <a:buNone/>
            </a:pPr>
            <a:r>
              <a:rPr lang="en-US" sz="900" spc="100" kern="0" dirty="0">
                <a:solidFill>
                  <a:schemeClr val="accent2"/>
                </a:solidFill>
                <a:latin typeface="Consolas" pitchFamily="34" charset="0"/>
                <a:ea typeface="Consolas" pitchFamily="34" charset="-122"/>
                <a:cs typeface="Consolas" pitchFamily="34" charset="-120"/>
              </a:rPr>
              <a:t>WHATSAPP</a:t>
            </a:r>
            <a:endParaRPr lang="en-US" sz="900" dirty="0"/>
          </a:p>
        </p:txBody>
      </p:sp>
      <p:sp>
        <p:nvSpPr>
          <p:cNvPr id="17" name="Text 14"/>
          <p:cNvSpPr txBox="1"/>
          <p:nvPr/>
        </p:nvSpPr>
        <p:spPr>
          <a:xfrm>
            <a:off x="7982712" y="3849624"/>
            <a:ext cx="3566160" cy="320040"/>
          </a:xfrm>
          <a:prstGeom prst="rect">
            <a:avLst/>
          </a:prstGeom>
          <a:noFill/>
          <a:ln/>
        </p:spPr>
        <p:txBody>
          <a:bodyPr wrap="square" lIns="0" tIns="0" rIns="0" bIns="0" rtlCol="0" anchor="t"/>
          <a:lstStyle/>
          <a:p>
            <a:pPr indent="0" marL="0">
              <a:buNone/>
            </a:pPr>
            <a:r>
              <a:rPr lang="en-US" sz="1700" u="sng" dirty="0">
                <a:solidFill>
                  <a:schemeClr val="bg1"/>
                </a:solidFill>
                <a:hlinkClick r:id="rId4" invalidUrl="" action="" tgtFrame="" tooltip="" history="1" highlightClick="0" endSnd="0">
                  <a:extLst>
                    <a:ext uri="{A12FA001-AC4F-418D-AE19-62706E023703}">
                      <ahyp:hlinkClr xmlns:ahyp="http://schemas.microsoft.com/office/drawing/2018/hyperlinkcolor" val="tx"/>
                    </a:ext>
                  </a:extLst>
                </a:hlinkClick>
              </a:rPr>
              <a:t>+91 95142 48525</a:t>
            </a:r>
            <a:endParaRPr lang="en-US" sz="1700" dirty="0"/>
          </a:p>
        </p:txBody>
      </p:sp>
      <p:sp>
        <p:nvSpPr>
          <p:cNvPr id="18" name="Shape 15"/>
          <p:cNvSpPr/>
          <p:nvPr/>
        </p:nvSpPr>
        <p:spPr>
          <a:xfrm>
            <a:off x="6702552" y="4315968"/>
            <a:ext cx="4873752" cy="0"/>
          </a:xfrm>
          <a:prstGeom prst="line">
            <a:avLst/>
          </a:prstGeom>
          <a:noFill/>
          <a:ln w="9525">
            <a:solidFill>
              <a:schemeClr val="accent6"/>
            </a:solidFill>
            <a:prstDash val="solid"/>
          </a:ln>
        </p:spPr>
      </p:sp>
      <p:sp>
        <p:nvSpPr>
          <p:cNvPr id="19" name="Text 16"/>
          <p:cNvSpPr txBox="1"/>
          <p:nvPr/>
        </p:nvSpPr>
        <p:spPr>
          <a:xfrm>
            <a:off x="6702552" y="4535424"/>
            <a:ext cx="1280160" cy="201168"/>
          </a:xfrm>
          <a:prstGeom prst="rect">
            <a:avLst/>
          </a:prstGeom>
          <a:noFill/>
          <a:ln/>
        </p:spPr>
        <p:txBody>
          <a:bodyPr wrap="square" lIns="0" tIns="0" rIns="0" bIns="0" rtlCol="0" anchor="t"/>
          <a:lstStyle/>
          <a:p>
            <a:pPr indent="0" marL="0">
              <a:buNone/>
            </a:pPr>
            <a:r>
              <a:rPr lang="en-US" sz="900" spc="100" kern="0" dirty="0">
                <a:solidFill>
                  <a:schemeClr val="accent2"/>
                </a:solidFill>
                <a:latin typeface="Consolas" pitchFamily="34" charset="0"/>
                <a:ea typeface="Consolas" pitchFamily="34" charset="-122"/>
                <a:cs typeface="Consolas" pitchFamily="34" charset="-120"/>
              </a:rPr>
              <a:t>WEB</a:t>
            </a:r>
            <a:endParaRPr lang="en-US" sz="900" dirty="0"/>
          </a:p>
        </p:txBody>
      </p:sp>
      <p:sp>
        <p:nvSpPr>
          <p:cNvPr id="20" name="Text 17"/>
          <p:cNvSpPr txBox="1"/>
          <p:nvPr/>
        </p:nvSpPr>
        <p:spPr>
          <a:xfrm>
            <a:off x="7982712" y="4471416"/>
            <a:ext cx="3566160" cy="320040"/>
          </a:xfrm>
          <a:prstGeom prst="rect">
            <a:avLst/>
          </a:prstGeom>
          <a:noFill/>
          <a:ln/>
        </p:spPr>
        <p:txBody>
          <a:bodyPr wrap="square" lIns="0" tIns="0" rIns="0" bIns="0" rtlCol="0" anchor="t"/>
          <a:lstStyle/>
          <a:p>
            <a:pPr indent="0" marL="0">
              <a:buNone/>
            </a:pPr>
            <a:r>
              <a:rPr lang="en-US" sz="1700" u="sng" dirty="0">
                <a:solidFill>
                  <a:schemeClr val="bg1"/>
                </a:solidFill>
                <a:hlinkClick r:id="rId5" invalidUrl="" action="" tgtFrame="" tooltip="" history="1" highlightClick="0" endSnd="0">
                  <a:extLst>
                    <a:ext uri="{A12FA001-AC4F-418D-AE19-62706E023703}">
                      <ahyp:hlinkClr xmlns:ahyp="http://schemas.microsoft.com/office/drawing/2018/hyperlinkcolor" val="tx"/>
                    </a:ext>
                  </a:extLst>
                </a:hlinkClick>
              </a:rPr>
              <a:t>vsharksolutions.com</a:t>
            </a:r>
            <a:endParaRPr lang="en-US" sz="1700" dirty="0"/>
          </a:p>
        </p:txBody>
      </p:sp>
      <p:sp>
        <p:nvSpPr>
          <p:cNvPr id="21" name="Shape 18"/>
          <p:cNvSpPr/>
          <p:nvPr/>
        </p:nvSpPr>
        <p:spPr>
          <a:xfrm>
            <a:off x="6702552" y="4937760"/>
            <a:ext cx="4873752" cy="0"/>
          </a:xfrm>
          <a:prstGeom prst="line">
            <a:avLst/>
          </a:prstGeom>
          <a:noFill/>
          <a:ln w="9525">
            <a:solidFill>
              <a:schemeClr val="accent6"/>
            </a:solidFill>
            <a:prstDash val="solid"/>
          </a:ln>
        </p:spPr>
      </p:sp>
      <p:sp>
        <p:nvSpPr>
          <p:cNvPr id="25" name="Slide Number Placeholder 0"/>
          <p:cNvSpPr>
            <a:spLocks noGrp="1"/>
          </p:cNvSpPr>
          <p:nvPr>
            <p:ph type="sldNum" sz="quarter" idx="4294967295"/>
          </p:nvPr>
        </p:nvSpPr>
        <p:spPr>
          <a:xfrm>
            <a:off x="11128248" y="6382512"/>
            <a:ext cx="457200" cy="18288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VShark">
  <a:themeElements>
    <a:clrScheme name="VShark">
      <a:dk1>
        <a:srgbClr val="1C2125"/>
      </a:dk1>
      <a:lt1>
        <a:srgbClr val="FFFFFF"/>
      </a:lt1>
      <a:dk2>
        <a:srgbClr val="15191C"/>
      </a:dk2>
      <a:lt2>
        <a:srgbClr val="F5F6F8"/>
      </a:lt2>
      <a:accent1>
        <a:srgbClr val="991B2E"/>
      </a:accent1>
      <a:accent2>
        <a:srgbClr val="828B94"/>
      </a:accent2>
      <a:accent3>
        <a:srgbClr val="616B6F"/>
      </a:accent3>
      <a:accent4>
        <a:srgbClr val="E0566B"/>
      </a:accent4>
      <a:accent5>
        <a:srgbClr val="ECEEF1"/>
      </a:accent5>
      <a:accent6>
        <a:srgbClr val="3D454A"/>
      </a:accent6>
      <a:hlink>
        <a:srgbClr val="991B2E"/>
      </a:hlink>
      <a:folHlink>
        <a:srgbClr val="616B6F"/>
      </a:folHlink>
    </a:clrScheme>
    <a:fontScheme name="Office">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VShark Solutions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VShark Solutions — Company Presentation</dc:title>
  <dc:subject>PptxGenJS Presentation</dc:subject>
  <dc:creator>VShark Solutions</dc:creator>
  <cp:lastModifiedBy>VShark Solutions</cp:lastModifiedBy>
  <cp:revision>1</cp:revision>
  <dcterms:created xsi:type="dcterms:W3CDTF">2026-10-18T03:46:01Z</dcterms:created>
  <dcterms:modified xsi:type="dcterms:W3CDTF">2026-10-18T03:46:01Z</dcterms:modified>
</cp:coreProperties>
</file>